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1: CLIP Zero-Shot Classification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Setup: In this first hands-on exercise, you'll implement zero-shot image classification using CLIP. You will load the pre-trained CLIP ViT-L/14 model from HuggingFace, prepare a set of test images, design text prompts for various categories, and perform classification without any training. The goal is to understand how CLIP's aligned embedding space enables classification on arbitrary categories through natural language descriptions. Code skeleton is provided in the notebook with TODO sections for you to complete. Estimated time: 15 minutes. Required imports: from transformers import CLIPProcessor, CLIPModel; import torch; from PIL import Image.</a:t>
            </a:r>
          </a:p>
          <a:p>
            <a:pPr>
              <a:lnSpc>
                <a:spcPct val="120000"/>
              </a:lnSpc>
              <a:spcBef>
                <a:spcPts val="900"/>
              </a:spcBef>
              <a:spcAft>
                <a:spcPts val="600"/>
              </a:spcAft>
              <a:defRPr sz="1100">
                <a:solidFill>
                  <a:srgbClr val="333333"/>
                </a:solidFill>
              </a:defRPr>
            </a:pPr>
            <a:r>
              <a:t>Implementation Steps: (1) Load CLIP model and processor: model = CLIPModel.from_pretrained('openai/clip-vit-large-patch14'); processor = CLIPProcessor.from_pretrained('openai/clip-vit-large-patch14'). Move model to GPU if available. (2) Load or download test images - use provided URLs or your own images. (3) Define classification categories: categories = ['dog', 'cat', 'car', 'airplane', 'person']. (4) Create text prompts: prompts = [f'a photo of a {c}' for c in categories]. Experiment with different prompt templates. (5) Process inputs: inputs = processor(text=prompts, images=image, return_tensors='pt', padding=True). (6) Get predictions: outputs = model(**inputs); logits_per_image = outputs.logits_per_image; probs = logits_per_image.softmax(dim=1). (7) Display results: show image with predicted category and confidence scores.</a:t>
            </a:r>
          </a:p>
          <a:p>
            <a:pPr>
              <a:lnSpc>
                <a:spcPct val="120000"/>
              </a:lnSpc>
              <a:spcBef>
                <a:spcPts val="900"/>
              </a:spcBef>
              <a:spcAft>
                <a:spcPts val="600"/>
              </a:spcAft>
              <a:defRPr sz="1100">
                <a:solidFill>
                  <a:srgbClr val="333333"/>
                </a:solidFill>
              </a:defRPr>
            </a:pPr>
            <a:r>
              <a:t>Prompt Engineering Experiments: Once basic classification works, experiment with prompt engineering to improve accuracy: (1) Domain-specific prompts: 'a satellite photo of {x}' for aerial imagery, 'a medical image showing {x}' for radiology. (2) Attribute-rich prompts: 'a photo of a {x}, which is a type of animal' vs. 'a photo of a {x}, which is a type of vehicle' to provide contextual disambiguation. (3) Ensemble prompts: create multiple prompt templates per category and average their embeddings: templates = ['a photo of a {}', 'a picture of a {}', 'an image showing a {}']; for each category, encode all templates and average. (4) Negative prompts: explicitly describe what the image is NOT to improve discrimination in ambiguous cases. Document which prompt strategies work best for your test images.</a:t>
            </a:r>
          </a:p>
          <a:p>
            <a:pPr>
              <a:lnSpc>
                <a:spcPct val="120000"/>
              </a:lnSpc>
              <a:spcBef>
                <a:spcPts val="900"/>
              </a:spcBef>
              <a:spcAft>
                <a:spcPts val="600"/>
              </a:spcAft>
              <a:defRPr sz="1100">
                <a:solidFill>
                  <a:srgbClr val="333333"/>
                </a:solidFill>
              </a:defRPr>
            </a:pPr>
            <a:r>
              <a:t>Analysis and Discussion Questions: After completing the exercise, reflect on: (1) Which types of images does CLIP classify accurately? Which types does it struggle with? Consider factors like image quality, viewpoint, occlusion, fine-grained categories. (2) How does prompt wording affect accuracy? Compare 'dog' vs. 'a photo of a dog' vs. 'a golden retriever'. (3) What happens with out-of-distribution images (e.g., abstract art, unusual angles)? Does CLIP fail gracefully or make confident wrong predictions? (4) Limitations observed: Can CLIP count objects? Handle spatial relationships ('dog to the left of cat')? Distinguish fine-grained categories (dog breeds)? (5) Compare CLIP's zero-shot performance to what you'd expect from a supervised model trained on ImageNet. These observations prepare you for understanding model capabilities and limitations in real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2: BLIP-2 Image Captioning and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In this exercise, you'll use BLIP-2 for two tasks: image captioning (generating textual descriptions) and visual question answering (answering natural language questions about images). BLIP-2's Q-Former architecture efficiently connects a frozen vision encoder to a large language model, enabling both understanding and generation tasks. You'll experiment with different LLM backends (OPT-2.7B, FlanT5-XL) and compare their outputs. The exercise demonstrates how multimodal models can generate fluent, contextually appropriate language grounded in visual content. Estimated time: 20 minutes. Models to use: Salesforce/blip2-opt-2.7b and Salesforce/blip2-flan-t5-xl.</a:t>
            </a:r>
          </a:p>
          <a:p>
            <a:pPr>
              <a:lnSpc>
                <a:spcPct val="120000"/>
              </a:lnSpc>
              <a:spcBef>
                <a:spcPts val="900"/>
              </a:spcBef>
              <a:spcAft>
                <a:spcPts val="600"/>
              </a:spcAft>
              <a:defRPr sz="1100">
                <a:solidFill>
                  <a:srgbClr val="333333"/>
                </a:solidFill>
              </a:defRPr>
            </a:pPr>
            <a:r>
              <a:t>Image Captioning Implementation: Load BLIP-2 for captioning: from transformers import Blip2Processor, Blip2ForConditionalGeneration; processor = Blip2Processor.from_pretrained('Salesforce/blip2-opt-2.7b'); model = Blip2ForConditionalGeneration.from_pretrained('Salesforce/blip2-opt-2.7b', torch_dtype=torch.float16). Move to GPU. For each test image: (1) Preprocess: inputs = processor(images=image, return_tensors='pt').to('cuda', torch.float16). (2) Generate caption: generated_ids = model.generate(**inputs, max_length=50). (3) Decode: caption = processor.batch_decode(generated_ids, skip_special_tokens=True)[0].strip(). (4) Display image with generated caption. Try multiple images - portraits, landscapes, indoor/outdoor scenes, complex multi-object scenes. Observe caption quality: Are they factually accurate? Do they capture salient details? Generic or specific?</a:t>
            </a:r>
          </a:p>
          <a:p>
            <a:pPr>
              <a:lnSpc>
                <a:spcPct val="120000"/>
              </a:lnSpc>
              <a:spcBef>
                <a:spcPts val="900"/>
              </a:spcBef>
              <a:spcAft>
                <a:spcPts val="600"/>
              </a:spcAft>
              <a:defRPr sz="1100">
                <a:solidFill>
                  <a:srgbClr val="333333"/>
                </a:solidFill>
              </a:defRPr>
            </a:pPr>
            <a:r>
              <a:t>Visual Question Answering Implementation: For VQA, extend the captioning code to accept text prompts: prompt = 'Question: What color is the sky? Answer:'; inputs = processor(images=image, text=prompt, return_tensors='pt').to('cuda', torch.float16); out = model.generate(**inputs, max_length=20); answer = processor.decode(out[0], skip_special_tokens=True). Experiment with different question types: (1) Object recognition: 'What objects are in this image?', 'Is there a dog in this image?'. (2) Attribute questions: 'What color is the car?', 'How many people are there?'. (3) Spatial questions: 'Where is the cat?', 'What is behind the tree?'. (4) Activity questions: 'What is the person doing?'. (5) Reasoning questions: 'Why is the person smiling?', 'What time of day is it?'. Document which types BLIP-2 handles well vs. struggles with.</a:t>
            </a:r>
          </a:p>
          <a:p>
            <a:pPr>
              <a:lnSpc>
                <a:spcPct val="120000"/>
              </a:lnSpc>
              <a:spcBef>
                <a:spcPts val="900"/>
              </a:spcBef>
              <a:spcAft>
                <a:spcPts val="600"/>
              </a:spcAft>
              <a:defRPr sz="1100">
                <a:solidFill>
                  <a:srgbClr val="333333"/>
                </a:solidFill>
              </a:defRPr>
            </a:pPr>
            <a:r>
              <a:t>Comparing LLM Backends and Analysis: Compare BLIP-2 with OPT-2.7B vs. FlanT5-XL backends on the same images and questions. Observations to make: (1) Caption quality differences - which produces more detailed, accurate, or natural descriptions? (2) Answer format - does one backend produce more concise answers? (3) Hallucination - do models describe objects not present? (4) Factual accuracy vs. fluency trade-off. (5) Response time and memory usage differences (FlanT5-XL is larger, ~4GB vs 3GB). Discussion questions: How does BLIP-2 compare to CLIP for zero-shot tasks? What are the trade-offs between the two models? When would you choose BLIP-2 over CLIP or vice versa? Can you identify failure cases - images or questions where BLIP-2 fails? How might these models be improved? This analysis builds intuition for selecting appropriate models for different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3: LoRA Fine-Tuning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Motivation: In this exercise, you'll fine-tune CLIP for a custom image classification task using LoRA (Low-Rank Adaptation). Rather than updating all 300M+ parameters in CLIP, LoRA trains only ~0.5M parameters (0.15% of total) by adding low-rank decomposition matrices to attention layers. This demonstrates parameter-efficient fine-tuning - adapting large pre-trained models to new domains with minimal computational cost and memory. You'll use the PEFT library from HuggingFace to apply LoRA, train on a small custom dataset (Food-101 subset), and evaluate performance improvements. Estimated time: 15 minutes training on A100. This exercise prepares you for the homework where you'll perform full-scale fine-tuning.</a:t>
            </a:r>
          </a:p>
          <a:p>
            <a:pPr>
              <a:lnSpc>
                <a:spcPct val="120000"/>
              </a:lnSpc>
              <a:spcBef>
                <a:spcPts val="900"/>
              </a:spcBef>
              <a:spcAft>
                <a:spcPts val="600"/>
              </a:spcAft>
              <a:defRPr sz="1100">
                <a:solidFill>
                  <a:srgbClr val="333333"/>
                </a:solidFill>
              </a:defRPr>
            </a:pPr>
            <a:r>
              <a:t>Setup and Configuration: Install PEFT library: pip install peft. Load base CLIP model: from transformers import CLIPModel, CLIPProcessor; from peft import get_peft_model, LoraConfig, TaskType; model = CLIPModel.from_pretrained('openai/clip-vit-base-patch32'). Configure LoRA: config = LoraConfig(r=8, lora_alpha=16, target_modules=['q_proj', 'v_proj'], lora_dropout=0.1, bias='none', task_type=TaskType.FEATURE_EXTRACTION). The rank r=8 means each weight update is decomposed into two 8-dimensional matrices. lora_alpha=16 controls update magnitude. We apply LoRA only to query and value projections in attention layers. Wrap model: model = get_peft_model(model, config). Check trainable parameters: model.print_trainable_parameters() shows ~0.5M trainable out of 151M total.</a:t>
            </a:r>
          </a:p>
          <a:p>
            <a:pPr>
              <a:lnSpc>
                <a:spcPct val="120000"/>
              </a:lnSpc>
              <a:spcBef>
                <a:spcPts val="900"/>
              </a:spcBef>
              <a:spcAft>
                <a:spcPts val="600"/>
              </a:spcAft>
              <a:defRPr sz="1100">
                <a:solidFill>
                  <a:srgbClr val="333333"/>
                </a:solidFill>
              </a:defRPr>
            </a:pPr>
            <a:r>
              <a:t>Training Loop Implementation: Prepare data: Use Food-101 subset with 10 classes, 100 images per class. Create DataLoader with batch_size=32. For each batch: (1) Process inputs: inputs = processor(text=text_labels, images=images, return_tensors='pt', padding=True). (2) Forward pass: outputs = model(**inputs); logits = outputs.logits_per_image. (3) Compute loss: loss = F.cross_entropy(logits, labels). (4) Backward and optimize: loss.backward(); optimizer.step(); optimizer.zero_grad(). Use AdamW optimizer with lr=1e-4, train for 5 epochs. Monitor training loss and validation accuracy. With LoRA, training is fast - approximately 2 minutes per epoch on A100. Without LoRA (full fine-tuning), it would take 10x longer and require 3x more memory. This efficiency enables rapid experimentation and iteration.</a:t>
            </a:r>
          </a:p>
          <a:p>
            <a:pPr>
              <a:lnSpc>
                <a:spcPct val="120000"/>
              </a:lnSpc>
              <a:spcBef>
                <a:spcPts val="900"/>
              </a:spcBef>
              <a:spcAft>
                <a:spcPts val="600"/>
              </a:spcAft>
              <a:defRPr sz="1100">
                <a:solidFill>
                  <a:srgbClr val="333333"/>
                </a:solidFill>
              </a:defRPr>
            </a:pPr>
            <a:r>
              <a:t>Evaluation and Analysis: After training, evaluate on held-out test set. Compare three conditions: (1) Zero-shot CLIP (no fine-tuning) - baseline performance using generic food prompts. (2) LoRA fine-tuned CLIP - your trained model. (3) If time permits, full fine-tuning (update all parameters) for comparison. Metrics: accuracy, per-class precision/recall, confusion matrix. Expected results: zero-shot ~60-70%, LoRA fine-tuned ~85-90%, full fine-tuning ~88-92%. Key observations: LoRA achieves within 2-3% of full fine-tuning while training only 0.15% of parameters. Discussion questions: (1) Which food categories improved most with fine-tuning? Why? (2) Does LoRA preserve zero-shot capabilities on non-food images? (3) How does rank r affect performance and training speed? (4) When would you choose LoRA vs. full fine-tuning? This hands-on experience demonstrates that effective adaptation doesn't require massive computational resources - thoughtful methods like LoRA democratize fine-tuning large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Homework Assignment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Assignment Structure and Objectives: The homework assignment consists of three progressive exercises that deepen your understanding of multimodal model fine-tuning. Each exercise involves training a model on a specific task, evaluating performance, analyzing results, and documenting findings. Total estimated time: 8-12 hours over one week. Deliverables: (1) Jupyter notebook with complete code, outputs, and analysis. (2) Written report (3-5 pages) discussing methodology, results, insights, and answers to discussion questions. (3) Trained model checkpoints uploaded to your scratch directory. Due date: One week from today. You may work individually or in pairs (specify collaborators). The assignment tests your ability to: implement fine-tuning pipelines, debug training issues, interpret evaluation metrics, and critically analyze model behavior.</a:t>
            </a:r>
          </a:p>
          <a:p>
            <a:pPr>
              <a:lnSpc>
                <a:spcPct val="120000"/>
              </a:lnSpc>
              <a:spcBef>
                <a:spcPts val="900"/>
              </a:spcBef>
              <a:spcAft>
                <a:spcPts val="600"/>
              </a:spcAft>
              <a:defRPr sz="1100">
                <a:solidFill>
                  <a:srgbClr val="333333"/>
                </a:solidFill>
              </a:defRPr>
            </a:pPr>
            <a:r>
              <a:t>Exercise 1 - Fine-Tuning CLIP for Domain-Specific Classification: Fine-tune CLIP on Food-101 dataset (101 food categories, 1,000 images per category). Task: Adapt CLIP's vision encoder to improve classification accuracy on food images. Requirements: (1) Implement training pipeline with LoRA (r=8 or 16, your choice). (2) Train for at least 10 epochs with proper train/val split. (3) Implement data augmentation (random crop, flip, color jitter). (4) Track metrics: training/validation loss, accuracy, per-class accuracy. (5) Compare zero-shot baseline vs. fine-tuned performance. (6) Analyze: Which categories improve most? Which remain difficult? Does fine-tuning hurt zero-shot performance on non-food images? Test on ImageNet samples to check. (7) Experiment with at least two LoRA configurations (different ranks, target modules, or learning rates) and compare results. Submit learning curves, confusion matrix, and example predictions.</a:t>
            </a:r>
          </a:p>
          <a:p>
            <a:pPr>
              <a:lnSpc>
                <a:spcPct val="120000"/>
              </a:lnSpc>
              <a:spcBef>
                <a:spcPts val="900"/>
              </a:spcBef>
              <a:spcAft>
                <a:spcPts val="600"/>
              </a:spcAft>
              <a:defRPr sz="1100">
                <a:solidFill>
                  <a:srgbClr val="333333"/>
                </a:solidFill>
              </a:defRPr>
            </a:pPr>
            <a:r>
              <a:t>Exercise 2 - Fine-Tuning BLIP for Image Captioning: Fine-tune BLIP on Flickr30K dataset (31K images with 5 captions each). Task: Improve caption quality through fine-tuning. Requirements: (1) Use BLIP-base model as starting point. (2) Implement caption generation training loop with cross-entropy loss. (3) Use LoRA for efficiency (apply to language model layers). (4) Train for 5 epochs with batch size appropriate for your GPU. (5) Evaluate with BLEU-4, METEOR, and CIDEr metrics using provided evaluation scripts. (6) Generate captions for 20 test images, showing before/after fine-tuning. (7) Analyze: Does fine-tuning produce more detailed captions? More accurate? Do you observe hallucination (describing things not in image)? How do quantitative metrics correlate with qualitative caption quality? (8) Ablation study: Compare training with different LoRA ranks or frozen vs. trainable vision encoder. Document computational costs (training time, memory usage).</a:t>
            </a:r>
          </a:p>
          <a:p>
            <a:pPr>
              <a:lnSpc>
                <a:spcPct val="120000"/>
              </a:lnSpc>
              <a:spcBef>
                <a:spcPts val="900"/>
              </a:spcBef>
              <a:spcAft>
                <a:spcPts val="600"/>
              </a:spcAft>
              <a:defRPr sz="1100">
                <a:solidFill>
                  <a:srgbClr val="333333"/>
                </a:solidFill>
              </a:defRPr>
            </a:pPr>
            <a:r>
              <a:t>Exercise 3 - Fine-Tuning Vision-Language Model for VQA: Fine-tune a vision-language model on VQAv2 dataset subset (10K question-answer pairs). Task: Improve question-answering accuracy. Requirements: (1) Choose BLIP-2 or LLaVA as base model. (2) Implement VQA training: encode image+question, generate answer, compute loss. (3) Use LoRA on language model parameters. (4) Train for 3-5 epochs. (5) Evaluate VQA accuracy on held-out test set. (6) Analyze by question type: yes/no questions, counting, color, object recognition, spatial reasoning. (7) Error analysis: Identify failure modes. Does model fail to see objects? Misunderstand questions? Hallucinate? (8) Discussion: Compare pre-trained vs. fine-tuned performance. What types of questions benefit most from fine-tuning? How much training data is needed for good performance? What are remaining limitations? Written report should synthesize insights across all three exercises, discussing broader lessons about multimodal model adaptation, efficiency of PEFT methods, and practical considerations for real-world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