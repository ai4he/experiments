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Production Best Practices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Testing and Validation: Rigorous testing prevents production failures. Testing hierarchy: (1) Unit tests - test individual components (data preprocessing, model forward pass, postprocessing) with fixtures. Use pytest for Python testing. (2) Integration tests - test end-to-end pipeline: input → preprocessing → inference → postprocessing → output. Validate on representative examples covering common cases and edge cases. (3) Regression tests - maintain test suite of examples with expected outputs. Run on every code change to catch regressions. (4) Performance tests - measure latency and throughput under load using tools like Locust or Apache JMeter. Establish performance baselines and SLOs (Service Level Objectives). (5) Shadow deployment - run new model alongside production model, compare outputs, monitor disagreements before switching traffic. (6) A/B testing - gradually roll out new model to subset of users, compare metrics (accuracy, user engagement, business KPIs) before full deployment.</a:t>
            </a:r>
          </a:p>
          <a:p>
            <a:pPr>
              <a:lnSpc>
                <a:spcPct val="120000"/>
              </a:lnSpc>
              <a:spcBef>
                <a:spcPts val="900"/>
              </a:spcBef>
              <a:spcAft>
                <a:spcPts val="600"/>
              </a:spcAft>
              <a:defRPr sz="1100">
                <a:solidFill>
                  <a:srgbClr val="333333"/>
                </a:solidFill>
              </a:defRPr>
            </a:pPr>
            <a:r>
              <a:t>Monitoring and Observability: Comprehensive monitoring enables quick issue detection and diagnosis. Key metrics to track: (1) Latency - p50, p95, p99, p99.9 response times. Set alerts for degradation (e.g., p95 &gt; 200ms). (2) Throughput - requests per second, ensuring capacity matches demand. (3) Error rates - 4xx (client errors), 5xx (server errors), model-specific errors (invalid inputs). (4) Resource utilization - CPU, GPU, memory usage. High utilization may indicate need to scale. (5) Model metrics - prediction confidence distribution, embedding norms, attention pattern statistics. Detect distribution shift. (6) Business metrics - task success rates, user engagement. Infrastructure: Use Prometheus for metrics collection, Grafana for dashboards, alerting systems (PagerDuty, Opsgenie) for on-call. Structured logging with context (request ID, user ID, model version) enables debugging. Distributed tracing (Jaeger, Zipkin) for multi-service calls.</a:t>
            </a:r>
          </a:p>
          <a:p>
            <a:pPr>
              <a:lnSpc>
                <a:spcPct val="120000"/>
              </a:lnSpc>
              <a:spcBef>
                <a:spcPts val="900"/>
              </a:spcBef>
              <a:spcAft>
                <a:spcPts val="600"/>
              </a:spcAft>
              <a:defRPr sz="1100">
                <a:solidFill>
                  <a:srgbClr val="333333"/>
                </a:solidFill>
              </a:defRPr>
            </a:pPr>
            <a:r>
              <a:t>Model Versioning and Reproducibility: Systematic versioning prevents confusion and enables rollback. Version control: (1) Code versioning - Git for all code, including training scripts, preprocessing, evaluation. Tag releases (v1.0, v1.1). (2) Data versioning - DVC (Data Version Control) or similar tools track dataset versions. Critical for reproducibility - 'trained on dataset version X'. (3) Model versioning - semantic versioning (major.minor.patch). Store model weights, configuration, hyperparameters, and training metadata together. Use MLflow, Weights &amp; Biases, or Neptune for experiment tracking. (4) Environment versioning - Docker images with pinned dependency versions ensure consistent execution across development and production. (5) Experiment tracking - log every training run with hyperparameters, metrics, artifacts. Enable comparing experiments and reproducing best models. Model registry - centralized repository (MLflow Model Registry, SageMaker Model Registry) tracks production-ready models with metadata, lineage, and approval workflows.</a:t>
            </a:r>
          </a:p>
          <a:p>
            <a:pPr>
              <a:lnSpc>
                <a:spcPct val="120000"/>
              </a:lnSpc>
              <a:spcBef>
                <a:spcPts val="900"/>
              </a:spcBef>
              <a:spcAft>
                <a:spcPts val="600"/>
              </a:spcAft>
              <a:defRPr sz="1100">
                <a:solidFill>
                  <a:srgbClr val="333333"/>
                </a:solidFill>
              </a:defRPr>
            </a:pPr>
            <a:r>
              <a:t>Documentation and Knowledge Sharing: Good documentation enables maintenance and knowledge transfer. Documentation layers: (1) Code documentation - docstrings for functions/classes explaining inputs, outputs, behavior. Follow Google or NumPy docstring conventions. (2) Model cards - structured documentation template describing model architecture, training data, intended use, limitations, evaluation results, ethical considerations. Essential for responsible AI deployment. (3) API documentation - clear specification of endpoints, input/output formats, error codes, rate limits. Use OpenAPI/Swagger for REST APIs. (4) Deployment documentation - runbooks for deployment procedures, rollback procedures, troubleshooting common issues, on-call playbooks. (5) Architecture documentation - system diagrams showing components, data flow, dependencies. (6) Decision logs - ADRs (Architecture Decision Records) documenting key technical decisions and rationale. Maintenance: Documentation must be living - update with code changes. Automated doc generation (Sphinx, pdoc) from code comments. Regular reviews to keep current. Knowledge sharing: internal tech talks, post-mortems for incidents, onboarding guides for new team members.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Real-World Case Studies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Google Lens - Visual Search at Scale: Google Lens is a production multimodal system enabling visual search and object recognition through smartphone cameras. Architecture: Mobile app captures image → image uploaded to cloud → vision model (likely evolved from Inception/EfficientNet) extracts features → multimodal retrieval matches against massive database of images with associated metadata, products, places. Capabilities: (1) Object identification - point camera at plant, animal, landmark, product to get information. (2) Text recognition and translation - OCR on signs, menus, documents with real-time translation. (3) Shopping - identify products and find purchasing options. (4) Homework help - scan math problems for solutions. Technical challenges solved: (1) Low-latency inference - sub-second response required for good UX, achieved through model optimization, edge processing, and caching. (2) Massive scale - billions of queries daily, requiring highly optimized serving infrastructure. (3) Continuous learning - models updated regularly with new data, A/B tested before deployment. (4) Multimodal integration - combining vision with text, knowledge graphs, and location data. Lessons: Production multimodal systems require end-to-end optimization from mobile capture to cloud inference to user experience.</a:t>
            </a:r>
          </a:p>
          <a:p>
            <a:pPr>
              <a:lnSpc>
                <a:spcPct val="120000"/>
              </a:lnSpc>
              <a:spcBef>
                <a:spcPts val="900"/>
              </a:spcBef>
              <a:spcAft>
                <a:spcPts val="600"/>
              </a:spcAft>
              <a:defRPr sz="1100">
                <a:solidFill>
                  <a:srgbClr val="333333"/>
                </a:solidFill>
              </a:defRPr>
            </a:pPr>
            <a:r>
              <a:t>Medical Imaging AI - FDA-Approved Diagnostic Tools: Several multimodal AI systems have FDA approval for clinical use. Example: IDx-DR for diabetic retinopathy screening. System: Takes retinal fundus photographs → deep learning model (trained on 130,000 images) analyzes for signs of retinopathy → provides diagnostic decision (refer/don't refer). Unique aspects: (1) Regulatory approval - rigorous validation on diverse patient populations, &gt;87% sensitivity and &gt;90% specificity required. (2) High-stakes decision-making - false negatives can lead to blindness, false positives waste healthcare resources. (3) Interpretability requirements - clinicians need to understand AI reasoning, leading to attention visualization and saliency maps. (4) Bias mitigation - careful attention to demographic representation in training data to avoid disparities in care. (5) Human-in-the-loop - AI assists but doesn't replace clinicians. Implementation challenges: (1) Integration with clinical workflows and electronic health records. (2) Liability and responsibility questions. (3) Continuous monitoring for performance degradation or distribution shift as patient populations evolve. (4) Physician trust and adoption - requires transparent communication of capabilities and limitations. Lessons: Deploying AI in healthcare requires exceptional rigor in validation, transparency, fairness, and integration with existing clinical practice.</a:t>
            </a:r>
          </a:p>
          <a:p>
            <a:pPr>
              <a:lnSpc>
                <a:spcPct val="120000"/>
              </a:lnSpc>
              <a:spcBef>
                <a:spcPts val="900"/>
              </a:spcBef>
              <a:spcAft>
                <a:spcPts val="600"/>
              </a:spcAft>
              <a:defRPr sz="1100">
                <a:solidFill>
                  <a:srgbClr val="333333"/>
                </a:solidFill>
              </a:defRPr>
            </a:pPr>
            <a:r>
              <a:t>Autonomous Vehicles - Embodied Multimodal AI: Self-driving cars are perhaps the most complex deployed multimodal systems, integrating vision (cameras), LiDAR (3D point clouds), radar, GPS, IMU (inertial measurement), and HD maps. Waymo/Cruise architecture: Sensor fusion combines data from all modalities → perception models detect and track objects (vehicles, pedestrians, cyclists, traffic signs, lane markings) → prediction models forecast future trajectories of dynamic objects → planning module determines vehicle actions → control system executes. Multimodal integration is critical: cameras provide semantic information and long-range detection; LiDAR provides accurate 3D geometry and works in darkness; radar detects velocity and works through fog/rain. Technical innovations: (1) Temporal modeling - tracking objects across frames, predicting trajectories seconds into the future. (2) Uncertainty quantification - model confidence affects decision-making, erring on side of caution. (3) Sim-to-real transfer - training in simulation then adapting to real world. (4) Continual learning - fleet learning where all vehicles contribute to shared learning. Open challenges: (1) Long-tail events - rare but critical scenarios (emergency vehicle, construction zone, aggressive drivers) underrepresented in training data. (2) Explainability and debugging - understanding why system made particular decision. (3) Validation - proving safety across infinite possible scenarios. Lessons: Safety-critical applications require redundancy, conservative decision-making, extensive testing, and graceful degradation.</a:t>
            </a:r>
          </a:p>
          <a:p>
            <a:pPr>
              <a:lnSpc>
                <a:spcPct val="120000"/>
              </a:lnSpc>
              <a:spcBef>
                <a:spcPts val="900"/>
              </a:spcBef>
              <a:spcAft>
                <a:spcPts val="600"/>
              </a:spcAft>
              <a:defRPr sz="1100">
                <a:solidFill>
                  <a:srgbClr val="333333"/>
                </a:solidFill>
              </a:defRPr>
            </a:pPr>
            <a:r>
              <a:t>GitHub Copilot - Code Generation with Context: GitHub Copilot uses large language models (Codex, GPT-4) for code completion and generation. While primarily text-based, it exhibits multimodal reasoning by understanding code structure, documentation, and repository context. Deployment architecture: IDE plugin captures code context (current file, imported libraries, comments) → sends to API → LLM generates completion suggestions → user accepts/rejects/edits. Key features: (1) Context-aware suggestions - understands coding patterns, variable names, function signatures. (2) Multi-line generation - can write entire functions from docstrings. (3) Test generation - writes unit tests given function implementation. (4) Documentation - generates comments and docstrings. (5) Code translation - converting between programming languages. Production challenges: (1) Latency - sub-second response required for smooth IDE integration. Achieved through streaming responses and speculative generation. (2) Code correctness - generated code may have bugs, requiring user review. (3) Copyright and licensing - training on open-source code raises questions about generated code provenance. (4) Security - model might suggest vulnerable code patterns. Mitigated through security-focused fine-tuning and filtering. (5) Personalization - adapting to team coding styles while maintaining privacy. Lessons: AI coding assistants augment rather than replace developers, requiring UX that enables easy review and modification. User feedback loops essential for continuous improvement.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VI: Advanced Topics and Research Frontiers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Emerging Research Directions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3D Vision and Spatial Understanding: Current multimodal models primarily work with 2D images, but many applications require 3D spatial understanding. Emerging directions: (1) 3D scene reconstruction from multiple views or single images - Neural Radiance Fields (NeRF) and Gaussian Splatting learn 3D representations from 2D views, enabling novel view synthesis and 3D understanding. (2) 3D object detection and segmentation - Point cloud processing with PointNet, Transformer-based architectures for 3D data. (3) Vision-language models with 3D grounding - understanding spatial relationships ('behind', 'above'), absolute positions, object sizes. (4) Robotics applications - manipulation requires 3D understanding of objects, grasping points, collision avoidance. Research challenges: Representing 3D data efficiently (voxels, point clouds, meshes, implicit functions), scaling to large scenes, integrating 3D with language for embodied AI.</a:t>
            </a:r>
          </a:p>
          <a:p>
            <a:pPr>
              <a:lnSpc>
                <a:spcPct val="120000"/>
              </a:lnSpc>
              <a:spcBef>
                <a:spcPts val="900"/>
              </a:spcBef>
              <a:spcAft>
                <a:spcPts val="600"/>
              </a:spcAft>
              <a:defRPr sz="1100">
                <a:solidFill>
                  <a:srgbClr val="333333"/>
                </a:solidFill>
              </a:defRPr>
            </a:pPr>
            <a:r>
              <a:t>Long-Form Video Understanding: Most video models process short clips (seconds to minutes). Long-form video understanding (movies, lectures, surveillance footage) requires new approaches: (1) Hierarchical temporal modeling - processing video at multiple timescales (frames → shots → scenes → full video). (2) Memory-efficient architectures - processing hours of video without storing all frames. State-space models, memory networks, retrieval-augmented models. (3) Event understanding and temporal reasoning - identifying key events, understanding causal relationships, temporal ordering. (4) Video-language pre-training on narrated videos - leveraging naturally occurring narration in instructional videos, documentaries, movies. (5) Multimodal video-audio-text integration - combining visual content, speech, music, sound effects. Applications: Video search, content moderation, sports analytics, education (lecture understanding and Q&amp;A), security (anomaly detection in long surveillance feeds).</a:t>
            </a:r>
          </a:p>
          <a:p>
            <a:pPr>
              <a:lnSpc>
                <a:spcPct val="120000"/>
              </a:lnSpc>
              <a:spcBef>
                <a:spcPts val="900"/>
              </a:spcBef>
              <a:spcAft>
                <a:spcPts val="600"/>
              </a:spcAft>
              <a:defRPr sz="1100">
                <a:solidFill>
                  <a:srgbClr val="333333"/>
                </a:solidFill>
              </a:defRPr>
            </a:pPr>
            <a:r>
              <a:t>Embodied AI and Robotics: Integrating vision-language models into embodied agents that perceive and act in physical environments. Key research areas: (1) Vision-language-action models - models that take visual observations and language instructions as input, output robot actions. Examples: RT-1, RT-2 using vision Transformers with action tokens. (2) Sim-to-real transfer - training in simulation (cheap, safe, scalable) then deploying in real world. Domain randomization, domain adaptation techniques bridge the sim-real gap. (3) Interactive learning - robots learning from human feedback, demonstrations, corrections. (4) Multi-task learning - single model handling diverse manipulation tasks rather than task-specific policies. (5) Long-horizon planning - decomposing high-level goals ('clean the kitchen') into subtasks and low-level actions. Challenges: Sample efficiency (real-world data is expensive), safety (robots can cause damage), generalization to new environments and objects, real-time inference constraints.</a:t>
            </a:r>
          </a:p>
          <a:p>
            <a:pPr>
              <a:lnSpc>
                <a:spcPct val="120000"/>
              </a:lnSpc>
              <a:spcBef>
                <a:spcPts val="900"/>
              </a:spcBef>
              <a:spcAft>
                <a:spcPts val="600"/>
              </a:spcAft>
              <a:defRPr sz="1100">
                <a:solidFill>
                  <a:srgbClr val="333333"/>
                </a:solidFill>
              </a:defRPr>
            </a:pPr>
            <a:r>
              <a:t>Domain-Specific Multimodal Models: Adapting general-purpose models to specialized domains with unique requirements: (1) Medical imaging - combining X-rays, CT, MRI with radiology reports, patient history, genomic data. Models like BiomedCLIP, Med-PaLM specifically trained on medical data with proper de-identification and privacy. Challenges: limited labeled data, need for interpretability and calibration, regulatory approval. (2) Scientific document understanding - parsing papers with text, equations, figures, tables. Models like Galactica, Minerva understand scientific notation, mathematical reasoning. (3) Satellite and remote sensing - combining satellite imagery with geospatial data, temporal data, text descriptions. Applications in agriculture, climate monitoring, disaster response. (4) Manufacturing and industrial - quality control, defect detection with multimodal data from cameras, sensors, process logs. (5) Legal and financial - document analysis combining text, tables, signatures, metadata. Each domain requires specialized data, evaluation metrics, and deployment considerations. Transfer learning from general models helps but domain-specific fine-tuning and data collection remain essential.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Open Challenges in Multimodal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Hallucination and Factual Accuracy: Multimodal models frequently generate plausible but incorrect content - describing objects not present in images, making false claims about visual content, or fabricating details. This hallucination problem stems from: (1) Training on noisy web data where image-text pairs may be weakly related. (2) Language model priors overwhelming visual evidence - models may describe common scenarios rather than actual image content. (3) Lack of explicit grounding mechanisms enforcing correspondence between generated text and visual features. Mitigation approaches: retrieval-augmented generation (retrieving relevant knowledge to ground responses), contrastive decoding (penalizing outputs inconsistent with image), attribution (citing visual evidence for claims), calibration (providing confidence scores), human feedback (RLHF to reduce hallucination). Progress is ongoing but hallucination remains a major barrier to deployment in high-stakes applications.</a:t>
            </a:r>
          </a:p>
          <a:p>
            <a:pPr>
              <a:lnSpc>
                <a:spcPct val="120000"/>
              </a:lnSpc>
              <a:spcBef>
                <a:spcPts val="900"/>
              </a:spcBef>
              <a:spcAft>
                <a:spcPts val="600"/>
              </a:spcAft>
              <a:defRPr sz="1100">
                <a:solidFill>
                  <a:srgbClr val="333333"/>
                </a:solidFill>
              </a:defRPr>
            </a:pPr>
            <a:r>
              <a:t>Complex Reasoning and Compositional Understanding: Current models struggle with: (1) Multi-step logical reasoning ('If A is left of B and B is left of C, where is A relative to C?'). (2) Counting and precise quantification - answering 'How many?' reliably. (3) Fine-grained spatial reasoning - understanding complex spatial relationships and configurations. (4) Temporal reasoning in videos - understanding event sequences, causality, temporal ordering. (5) Abstract and analogical reasoning. Underlying issues: Transformer architectures may lack inductive biases for systematic reasoning, training data often lacks examples of complex reasoning (most captions are simple descriptions), and models may exploit shortcuts rather than learning true reasoning. Promising directions: chain-of-thought prompting (decomposing reasoning into steps), neuro-symbolic approaches (combining neural perception with symbolic reasoning), specialized architectures for compositional generalization, synthetic data generation for reasoning tasks.</a:t>
            </a:r>
          </a:p>
          <a:p>
            <a:pPr>
              <a:lnSpc>
                <a:spcPct val="120000"/>
              </a:lnSpc>
              <a:spcBef>
                <a:spcPts val="900"/>
              </a:spcBef>
              <a:spcAft>
                <a:spcPts val="600"/>
              </a:spcAft>
              <a:defRPr sz="1100">
                <a:solidFill>
                  <a:srgbClr val="333333"/>
                </a:solidFill>
              </a:defRPr>
            </a:pPr>
            <a:r>
              <a:t>Computational Efficiency and Accessibility: State-of-the-art models require enormous computational resources, limiting accessibility. GPT-4V and Gemini require infrastructure few organizations can afford. Challenges: (1) Training costs - pre-training large multimodal models costs millions of dollars in compute. (2) Inference costs - deploying models at scale requires significant ongoing infrastructure costs. (3) Memory requirements - largest models don't fit on consumer hardware. (4) Latency - interactive applications need sub-second response times. Solutions: (1) Efficient architectures - MoE, sparse attention, optimized attention implementations. (2) Distillation - compressing large models to smaller efficient versions. (3) Quantization - 8-bit, 4-bit models with minimal quality loss. (4) PEFT methods - LoRA, adapters enabling fine-tuning on modest hardware. (5) Open-source alternatives - community-developed models democratizing access. Balancing performance and efficiency remains an active area of work.</a:t>
            </a:r>
          </a:p>
          <a:p>
            <a:pPr>
              <a:lnSpc>
                <a:spcPct val="120000"/>
              </a:lnSpc>
              <a:spcBef>
                <a:spcPts val="900"/>
              </a:spcBef>
              <a:spcAft>
                <a:spcPts val="600"/>
              </a:spcAft>
              <a:defRPr sz="1100">
                <a:solidFill>
                  <a:srgbClr val="333333"/>
                </a:solidFill>
              </a:defRPr>
            </a:pPr>
            <a:r>
              <a:t>Safety, Alignment, and Responsible AI: Deploying multimodal AI responsibly requires addressing: (1) Bias and fairness - models may exhibit demographic biases, stereotypes, or perform worse on underrepresented groups. (2) Privacy - models trained on web data may memorize and reproduce private information from training images. (3) Misinformation and deepfakes - generative models can create convincing fake images, videos, facilitating deception. (4) Harmful content - models may generate violent, hateful, or explicit content despite safety filters. (5) Misuse - dual-use concerns where beneficial technologies enable malicious applications. (6) Alignment - ensuring models behave according to human values across diverse cultures and contexts. Approaches: careful data curation and filtering, bias measurement and mitigation, watermarking generated content, robust content moderation systems, red-teaming to identify failures, transparency about capabilities and limitations, stakeholder engagement in development, regulatory frameworks. No single solution suffices - responsible AI requires ongoing multifaceted efforts.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Research Resources and Community</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Key Papers and Publications: Essential papers to read: (1) 'Attention Is All You Need' (Vaswani et al., 2017) - foundational Transformer architecture. (2) 'CLIP: Learning Transferable Visual Models From Natural Language Supervision' (Radford et al., 2021) - contrastive vision-language pre-training. (3) 'BLIP-2: Bootstrapping Language-Image Pre-training with Frozen Image Encoders and Large Language Models' (Li et al., 2023) - efficient multimodal architecture. (4) 'Flamingo: a Visual Language Model for Few-Shot Learning' (Alayrac et al., 2022) - in-context learning for vision-language. (5) 'LoRA: Low-Rank Adaptation of Large Language Models' (Hu et al., 2021) - parameter-efficient fine-tuning. Conferences: NeurIPS, ICML, ICLR (general ML), CVPR, ICCV, ECCV (computer vision), ACL, EMNLP (NLP). ArXiv.org for preprints - most papers appear as preprints before conference publication. Google Scholar and Semantic Scholar for literature search.</a:t>
            </a:r>
          </a:p>
          <a:p>
            <a:pPr>
              <a:lnSpc>
                <a:spcPct val="120000"/>
              </a:lnSpc>
              <a:spcBef>
                <a:spcPts val="900"/>
              </a:spcBef>
              <a:spcAft>
                <a:spcPts val="600"/>
              </a:spcAft>
              <a:defRPr sz="1100">
                <a:solidFill>
                  <a:srgbClr val="333333"/>
                </a:solidFill>
              </a:defRPr>
            </a:pPr>
            <a:r>
              <a:t>Code Repositories and Libraries: Essential open-source tools: (1) HuggingFace Transformers - unified API for pre-trained models (github.com/huggingface/transformers). Thousands of models including CLIP, BLIP, LLaVA. Excellent documentation and tutorials. (2) HuggingFace PEFT - parameter-efficient fine-tuning (github.com/huggingface/peft). (3) PyTorch and TensorFlow - deep learning frameworks. (4) OpenCLIP - open-source CLIP implementation and training code (github.com/mlfoundations/open_clip). (5) LLaVA repository - vision-language assistant code and models. (6) LAION - large-scale datasets including LAION-400M, LAION-5B. Reproducibility: Most papers now include code releases. Papers With Code (paperswithcode.com) links papers to implementations and benchmarks. Model checkpoints on HuggingFace Hub enable using models without retraining.</a:t>
            </a:r>
          </a:p>
          <a:p>
            <a:pPr>
              <a:lnSpc>
                <a:spcPct val="120000"/>
              </a:lnSpc>
              <a:spcBef>
                <a:spcPts val="900"/>
              </a:spcBef>
              <a:spcAft>
                <a:spcPts val="600"/>
              </a:spcAft>
              <a:defRPr sz="1100">
                <a:solidFill>
                  <a:srgbClr val="333333"/>
                </a:solidFill>
              </a:defRPr>
            </a:pPr>
            <a:r>
              <a:t>Datasets and Benchmarks: Important multimodal datasets: (1) MS-COCO - 123K images with captions, object detection, keypoints. (2) Flickr30K - 31K images with 5 captions each. (3) Visual Genome - detailed scene graphs with objects, attributes, relationships. (4) VQAv2 - 1.1M visual questions. (5) Conceptual Captions - 3.3M image-caption pairs. (6) LAION-400M/5B - large-scale web-scraped pairs. Evaluation benchmarks: ImageNet for zero-shot classification, Winoground for compositional understanding, MMMU for multimodal understanding, VQAv2 for question answering. Papers With Code benchmarks track state-of-the-art performance. New datasets released regularly - follow conferences and ArXiv.</a:t>
            </a:r>
          </a:p>
          <a:p>
            <a:pPr>
              <a:lnSpc>
                <a:spcPct val="120000"/>
              </a:lnSpc>
              <a:spcBef>
                <a:spcPts val="900"/>
              </a:spcBef>
              <a:spcAft>
                <a:spcPts val="600"/>
              </a:spcAft>
              <a:defRPr sz="1100">
                <a:solidFill>
                  <a:srgbClr val="333333"/>
                </a:solidFill>
              </a:defRPr>
            </a:pPr>
            <a:r>
              <a:t>Community and Ongoing Learning: Engage with the community: (1) Twitter/X - many researchers share work, insights, and discuss papers. (2) Reddit - r/MachineLearning for discussions and paper summaries. (3) Discord/Slack communities - HuggingFace, LAION, and others have active communities. (4) Blogs - Distill.pub (excellent visualizations), HuggingFace blog, individual researcher blogs. (5) Video content - Yannic Kilcher (paper explanations), Two Minute Papers (research highlights). (6) Tutorials - HuggingFace course, fast.ai, Stanford CS231n (computer vision). Continuing education: Online courses (Coursera, Udacity), workshops at conferences, reading groups. Contribute to open source - fixing bugs, improving documentation, releasing models helps the community and builds your reputation. Reproducibility and openness are increasingly valued in ML research.</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Career Paths in Multimodal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Research Scientist Roles: Research scientists advance the state of the art through novel algorithms, architectures, and insights. Responsibilities: (1) Reading and critiquing papers to stay current with research. (2) Formulating research questions and hypotheses. (3) Designing and running experiments to test ideas. (4) Analyzing results and drawing conclusions. (5) Writing papers and presenting at conferences. (6) Collaborating with other researchers and engineers. Work environments: (1) Industry research labs - Google Brain/DeepMind, Meta AI, OpenAI, Microsoft Research, NVIDIA Research. Typically require PhD, focus on both fundamental and applied research. (2) Startups - fast-paced, often more applied, equity compensation. (3) Academia - universities, focus on fundamental research, teaching, advising students. Requires PhD, tenure-track positions competitive. Skills needed: strong mathematical foundations (linear algebra, probability, optimization), programming (Python, PyTorch/TensorFlow), paper writing, presentation skills, creativity in problem formulation.</a:t>
            </a:r>
          </a:p>
          <a:p>
            <a:pPr>
              <a:lnSpc>
                <a:spcPct val="120000"/>
              </a:lnSpc>
              <a:spcBef>
                <a:spcPts val="900"/>
              </a:spcBef>
              <a:spcAft>
                <a:spcPts val="600"/>
              </a:spcAft>
              <a:defRPr sz="1100">
                <a:solidFill>
                  <a:srgbClr val="333333"/>
                </a:solidFill>
              </a:defRPr>
            </a:pPr>
            <a:r>
              <a:t>Machine Learning Engineering: ML engineers build and deploy ML systems at scale. Responsibilities: (1) Implementing and optimizing models for production. (2) Building training pipelines - data preprocessing, distributed training, experiment tracking. (3) Deploying models - serving infrastructure, monitoring, A/B testing. (4) Improving system performance - latency optimization, resource efficiency. (5) Collaborating with researchers to transition research prototypes to production. Differs from research: focus on engineering excellence, scalability, reliability rather than novelty. Required skills: strong software engineering (algorithms, data structures, system design), deep learning frameworks, distributed systems, MLOps tools, cloud platforms (AWS, GCP, Azure). Roles at: tech companies (Google, Meta, Amazon, Microsoft), ML platforms (HuggingFace, Weights &amp; Biases), AI startups, companies adopting ML (finance, healthcare, retail). Career growth: ML Engineer → Senior MLE → Staff/Principal Engineer → ML Platform Architect.</a:t>
            </a:r>
          </a:p>
          <a:p>
            <a:pPr>
              <a:lnSpc>
                <a:spcPct val="120000"/>
              </a:lnSpc>
              <a:spcBef>
                <a:spcPts val="900"/>
              </a:spcBef>
              <a:spcAft>
                <a:spcPts val="600"/>
              </a:spcAft>
              <a:defRPr sz="1100">
                <a:solidFill>
                  <a:srgbClr val="333333"/>
                </a:solidFill>
              </a:defRPr>
            </a:pPr>
            <a:r>
              <a:t>Applied AI and Product Roles: Applied AI scientists/engineers work on product applications of ML. Responsibilities: (1) Identifying opportunities where ML adds product value. (2) Prototyping and validating ML solutions. (3) Working with product managers to define requirements and success metrics. (4) Collaborating with engineers to integrate ML into products. (5) Evaluating model performance and iterating based on user feedback. (6) Balancing ML capabilities with product constraints (latency, cost, user experience). Skills: both ML knowledge and product sense, communication skills for non-technical stakeholders, pragmatism (choosing appropriate models for constraints), business acumen. Roles at: product companies across industries. Related roles: Data Scientist (overlap with ML engineering, more focus on analysis), AI Product Manager (less technical, more strategy and requirements).</a:t>
            </a:r>
          </a:p>
          <a:p>
            <a:pPr>
              <a:lnSpc>
                <a:spcPct val="120000"/>
              </a:lnSpc>
              <a:spcBef>
                <a:spcPts val="900"/>
              </a:spcBef>
              <a:spcAft>
                <a:spcPts val="600"/>
              </a:spcAft>
              <a:defRPr sz="1100">
                <a:solidFill>
                  <a:srgbClr val="333333"/>
                </a:solidFill>
              </a:defRPr>
            </a:pPr>
            <a:r>
              <a:t>Paths and Preparation: Traditional path: BS in CS/Math/Engineering → MS or PhD in ML/AI → research or engineering roles. Alternative paths: Self-taught via online courses and projects, bootcamps, transitioning from software engineering or other technical fields. Increasingly common as field grows. Building experience: (1) Personal projects showcasing skills - implement papers, build applications, contribute to open source. (2) Kaggle competitions demonstrating practical skills. (3) Research internships or RA positions during studies. (4) Publishing papers or blog posts demonstrating depth. (5) Building portfolio website with projects and write-ups. Job search: Specialized platforms (ML Jobs List, AI Jobs), company career pages, networking at conferences and online. Interviews typically include: coding (algorithms, data structures), ML knowledge (theory, practice), system design, past project discussions. Preparation: practice coding (LeetCode), review ML fundamentals, prepare to discuss projects in depth, study company's ML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Ethical Considerations and Responsible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Identifying and Mitigating Bias: Multimodal AI systems can perpetuate harmful biases. Sources: (1) Data bias - training data may underrepresent certain groups or contain stereotypical associations. Web-scraped data reflects societal biases. (2) Measurement bias - evaluation metrics may not capture fairness. High average accuracy can mask poor performance on minorities. (3) Aggregation bias - single model for diverse populations may perform unequally. Manifestations: face recognition performing worse on darker skin tones, image search returning stereotypical gender associations, caption generation mentioning gender when irrelevant. Measurement: disaggregated evaluation across demographic groups, fairness metrics (demographic parity, equalized odds), qualitative analysis of outputs. Mitigation: balanced dataset curation, debiasing algorithms (adversarial debiasing, re-weighting), post-processing adjustments, diverse team perspectives in development. No perfect solution - ongoing monitoring and iteration needed.</a:t>
            </a:r>
          </a:p>
          <a:p>
            <a:pPr>
              <a:lnSpc>
                <a:spcPct val="120000"/>
              </a:lnSpc>
              <a:spcBef>
                <a:spcPts val="900"/>
              </a:spcBef>
              <a:spcAft>
                <a:spcPts val="600"/>
              </a:spcAft>
              <a:defRPr sz="1100">
                <a:solidFill>
                  <a:srgbClr val="333333"/>
                </a:solidFill>
              </a:defRPr>
            </a:pPr>
            <a:r>
              <a:t>Privacy and Data Protection: Privacy risks in multimodal AI: (1) Training data memorization - models may reproduce training images or sensitive information. (2) Inference attacks - adversaries may infer whether specific data was in training set. (3) Personal information in visual content - faces, license plates, private documents. (4) Location privacy - geolocated images or metadata. Protections: (1) Data minimization - collect only necessary data. (2) De-identification - remove personal identifiers before training. (3) Differential privacy - adding noise to training process to provide mathematical privacy guarantees, at cost of performance. (4) Federated learning - training on decentralized data without centralizing. (5) Access controls and encryption for stored data. Regulations: GDPR in Europe, CCPA in California, other emerging frameworks govern data collection and use. Compliance required for deployment. Privacy-utility trade-offs often necessary.</a:t>
            </a:r>
          </a:p>
          <a:p>
            <a:pPr>
              <a:lnSpc>
                <a:spcPct val="120000"/>
              </a:lnSpc>
              <a:spcBef>
                <a:spcPts val="900"/>
              </a:spcBef>
              <a:spcAft>
                <a:spcPts val="600"/>
              </a:spcAft>
              <a:defRPr sz="1100">
                <a:solidFill>
                  <a:srgbClr val="333333"/>
                </a:solidFill>
              </a:defRPr>
            </a:pPr>
            <a:r>
              <a:t>Transparency and Explainability: Users and stakeholders need to understand AI systems. Transparency dimensions: (1) Model transparency - architecture, training data, capabilities, limitations documented via model cards. (2) Inference transparency - explaining specific predictions. Attention visualization showing which image regions influenced output. Saliency maps highlighting important pixels. (3) Training transparency - disclosing datasets used, evaluation results, known biases. (4) Process transparency - how decisions about model development were made. Benefits: builds trust, enables debugging, satisfies regulatory requirements, allows informed decisions about deployment. Challenges: trade-offs between transparency and proprietary information, explanations may be misleading or incomplete, no consensus on what constitutes adequate explanation. Regulated sectors (healthcare, finance) often have explainability requirements.</a:t>
            </a:r>
          </a:p>
          <a:p>
            <a:pPr>
              <a:lnSpc>
                <a:spcPct val="120000"/>
              </a:lnSpc>
              <a:spcBef>
                <a:spcPts val="900"/>
              </a:spcBef>
              <a:spcAft>
                <a:spcPts val="600"/>
              </a:spcAft>
              <a:defRPr sz="1100">
                <a:solidFill>
                  <a:srgbClr val="333333"/>
                </a:solidFill>
              </a:defRPr>
            </a:pPr>
            <a:r>
              <a:t>Accountability and Governance: Establishing responsibility for AI system behavior. Questions: (1) Who is liable when AI makes harmful decision? Developer, deployer, user? (2) How are AI systems audited? (3) What recourse exists for those harmed? (4) How should AI be regulated? Governance approaches: (1) Internal AI ethics boards reviewing projects. (2) External audits by third parties. (3) Regulatory frameworks - EU AI Act classifying systems by risk, proposed US frameworks. (4) Industry standards and best practices. (5) Algorithmic impact assessments before deployment. Roles: AI ethicists, trust &amp; safety teams, policy specialists increasingly important. Documentation: maintaining decision logs, risk assessments, evaluation results enables accountability. Incident response: plans for handling AI failures, security breaches, bias discoveries. Interdisciplinary collaboration: engineers, ethicists, domain experts, affected communities should all inform AI development.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Summary of Key Concepts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We covered the mathematical and conceptual foundations of multimodal learning: (1) Multimodal representation learning - mapping heterogeneous inputs (images, text, audio) into shared embedding spaces enabling cross-modal reasoning. (2) Contrastive learning and InfoNCE loss - training models to align matching pairs while separating non-matching pairs, enabling zero-shot capabilities. (3) Attention mechanisms - self-attention for intra-modal processing, cross-attention for inter-modal interaction, enabling flexible information flow. (4) Transfer learning - leveraging pre-trained models and adapting to new tasks, reducing data and compute requirements. These foundations underpin all modern multimodal systems, from retrieval to generation to reasoning applications.</a:t>
            </a:r>
          </a:p>
          <a:p>
            <a:pPr>
              <a:lnSpc>
                <a:spcPct val="120000"/>
              </a:lnSpc>
              <a:spcBef>
                <a:spcPts val="900"/>
              </a:spcBef>
              <a:spcAft>
                <a:spcPts val="600"/>
              </a:spcAft>
              <a:defRPr sz="1100">
                <a:solidFill>
                  <a:srgbClr val="333333"/>
                </a:solidFill>
              </a:defRPr>
            </a:pPr>
            <a:r>
              <a:t>Architectural Landscape: We explored major architectural paradigms: (1) Dual encoders (CLIP) - separate modality encoders projecting to shared space, efficient but limited interaction. (2) Cross-encoders (BLIP, ViLBERT) - deep fusion via cross-attention, rich reasoning but computationally expensive. (3) Frozen-backbone models (BLIP-2, Flamingo, LLaVA) - connecting pre-trained vision and language models via lightweight modules, parameter-efficient. (4) Native multimodal (Gemini) - training from scratch on multimodal data. Each architecture offers trade-offs in performance, efficiency, and flexibility. Choosing appropriate architecture depends on task requirements, data availability, and computational resources.</a:t>
            </a:r>
          </a:p>
          <a:p>
            <a:pPr>
              <a:lnSpc>
                <a:spcPct val="120000"/>
              </a:lnSpc>
              <a:spcBef>
                <a:spcPts val="900"/>
              </a:spcBef>
              <a:spcAft>
                <a:spcPts val="600"/>
              </a:spcAft>
              <a:defRPr sz="1100">
                <a:solidFill>
                  <a:srgbClr val="333333"/>
                </a:solidFill>
              </a:defRPr>
            </a:pPr>
            <a:r>
              <a:t>Training and Adaptation: We learned both large-scale training and efficient fine-tuning: (1) Pre-training from scratch requires massive datasets (100M-5B pairs), distributed training (hundreds of GPUs), and weeks of compute - accessible primarily to well-resourced organizations. (2) Fine-tuning adapts pre-trained models to new domains and tasks - full fine-tuning updates all parameters, effective but expensive. (3) Parameter-efficient fine-tuning (PEFT) via LoRA, adapters, or prompt tuning updates &lt;1% of parameters, democratizing adaptation of large models. (4) Practical considerations: data quality vs. quantity trade-offs, optimization strategies, memory management, evaluation metrics. Understanding training dynamics enables effective use of multimodal models in research and applications.</a:t>
            </a:r>
          </a:p>
          <a:p>
            <a:pPr>
              <a:lnSpc>
                <a:spcPct val="120000"/>
              </a:lnSpc>
              <a:spcBef>
                <a:spcPts val="900"/>
              </a:spcBef>
              <a:spcAft>
                <a:spcPts val="600"/>
              </a:spcAft>
              <a:defRPr sz="1100">
                <a:solidFill>
                  <a:srgbClr val="333333"/>
                </a:solidFill>
              </a:defRPr>
            </a:pPr>
            <a:r>
              <a:t>Applications and Impact: Multimodal AI enables transformative applications: (1) Visual understanding - image classification, object detection, captioning, VQA allowing machines to perceive and reason about visual content. (2) Content generation - text-to-image models creating art, designs, educational materials from descriptions. (3) Multimodal search and retrieval - finding images from text queries and vice versa. (4) Embodied AI - robots understanding language instructions and visual scenes for manipulation and navigation. (5) Accessibility - tools helping visually or hearing impaired users through cross-modal translation. (6) Scientific and medical applications - analyzing complex multimodal data in healthcare, climate science, materials research. Deployment requires addressing robustness, bias, privacy, and safety. The field is rapidly evolving with new capabilities emerging regularly.</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