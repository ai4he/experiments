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2: BLIP-2 Image Captioning and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In this exercise, you'll use BLIP-2 for two tasks: image captioning (generating textual descriptions) and visual question answering (answering natural language questions about images). BLIP-2's Q-Former architecture efficiently connects a frozen vision encoder to a large language model, enabling both understanding and generation tasks. You'll experiment with different LLM backends (OPT-2.7B, FlanT5-XL) and compare their outputs. The exercise demonstrates how multimodal models can generate fluent, contextually appropriate language grounded in visual content. Estimated time: 20 minutes. Models to use: Salesforce/blip2-opt-2.7b and Salesforce/blip2-flan-t5-xl.</a:t>
            </a:r>
          </a:p>
          <a:p>
            <a:pPr>
              <a:lnSpc>
                <a:spcPct val="120000"/>
              </a:lnSpc>
              <a:spcBef>
                <a:spcPts val="900"/>
              </a:spcBef>
              <a:spcAft>
                <a:spcPts val="600"/>
              </a:spcAft>
              <a:defRPr sz="1100">
                <a:solidFill>
                  <a:srgbClr val="333333"/>
                </a:solidFill>
              </a:defRPr>
            </a:pPr>
            <a:r>
              <a:t>Image Captioning Implementation: Load BLIP-2 for captioning: from transformers import Blip2Processor, Blip2ForConditionalGeneration; processor = Blip2Processor.from_pretrained('Salesforce/blip2-opt-2.7b'); model = Blip2ForConditionalGeneration.from_pretrained('Salesforce/blip2-opt-2.7b', torch_dtype=torch.float16). Move to GPU. For each test image: (1) Preprocess: inputs = processor(images=image, return_tensors='pt').to('cuda', torch.float16). (2) Generate caption: generated_ids = model.generate(**inputs, max_length=50). (3) Decode: caption = processor.batch_decode(generated_ids, skip_special_tokens=True)[0].strip(). (4) Display image with generated caption. Try multiple images - portraits, landscapes, indoor/outdoor scenes, complex multi-object scenes. Observe caption quality: Are they factually accurate? Do they capture salient details? Generic or specific?</a:t>
            </a:r>
          </a:p>
          <a:p>
            <a:pPr>
              <a:lnSpc>
                <a:spcPct val="120000"/>
              </a:lnSpc>
              <a:spcBef>
                <a:spcPts val="900"/>
              </a:spcBef>
              <a:spcAft>
                <a:spcPts val="600"/>
              </a:spcAft>
              <a:defRPr sz="1100">
                <a:solidFill>
                  <a:srgbClr val="333333"/>
                </a:solidFill>
              </a:defRPr>
            </a:pPr>
            <a:r>
              <a:t>Visual Question Answering Implementation: For VQA, extend the captioning code to accept text prompts: prompt = 'Question: What color is the sky? Answer:'; inputs = processor(images=image, text=prompt, return_tensors='pt').to('cuda', torch.float16); out = model.generate(**inputs, max_length=20); answer = processor.decode(out[0], skip_special_tokens=True). Experiment with different question types: (1) Object recognition: 'What objects are in this image?', 'Is there a dog in this image?'. (2) Attribute questions: 'What color is the car?', 'How many people are there?'. (3) Spatial questions: 'Where is the cat?', 'What is behind the tree?'. (4) Activity questions: 'What is the person doing?'. (5) Reasoning questions: 'Why is the person smiling?', 'What time of day is it?'. Document which types BLIP-2 handles well vs. struggles with.</a:t>
            </a:r>
          </a:p>
          <a:p>
            <a:pPr>
              <a:lnSpc>
                <a:spcPct val="120000"/>
              </a:lnSpc>
              <a:spcBef>
                <a:spcPts val="900"/>
              </a:spcBef>
              <a:spcAft>
                <a:spcPts val="600"/>
              </a:spcAft>
              <a:defRPr sz="1100">
                <a:solidFill>
                  <a:srgbClr val="333333"/>
                </a:solidFill>
              </a:defRPr>
            </a:pPr>
            <a:r>
              <a:t>Comparing LLM Backends and Analysis: Compare BLIP-2 with OPT-2.7B vs. FlanT5-XL backends on the same images and questions. Observations to make: (1) Caption quality differences - which produces more detailed, accurate, or natural descriptions? (2) Answer format - does one backend produce more concise answers? (3) Hallucination - do models describe objects not present? (4) Factual accuracy vs. fluency trade-off. (5) Response time and memory usage differences (FlanT5-XL is larger, ~4GB vs 3GB). Discussion questions: How does BLIP-2 compare to CLIP for zero-shot tasks? What are the trade-offs between the two models? When would you choose BLIP-2 over CLIP or vice versa? Can you identify failure cases - images or questions where BLIP-2 fails? How might these models be improved? This analysis builds intuition for selecting appropriate models for different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3: LoRA Fine-Tuning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Motivation: In this exercise, you'll fine-tune CLIP for a custom image classification task using LoRA (Low-Rank Adaptation). Rather than updating all 300M+ parameters in CLIP, LoRA trains only ~0.5M parameters (0.15% of total) by adding low-rank decomposition matrices to attention layers. This demonstrates parameter-efficient fine-tuning - adapting large pre-trained models to new domains with minimal computational cost and memory. You'll use the PEFT library from HuggingFace to apply LoRA, train on a small custom dataset (Food-101 subset), and evaluate performance improvements. Estimated time: 15 minutes training on A100. This exercise prepares you for the homework where you'll perform full-scale fine-tuning.</a:t>
            </a:r>
          </a:p>
          <a:p>
            <a:pPr>
              <a:lnSpc>
                <a:spcPct val="120000"/>
              </a:lnSpc>
              <a:spcBef>
                <a:spcPts val="900"/>
              </a:spcBef>
              <a:spcAft>
                <a:spcPts val="600"/>
              </a:spcAft>
              <a:defRPr sz="1100">
                <a:solidFill>
                  <a:srgbClr val="333333"/>
                </a:solidFill>
              </a:defRPr>
            </a:pPr>
            <a:r>
              <a:t>Setup and Configuration: Install PEFT library: pip install peft. Load base CLIP model: from transformers import CLIPModel, CLIPProcessor; from peft import get_peft_model, LoraConfig, TaskType; model = CLIPModel.from_pretrained('openai/clip-vit-base-patch32'). Configure LoRA: config = LoraConfig(r=8, lora_alpha=16, target_modules=['q_proj', 'v_proj'], lora_dropout=0.1, bias='none', task_type=TaskType.FEATURE_EXTRACTION). The rank r=8 means each weight update is decomposed into two 8-dimensional matrices. lora_alpha=16 controls update magnitude. We apply LoRA only to query and value projections in attention layers. Wrap model: model = get_peft_model(model, config). Check trainable parameters: model.print_trainable_parameters() shows ~0.5M trainable out of 151M total.</a:t>
            </a:r>
          </a:p>
          <a:p>
            <a:pPr>
              <a:lnSpc>
                <a:spcPct val="120000"/>
              </a:lnSpc>
              <a:spcBef>
                <a:spcPts val="900"/>
              </a:spcBef>
              <a:spcAft>
                <a:spcPts val="600"/>
              </a:spcAft>
              <a:defRPr sz="1100">
                <a:solidFill>
                  <a:srgbClr val="333333"/>
                </a:solidFill>
              </a:defRPr>
            </a:pPr>
            <a:r>
              <a:t>Training Loop Implementation: Prepare data: Use Food-101 subset with 10 classes, 100 images per class. Create DataLoader with batch_size=32. For each batch: (1) Process inputs: inputs = processor(text=text_labels, images=images, return_tensors='pt', padding=True). (2) Forward pass: outputs = model(**inputs); logits = outputs.logits_per_image. (3) Compute loss: loss = F.cross_entropy(logits, labels). (4) Backward and optimize: loss.backward(); optimizer.step(); optimizer.zero_grad(). Use AdamW optimizer with lr=1e-4, train for 5 epochs. Monitor training loss and validation accuracy. With LoRA, training is fast - approximately 2 minutes per epoch on A100. Without LoRA (full fine-tuning), it would take 10x longer and require 3x more memory. This efficiency enables rapid experimentation and iteration.</a:t>
            </a:r>
          </a:p>
          <a:p>
            <a:pPr>
              <a:lnSpc>
                <a:spcPct val="120000"/>
              </a:lnSpc>
              <a:spcBef>
                <a:spcPts val="900"/>
              </a:spcBef>
              <a:spcAft>
                <a:spcPts val="600"/>
              </a:spcAft>
              <a:defRPr sz="1100">
                <a:solidFill>
                  <a:srgbClr val="333333"/>
                </a:solidFill>
              </a:defRPr>
            </a:pPr>
            <a:r>
              <a:t>Evaluation and Analysis: After training, evaluate on held-out test set. Compare three conditions: (1) Zero-shot CLIP (no fine-tuning) - baseline performance using generic food prompts. (2) LoRA fine-tuned CLIP - your trained model. (3) If time permits, full fine-tuning (update all parameters) for comparison. Metrics: accuracy, per-class precision/recall, confusion matrix. Expected results: zero-shot ~60-70%, LoRA fine-tuned ~85-90%, full fine-tuning ~88-92%. Key observations: LoRA achieves within 2-3% of full fine-tuning while training only 0.15% of parameters. Discussion questions: (1) Which food categories improved most with fine-tuning? Why? (2) Does LoRA preserve zero-shot capabilities on non-food images? (3) How does rank r affect performance and training speed? (4) When would you choose LoRA vs. full fine-tuning? This hands-on experience demonstrates that effective adaptation doesn't require massive computational resources - thoughtful methods like LoRA democratize fine-tuning large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Homework Assignment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Assignment Structure and Objectives: The homework assignment consists of three progressive exercises that deepen your understanding of multimodal model fine-tuning. Each exercise involves training a model on a specific task, evaluating performance, analyzing results, and documenting findings. Total estimated time: 8-12 hours over one week. Deliverables: (1) Jupyter notebook with complete code, outputs, and analysis. (2) Written report (3-5 pages) discussing methodology, results, insights, and answers to discussion questions. (3) Trained model checkpoints uploaded to your scratch directory. Due date: One week from today. You may work individually or in pairs (specify collaborators). The assignment tests your ability to: implement fine-tuning pipelines, debug training issues, interpret evaluation metrics, and critically analyze model behavior.</a:t>
            </a:r>
          </a:p>
          <a:p>
            <a:pPr>
              <a:lnSpc>
                <a:spcPct val="120000"/>
              </a:lnSpc>
              <a:spcBef>
                <a:spcPts val="900"/>
              </a:spcBef>
              <a:spcAft>
                <a:spcPts val="600"/>
              </a:spcAft>
              <a:defRPr sz="1100">
                <a:solidFill>
                  <a:srgbClr val="333333"/>
                </a:solidFill>
              </a:defRPr>
            </a:pPr>
            <a:r>
              <a:t>Exercise 1 - Fine-Tuning CLIP for Domain-Specific Classification: Fine-tune CLIP on Food-101 dataset (101 food categories, 1,000 images per category). Task: Adapt CLIP's vision encoder to improve classification accuracy on food images. Requirements: (1) Implement training pipeline with LoRA (r=8 or 16, your choice). (2) Train for at least 10 epochs with proper train/val split. (3) Implement data augmentation (random crop, flip, color jitter). (4) Track metrics: training/validation loss, accuracy, per-class accuracy. (5) Compare zero-shot baseline vs. fine-tuned performance. (6) Analyze: Which categories improve most? Which remain difficult? Does fine-tuning hurt zero-shot performance on non-food images? Test on ImageNet samples to check. (7) Experiment with at least two LoRA configurations (different ranks, target modules, or learning rates) and compare results. Submit learning curves, confusion matrix, and example predictions.</a:t>
            </a:r>
          </a:p>
          <a:p>
            <a:pPr>
              <a:lnSpc>
                <a:spcPct val="120000"/>
              </a:lnSpc>
              <a:spcBef>
                <a:spcPts val="900"/>
              </a:spcBef>
              <a:spcAft>
                <a:spcPts val="600"/>
              </a:spcAft>
              <a:defRPr sz="1100">
                <a:solidFill>
                  <a:srgbClr val="333333"/>
                </a:solidFill>
              </a:defRPr>
            </a:pPr>
            <a:r>
              <a:t>Exercise 2 - Fine-Tuning BLIP for Image Captioning: Fine-tune BLIP on Flickr30K dataset (31K images with 5 captions each). Task: Improve caption quality through fine-tuning. Requirements: (1) Use BLIP-base model as starting point. (2) Implement caption generation training loop with cross-entropy loss. (3) Use LoRA for efficiency (apply to language model layers). (4) Train for 5 epochs with batch size appropriate for your GPU. (5) Evaluate with BLEU-4, METEOR, and CIDEr metrics using provided evaluation scripts. (6) Generate captions for 20 test images, showing before/after fine-tuning. (7) Analyze: Does fine-tuning produce more detailed captions? More accurate? Do you observe hallucination (describing things not in image)? How do quantitative metrics correlate with qualitative caption quality? (8) Ablation study: Compare training with different LoRA ranks or frozen vs. trainable vision encoder. Document computational costs (training time, memory usage).</a:t>
            </a:r>
          </a:p>
          <a:p>
            <a:pPr>
              <a:lnSpc>
                <a:spcPct val="120000"/>
              </a:lnSpc>
              <a:spcBef>
                <a:spcPts val="900"/>
              </a:spcBef>
              <a:spcAft>
                <a:spcPts val="600"/>
              </a:spcAft>
              <a:defRPr sz="1100">
                <a:solidFill>
                  <a:srgbClr val="333333"/>
                </a:solidFill>
              </a:defRPr>
            </a:pPr>
            <a:r>
              <a:t>Exercise 3 - Fine-Tuning Vision-Language Model for VQA: Fine-tune a vision-language model on VQAv2 dataset subset (10K question-answer pairs). Task: Improve question-answering accuracy. Requirements: (1) Choose BLIP-2 or LLaVA as base model. (2) Implement VQA training: encode image+question, generate answer, compute loss. (3) Use LoRA on language model parameters. (4) Train for 3-5 epochs. (5) Evaluate VQA accuracy on held-out test set. (6) Analyze by question type: yes/no questions, counting, color, object recognition, spatial reasoning. (7) Error analysis: Identify failure modes. Does model fail to see objects? Misunderstand questions? Hallucinate? (8) Discussion: Compare pre-trained vs. fine-tuned performance. What types of questions benefit most from fine-tuning? How much training data is needed for good performance? What are remaining limitations? Written report should synthesize insights across all three exercises, discussing broader lessons about multimodal model adaptation, efficiency of PEFT methods, and practical considerations for real-world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Model Deployment Strategies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Deployment Overview and Considerations: Deploying multimodal models in production requires balancing multiple objectives: inference latency (response time), throughput (requests per second), computational cost (hardware and energy), model size (memory footprint), and accuracy. Different deployment scenarios have different constraints: (1) Interactive applications (chatbots, image search) require low latency (&lt;100ms) and high availability. (2) Batch processing (content moderation, dataset annotation) prioritizes throughput over latency. (3) Edge deployment (mobile apps, robotics) has strict memory and compute constraints. (4) Research and development prioritizes flexibility and experimentation. Key decisions: where to deploy (cloud, on-premise, edge), what hardware (CPU, GPU, TPU, specialized accelerators), what optimizations (quantization, pruning, distillation), and what serving infrastructure (REST API, gRPC, model server frameworks).</a:t>
            </a:r>
          </a:p>
          <a:p>
            <a:pPr>
              <a:lnSpc>
                <a:spcPct val="120000"/>
              </a:lnSpc>
              <a:spcBef>
                <a:spcPts val="900"/>
              </a:spcBef>
              <a:spcAft>
                <a:spcPts val="600"/>
              </a:spcAft>
              <a:defRPr sz="1100">
                <a:solidFill>
                  <a:srgbClr val="333333"/>
                </a:solidFill>
              </a:defRPr>
            </a:pPr>
            <a:r>
              <a:t>Cloud Deployment with Model Serving Frameworks: Cloud deployment provides scalability and flexibility. Popular frameworks: (1) TorchServe - PyTorch's native serving framework supporting batching, multi-model serving, metrics, and A/B testing. Package model as .mar file, deploy with configuration specifying batch size, timeout, workers. Handles HTTP/gRPC requests, load balancing, auto-scaling. (2) TensorFlow Serving - similar for TensorFlow models. (3) Triton Inference Server (NVIDIA) - framework-agnostic, optimized for GPU inference, supports PyTorch, TensorFlow, ONNX. Features: dynamic batching (accumulating requests to maximize GPU utilization), model ensembles, concurrent model execution. (4) Ray Serve - Python-first serving framework with advanced features like multi-model composition, streaming, custom business logic. Deployment workflow: Export model to standard format (TorchScript, ONNX), containerize with Docker, deploy to Kubernetes cluster with horizontal auto-scaling, monitor with Prometheus/Grafana.</a:t>
            </a:r>
          </a:p>
          <a:p>
            <a:pPr>
              <a:lnSpc>
                <a:spcPct val="120000"/>
              </a:lnSpc>
              <a:spcBef>
                <a:spcPts val="900"/>
              </a:spcBef>
              <a:spcAft>
                <a:spcPts val="600"/>
              </a:spcAft>
              <a:defRPr sz="1100">
                <a:solidFill>
                  <a:srgbClr val="333333"/>
                </a:solidFill>
              </a:defRPr>
            </a:pPr>
            <a:r>
              <a:t>Edge Deployment and Mobile Optimization: Deploying on edge devices (smartphones, IoT, robots) requires aggressive optimization. Challenges: limited memory (2-8GB), CPU-only or mobile GPU, battery constraints, intermittent connectivity. Optimization techniques: (1) Quantization - convert FP32 to INT8 or even INT4 using post-training quantization or quantization-aware training. PyTorch Mobile and TensorFlow Lite provide quantization tools. (2) Pruning - remove unimportant weights/neurons, reducing model size and computation. Structured pruning removes entire channels/layers. (3) Knowledge distillation - train smaller student model to mimic larger teacher. For example, distilling CLIP ViT-L to ViT-B or MobileNet backbone. (4) Neural architecture search - finding efficient architectures for target hardware (MobileNets, EfficientNets designed for mobile). (5) Model partitioning - split computation between edge and cloud, processing sensitive data locally while offloading heavy computation. Example: Run CLIP's vision encoder on device, text encoder in cloud for privacy-preserving image search.</a:t>
            </a:r>
          </a:p>
          <a:p>
            <a:pPr>
              <a:lnSpc>
                <a:spcPct val="120000"/>
              </a:lnSpc>
              <a:spcBef>
                <a:spcPts val="900"/>
              </a:spcBef>
              <a:spcAft>
                <a:spcPts val="600"/>
              </a:spcAft>
              <a:defRPr sz="1100">
                <a:solidFill>
                  <a:srgbClr val="333333"/>
                </a:solidFill>
              </a:defRPr>
            </a:pPr>
            <a:r>
              <a:t>Inference Optimization and Best Practices: Optimizations applicable across deployment scenarios: (1) Batching - processing multiple inputs together amortizes overhead and maximizes hardware utilization. Dynamic batching accumulates requests up to timeout or max batch size. Critical for GPU throughput. (2) Model compilation - JIT compilation (TorchScript torch.jit.trace/script) optimizes computation graph. ONNX Runtime provides further optimizations. TensorRT (NVIDIA) aggressively optimizes for specific GPU models. (3) Mixed precision inference - FP16 reduces memory and increases throughput with minimal accuracy loss. (4) Caching - cache embeddings for frequently accessed items (e.g., cache CLIP image embeddings for product catalog). (5) Multi-stage pipelines - for complex workflows, use smaller fast models for filtering before expensive models. (6) Hardware selection - GPUs for throughput-critical applications, CPUs with AVX-512/VNNI for cost-sensitive deployment, TPUs for Google Cloud. Monitoring: Track latency percentiles (p50, p95, p99), throughput, error rates, resource utilization. Set up alerts for degradation. A/B testing for model updates. Gradual rollout to catch issues before full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Production Best Practices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Testing and Validation: Rigorous testing prevents production failures. Testing hierarchy: (1) Unit tests - test individual components (data preprocessing, model forward pass, postprocessing) with fixtures. Use pytest for Python testing. (2) Integration tests - test end-to-end pipeline: input → preprocessing → inference → postprocessing → output. Validate on representative examples covering common cases and edge cases. (3) Regression tests - maintain test suite of examples with expected outputs. Run on every code change to catch regressions. (4) Performance tests - measure latency and throughput under load using tools like Locust or Apache JMeter. Establish performance baselines and SLOs (Service Level Objectives). (5) Shadow deployment - run new model alongside production model, compare outputs, monitor disagreements before switching traffic. (6) A/B testing - gradually roll out new model to subset of users, compare metrics (accuracy, user engagement, business KPIs) before full deployment.</a:t>
            </a:r>
          </a:p>
          <a:p>
            <a:pPr>
              <a:lnSpc>
                <a:spcPct val="120000"/>
              </a:lnSpc>
              <a:spcBef>
                <a:spcPts val="900"/>
              </a:spcBef>
              <a:spcAft>
                <a:spcPts val="600"/>
              </a:spcAft>
              <a:defRPr sz="1100">
                <a:solidFill>
                  <a:srgbClr val="333333"/>
                </a:solidFill>
              </a:defRPr>
            </a:pPr>
            <a:r>
              <a:t>Monitoring and Observability: Comprehensive monitoring enables quick issue detection and diagnosis. Key metrics to track: (1) Latency - p50, p95, p99, p99.9 response times. Set alerts for degradation (e.g., p95 &gt; 200ms). (2) Throughput - requests per second, ensuring capacity matches demand. (3) Error rates - 4xx (client errors), 5xx (server errors), model-specific errors (invalid inputs). (4) Resource utilization - CPU, GPU, memory usage. High utilization may indicate need to scale. (5) Model metrics - prediction confidence distribution, embedding norms, attention pattern statistics. Detect distribution shift. (6) Business metrics - task success rates, user engagement. Infrastructure: Use Prometheus for metrics collection, Grafana for dashboards, alerting systems (PagerDuty, Opsgenie) for on-call. Structured logging with context (request ID, user ID, model version) enables debugging. Distributed tracing (Jaeger, Zipkin) for multi-service calls.</a:t>
            </a:r>
          </a:p>
          <a:p>
            <a:pPr>
              <a:lnSpc>
                <a:spcPct val="120000"/>
              </a:lnSpc>
              <a:spcBef>
                <a:spcPts val="900"/>
              </a:spcBef>
              <a:spcAft>
                <a:spcPts val="600"/>
              </a:spcAft>
              <a:defRPr sz="1100">
                <a:solidFill>
                  <a:srgbClr val="333333"/>
                </a:solidFill>
              </a:defRPr>
            </a:pPr>
            <a:r>
              <a:t>Model Versioning and Reproducibility: Systematic versioning prevents confusion and enables rollback. Version control: (1) Code versioning - Git for all code, including training scripts, preprocessing, evaluation. Tag releases (v1.0, v1.1). (2) Data versioning - DVC (Data Version Control) or similar tools track dataset versions. Critical for reproducibility - 'trained on dataset version X'. (3) Model versioning - semantic versioning (major.minor.patch). Store model weights, configuration, hyperparameters, and training metadata together. Use MLflow, Weights &amp; Biases, or Neptune for experiment tracking. (4) Environment versioning - Docker images with pinned dependency versions ensure consistent execution across development and production. (5) Experiment tracking - log every training run with hyperparameters, metrics, artifacts. Enable comparing experiments and reproducing best models. Model registry - centralized repository (MLflow Model Registry, SageMaker Model Registry) tracks production-ready models with metadata, lineage, and approval workflows.</a:t>
            </a:r>
          </a:p>
          <a:p>
            <a:pPr>
              <a:lnSpc>
                <a:spcPct val="120000"/>
              </a:lnSpc>
              <a:spcBef>
                <a:spcPts val="900"/>
              </a:spcBef>
              <a:spcAft>
                <a:spcPts val="600"/>
              </a:spcAft>
              <a:defRPr sz="1100">
                <a:solidFill>
                  <a:srgbClr val="333333"/>
                </a:solidFill>
              </a:defRPr>
            </a:pPr>
            <a:r>
              <a:t>Documentation and Knowledge Sharing: Good documentation enables maintenance and knowledge transfer. Documentation layers: (1) Code documentation - docstrings for functions/classes explaining inputs, outputs, behavior. Follow Google or NumPy docstring conventions. (2) Model cards - structured documentation template describing model architecture, training data, intended use, limitations, evaluation results, ethical considerations. Essential for responsible AI deployment. (3) API documentation - clear specification of endpoints, input/output formats, error codes, rate limits. Use OpenAPI/Swagger for REST APIs. (4) Deployment documentation - runbooks for deployment procedures, rollback procedures, troubleshooting common issues, on-call playbooks. (5) Architecture documentation - system diagrams showing components, data flow, dependencies. (6) Decision logs - ADRs (Architecture Decision Records) documenting key technical decisions and rationale. Maintenance: Documentation must be living - update with code changes. Automated doc generation (Sphinx, pdoc) from code comments. Regular reviews to keep current. Knowledge sharing: internal tech talks, post-mortems for incidents, onboarding guides for new team members.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Real-World Case Studies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Google Lens - Visual Search at Scale: Google Lens is a production multimodal system enabling visual search and object recognition through smartphone cameras. Architecture: Mobile app captures image → image uploaded to cloud → vision model (likely evolved from Inception/EfficientNet) extracts features → multimodal retrieval matches against massive database of images with associated metadata, products, places. Capabilities: (1) Object identification - point camera at plant, animal, landmark, product to get information. (2) Text recognition and translation - OCR on signs, menus, documents with real-time translation. (3) Shopping - identify products and find purchasing options. (4) Homework help - scan math problems for solutions. Technical challenges solved: (1) Low-latency inference - sub-second response required for good UX, achieved through model optimization, edge processing, and caching. (2) Massive scale - billions of queries daily, requiring highly optimized serving infrastructure. (3) Continuous learning - models updated regularly with new data, A/B tested before deployment. (4) Multimodal integration - combining vision with text, knowledge graphs, and location data. Lessons: Production multimodal systems require end-to-end optimization from mobile capture to cloud inference to user experience.</a:t>
            </a:r>
          </a:p>
          <a:p>
            <a:pPr>
              <a:lnSpc>
                <a:spcPct val="120000"/>
              </a:lnSpc>
              <a:spcBef>
                <a:spcPts val="900"/>
              </a:spcBef>
              <a:spcAft>
                <a:spcPts val="600"/>
              </a:spcAft>
              <a:defRPr sz="1100">
                <a:solidFill>
                  <a:srgbClr val="333333"/>
                </a:solidFill>
              </a:defRPr>
            </a:pPr>
            <a:r>
              <a:t>Medical Imaging AI - FDA-Approved Diagnostic Tools: Several multimodal AI systems have FDA approval for clinical use. Example: IDx-DR for diabetic retinopathy screening. System: Takes retinal fundus photographs → deep learning model (trained on 130,000 images) analyzes for signs of retinopathy → provides diagnostic decision (refer/don't refer). Unique aspects: (1) Regulatory approval - rigorous validation on diverse patient populations, &gt;87% sensitivity and &gt;90% specificity required. (2) High-stakes decision-making - false negatives can lead to blindness, false positives waste healthcare resources. (3) Interpretability requirements - clinicians need to understand AI reasoning, leading to attention visualization and saliency maps. (4) Bias mitigation - careful attention to demographic representation in training data to avoid disparities in care. (5) Human-in-the-loop - AI assists but doesn't replace clinicians. Implementation challenges: (1) Integration with clinical workflows and electronic health records. (2) Liability and responsibility questions. (3) Continuous monitoring for performance degradation or distribution shift as patient populations evolve. (4) Physician trust and adoption - requires transparent communication of capabilities and limitations. Lessons: Deploying AI in healthcare requires exceptional rigor in validation, transparency, fairness, and integration with existing clinical practice.</a:t>
            </a:r>
          </a:p>
          <a:p>
            <a:pPr>
              <a:lnSpc>
                <a:spcPct val="120000"/>
              </a:lnSpc>
              <a:spcBef>
                <a:spcPts val="900"/>
              </a:spcBef>
              <a:spcAft>
                <a:spcPts val="600"/>
              </a:spcAft>
              <a:defRPr sz="1100">
                <a:solidFill>
                  <a:srgbClr val="333333"/>
                </a:solidFill>
              </a:defRPr>
            </a:pPr>
            <a:r>
              <a:t>Autonomous Vehicles - Embodied Multimodal AI: Self-driving cars are perhaps the most complex deployed multimodal systems, integrating vision (cameras), LiDAR (3D point clouds), radar, GPS, IMU (inertial measurement), and HD maps. Waymo/Cruise architecture: Sensor fusion combines data from all modalities → perception models detect and track objects (vehicles, pedestrians, cyclists, traffic signs, lane markings) → prediction models forecast future trajectories of dynamic objects → planning module determines vehicle actions → control system executes. Multimodal integration is critical: cameras provide semantic information and long-range detection; LiDAR provides accurate 3D geometry and works in darkness; radar detects velocity and works through fog/rain. Technical innovations: (1) Temporal modeling - tracking objects across frames, predicting trajectories seconds into the future. (2) Uncertainty quantification - model confidence affects decision-making, erring on side of caution. (3) Sim-to-real transfer - training in simulation then adapting to real world. (4) Continual learning - fleet learning where all vehicles contribute to shared learning. Open challenges: (1) Long-tail events - rare but critical scenarios (emergency vehicle, construction zone, aggressive drivers) underrepresented in training data. (2) Explainability and debugging - understanding why system made particular decision. (3) Validation - proving safety across infinite possible scenarios. Lessons: Safety-critical applications require redundancy, conservative decision-making, extensive testing, and graceful degradation.</a:t>
            </a:r>
          </a:p>
          <a:p>
            <a:pPr>
              <a:lnSpc>
                <a:spcPct val="120000"/>
              </a:lnSpc>
              <a:spcBef>
                <a:spcPts val="900"/>
              </a:spcBef>
              <a:spcAft>
                <a:spcPts val="600"/>
              </a:spcAft>
              <a:defRPr sz="1100">
                <a:solidFill>
                  <a:srgbClr val="333333"/>
                </a:solidFill>
              </a:defRPr>
            </a:pPr>
            <a:r>
              <a:t>GitHub Copilot - Code Generation with Context: GitHub Copilot uses large language models (Codex, GPT-4) for code completion and generation. While primarily text-based, it exhibits multimodal reasoning by understanding code structure, documentation, and repository context. Deployment architecture: IDE plugin captures code context (current file, imported libraries, comments) → sends to API → LLM generates completion suggestions → user accepts/rejects/edits. Key features: (1) Context-aware suggestions - understands coding patterns, variable names, function signatures. (2) Multi-line generation - can write entire functions from docstrings. (3) Test generation - writes unit tests given function implementation. (4) Documentation - generates comments and docstrings. (5) Code translation - converting between programming languages. Production challenges: (1) Latency - sub-second response required for smooth IDE integration. Achieved through streaming responses and speculative generation. (2) Code correctness - generated code may have bugs, requiring user review. (3) Copyright and licensing - training on open-source code raises questions about generated code provenance. (4) Security - model might suggest vulnerable code patterns. Mitigated through security-focused fine-tuning and filtering. (5) Personalization - adapting to team coding styles while maintaining privacy. Lessons: AI coding assistants augment rather than replace developers, requiring UX that enables easy review and modification. User feedback loops essential for continuous improvement.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VI: Advanced Topics and Research Frontiers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Emerging Research Directions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3D Vision and Spatial Understanding: Current multimodal models primarily work with 2D images, but many applications require 3D spatial understanding. Emerging directions: (1) 3D scene reconstruction from multiple views or single images - Neural Radiance Fields (NeRF) and Gaussian Splatting learn 3D representations from 2D views, enabling novel view synthesis and 3D understanding. (2) 3D object detection and segmentation - Point cloud processing with PointNet, Transformer-based architectures for 3D data. (3) Vision-language models with 3D grounding - understanding spatial relationships ('behind', 'above'), absolute positions, object sizes. (4) Robotics applications - manipulation requires 3D understanding of objects, grasping points, collision avoidance. Research challenges: Representing 3D data efficiently (voxels, point clouds, meshes, implicit functions), scaling to large scenes, integrating 3D with language for embodied AI.</a:t>
            </a:r>
          </a:p>
          <a:p>
            <a:pPr>
              <a:lnSpc>
                <a:spcPct val="120000"/>
              </a:lnSpc>
              <a:spcBef>
                <a:spcPts val="900"/>
              </a:spcBef>
              <a:spcAft>
                <a:spcPts val="600"/>
              </a:spcAft>
              <a:defRPr sz="1100">
                <a:solidFill>
                  <a:srgbClr val="333333"/>
                </a:solidFill>
              </a:defRPr>
            </a:pPr>
            <a:r>
              <a:t>Long-Form Video Understanding: Most video models process short clips (seconds to minutes). Long-form video understanding (movies, lectures, surveillance footage) requires new approaches: (1) Hierarchical temporal modeling - processing video at multiple timescales (frames → shots → scenes → full video). (2) Memory-efficient architectures - processing hours of video without storing all frames. State-space models, memory networks, retrieval-augmented models. (3) Event understanding and temporal reasoning - identifying key events, understanding causal relationships, temporal ordering. (4) Video-language pre-training on narrated videos - leveraging naturally occurring narration in instructional videos, documentaries, movies. (5) Multimodal video-audio-text integration - combining visual content, speech, music, sound effects. Applications: Video search, content moderation, sports analytics, education (lecture understanding and Q&amp;A), security (anomaly detection in long surveillance feeds).</a:t>
            </a:r>
          </a:p>
          <a:p>
            <a:pPr>
              <a:lnSpc>
                <a:spcPct val="120000"/>
              </a:lnSpc>
              <a:spcBef>
                <a:spcPts val="900"/>
              </a:spcBef>
              <a:spcAft>
                <a:spcPts val="600"/>
              </a:spcAft>
              <a:defRPr sz="1100">
                <a:solidFill>
                  <a:srgbClr val="333333"/>
                </a:solidFill>
              </a:defRPr>
            </a:pPr>
            <a:r>
              <a:t>Embodied AI and Robotics: Integrating vision-language models into embodied agents that perceive and act in physical environments. Key research areas: (1) Vision-language-action models - models that take visual observations and language instructions as input, output robot actions. Examples: RT-1, RT-2 using vision Transformers with action tokens. (2) Sim-to-real transfer - training in simulation (cheap, safe, scalable) then deploying in real world. Domain randomization, domain adaptation techniques bridge the sim-real gap. (3) Interactive learning - robots learning from human feedback, demonstrations, corrections. (4) Multi-task learning - single model handling diverse manipulation tasks rather than task-specific policies. (5) Long-horizon planning - decomposing high-level goals ('clean the kitchen') into subtasks and low-level actions. Challenges: Sample efficiency (real-world data is expensive), safety (robots can cause damage), generalization to new environments and objects, real-time inference constraints.</a:t>
            </a:r>
          </a:p>
          <a:p>
            <a:pPr>
              <a:lnSpc>
                <a:spcPct val="120000"/>
              </a:lnSpc>
              <a:spcBef>
                <a:spcPts val="900"/>
              </a:spcBef>
              <a:spcAft>
                <a:spcPts val="600"/>
              </a:spcAft>
              <a:defRPr sz="1100">
                <a:solidFill>
                  <a:srgbClr val="333333"/>
                </a:solidFill>
              </a:defRPr>
            </a:pPr>
            <a:r>
              <a:t>Domain-Specific Multimodal Models: Adapting general-purpose models to specialized domains with unique requirements: (1) Medical imaging - combining X-rays, CT, MRI with radiology reports, patient history, genomic data. Models like BiomedCLIP, Med-PaLM specifically trained on medical data with proper de-identification and privacy. Challenges: limited labeled data, need for interpretability and calibration, regulatory approval. (2) Scientific document understanding - parsing papers with text, equations, figures, tables. Models like Galactica, Minerva understand scientific notation, mathematical reasoning. (3) Satellite and remote sensing - combining satellite imagery with geospatial data, temporal data, text descriptions. Applications in agriculture, climate monitoring, disaster response. (4) Manufacturing and industrial - quality control, defect detection with multimodal data from cameras, sensors, process logs. (5) Legal and financial - document analysis combining text, tables, signatures, metadata. Each domain requires specialized data, evaluation metrics, and deployment considerations. Transfer learning from general models helps but domain-specific fine-tuning and data collection remain essential.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