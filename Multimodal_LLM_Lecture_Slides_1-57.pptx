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3: LoRA Fine-Tuning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Motivation: In this exercise, you'll fine-tune CLIP for a custom image classification task using LoRA (Low-Rank Adaptation). Rather than updating all 300M+ parameters in CLIP, LoRA trains only ~0.5M parameters (0.15% of total) by adding low-rank decomposition matrices to attention layers. This demonstrates parameter-efficient fine-tuning - adapting large pre-trained models to new domains with minimal computational cost and memory. You'll use the PEFT library from HuggingFace to apply LoRA, train on a small custom dataset (Food-101 subset), and evaluate performance improvements. Estimated time: 15 minutes training on A100. This exercise prepares you for the homework where you'll perform full-scale fine-tuning.</a:t>
            </a:r>
          </a:p>
          <a:p>
            <a:pPr>
              <a:lnSpc>
                <a:spcPct val="120000"/>
              </a:lnSpc>
              <a:spcBef>
                <a:spcPts val="900"/>
              </a:spcBef>
              <a:spcAft>
                <a:spcPts val="600"/>
              </a:spcAft>
              <a:defRPr sz="1100">
                <a:solidFill>
                  <a:srgbClr val="333333"/>
                </a:solidFill>
              </a:defRPr>
            </a:pPr>
            <a:r>
              <a:t>Setup and Configuration: Install PEFT library: pip install peft. Load base CLIP model: from transformers import CLIPModel, CLIPProcessor; from peft import get_peft_model, LoraConfig, TaskType; model = CLIPModel.from_pretrained('openai/clip-vit-base-patch32'). Configure LoRA: config = LoraConfig(r=8, lora_alpha=16, target_modules=['q_proj', 'v_proj'], lora_dropout=0.1, bias='none', task_type=TaskType.FEATURE_EXTRACTION). The rank r=8 means each weight update is decomposed into two 8-dimensional matrices. lora_alpha=16 controls update magnitude. We apply LoRA only to query and value projections in attention layers. Wrap model: model = get_peft_model(model, config). Check trainable parameters: model.print_trainable_parameters() shows ~0.5M trainable out of 151M total.</a:t>
            </a:r>
          </a:p>
          <a:p>
            <a:pPr>
              <a:lnSpc>
                <a:spcPct val="120000"/>
              </a:lnSpc>
              <a:spcBef>
                <a:spcPts val="900"/>
              </a:spcBef>
              <a:spcAft>
                <a:spcPts val="600"/>
              </a:spcAft>
              <a:defRPr sz="1100">
                <a:solidFill>
                  <a:srgbClr val="333333"/>
                </a:solidFill>
              </a:defRPr>
            </a:pPr>
            <a:r>
              <a:t>Training Loop Implementation: Prepare data: Use Food-101 subset with 10 classes, 100 images per class. Create DataLoader with batch_size=32. For each batch: (1) Process inputs: inputs = processor(text=text_labels, images=images, return_tensors='pt', padding=True). (2) Forward pass: outputs = model(**inputs); logits = outputs.logits_per_image. (3) Compute loss: loss = F.cross_entropy(logits, labels). (4) Backward and optimize: loss.backward(); optimizer.step(); optimizer.zero_grad(). Use AdamW optimizer with lr=1e-4, train for 5 epochs. Monitor training loss and validation accuracy. With LoRA, training is fast - approximately 2 minutes per epoch on A100. Without LoRA (full fine-tuning), it would take 10x longer and require 3x more memory. This efficiency enables rapid experimentation and iteration.</a:t>
            </a:r>
          </a:p>
          <a:p>
            <a:pPr>
              <a:lnSpc>
                <a:spcPct val="120000"/>
              </a:lnSpc>
              <a:spcBef>
                <a:spcPts val="900"/>
              </a:spcBef>
              <a:spcAft>
                <a:spcPts val="600"/>
              </a:spcAft>
              <a:defRPr sz="1100">
                <a:solidFill>
                  <a:srgbClr val="333333"/>
                </a:solidFill>
              </a:defRPr>
            </a:pPr>
            <a:r>
              <a:t>Evaluation and Analysis: After training, evaluate on held-out test set. Compare three conditions: (1) Zero-shot CLIP (no fine-tuning) - baseline performance using generic food prompts. (2) LoRA fine-tuned CLIP - your trained model. (3) If time permits, full fine-tuning (update all parameters) for comparison. Metrics: accuracy, per-class precision/recall, confusion matrix. Expected results: zero-shot ~60-70%, LoRA fine-tuned ~85-90%, full fine-tuning ~88-92%. Key observations: LoRA achieves within 2-3% of full fine-tuning while training only 0.15% of parameters. Discussion questions: (1) Which food categories improved most with fine-tuning? Why? (2) Does LoRA preserve zero-shot capabilities on non-food images? (3) How does rank r affect performance and training speed? (4) When would you choose LoRA vs. full fine-tuning? This hands-on experience demonstrates that effective adaptation doesn't require massive computational resources - thoughtful methods like LoRA democratize fine-tuning large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Homework Assignment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Assignment Structure and Objectives: The homework assignment consists of three progressive exercises that deepen your understanding of multimodal model fine-tuning. Each exercise involves training a model on a specific task, evaluating performance, analyzing results, and documenting findings. Total estimated time: 8-12 hours over one week. Deliverables: (1) Jupyter notebook with complete code, outputs, and analysis. (2) Written report (3-5 pages) discussing methodology, results, insights, and answers to discussion questions. (3) Trained model checkpoints uploaded to your scratch directory. Due date: One week from today. You may work individually or in pairs (specify collaborators). The assignment tests your ability to: implement fine-tuning pipelines, debug training issues, interpret evaluation metrics, and critically analyze model behavior.</a:t>
            </a:r>
          </a:p>
          <a:p>
            <a:pPr>
              <a:lnSpc>
                <a:spcPct val="120000"/>
              </a:lnSpc>
              <a:spcBef>
                <a:spcPts val="900"/>
              </a:spcBef>
              <a:spcAft>
                <a:spcPts val="600"/>
              </a:spcAft>
              <a:defRPr sz="1100">
                <a:solidFill>
                  <a:srgbClr val="333333"/>
                </a:solidFill>
              </a:defRPr>
            </a:pPr>
            <a:r>
              <a:t>Exercise 1 - Fine-Tuning CLIP for Domain-Specific Classification: Fine-tune CLIP on Food-101 dataset (101 food categories, 1,000 images per category). Task: Adapt CLIP's vision encoder to improve classification accuracy on food images. Requirements: (1) Implement training pipeline with LoRA (r=8 or 16, your choice). (2) Train for at least 10 epochs with proper train/val split. (3) Implement data augmentation (random crop, flip, color jitter). (4) Track metrics: training/validation loss, accuracy, per-class accuracy. (5) Compare zero-shot baseline vs. fine-tuned performance. (6) Analyze: Which categories improve most? Which remain difficult? Does fine-tuning hurt zero-shot performance on non-food images? Test on ImageNet samples to check. (7) Experiment with at least two LoRA configurations (different ranks, target modules, or learning rates) and compare results. Submit learning curves, confusion matrix, and example predictions.</a:t>
            </a:r>
          </a:p>
          <a:p>
            <a:pPr>
              <a:lnSpc>
                <a:spcPct val="120000"/>
              </a:lnSpc>
              <a:spcBef>
                <a:spcPts val="900"/>
              </a:spcBef>
              <a:spcAft>
                <a:spcPts val="600"/>
              </a:spcAft>
              <a:defRPr sz="1100">
                <a:solidFill>
                  <a:srgbClr val="333333"/>
                </a:solidFill>
              </a:defRPr>
            </a:pPr>
            <a:r>
              <a:t>Exercise 2 - Fine-Tuning BLIP for Image Captioning: Fine-tune BLIP on Flickr30K dataset (31K images with 5 captions each). Task: Improve caption quality through fine-tuning. Requirements: (1) Use BLIP-base model as starting point. (2) Implement caption generation training loop with cross-entropy loss. (3) Use LoRA for efficiency (apply to language model layers). (4) Train for 5 epochs with batch size appropriate for your GPU. (5) Evaluate with BLEU-4, METEOR, and CIDEr metrics using provided evaluation scripts. (6) Generate captions for 20 test images, showing before/after fine-tuning. (7) Analyze: Does fine-tuning produce more detailed captions? More accurate? Do you observe hallucination (describing things not in image)? How do quantitative metrics correlate with qualitative caption quality? (8) Ablation study: Compare training with different LoRA ranks or frozen vs. trainable vision encoder. Document computational costs (training time, memory usage).</a:t>
            </a:r>
          </a:p>
          <a:p>
            <a:pPr>
              <a:lnSpc>
                <a:spcPct val="120000"/>
              </a:lnSpc>
              <a:spcBef>
                <a:spcPts val="900"/>
              </a:spcBef>
              <a:spcAft>
                <a:spcPts val="600"/>
              </a:spcAft>
              <a:defRPr sz="1100">
                <a:solidFill>
                  <a:srgbClr val="333333"/>
                </a:solidFill>
              </a:defRPr>
            </a:pPr>
            <a:r>
              <a:t>Exercise 3 - Fine-Tuning Vision-Language Model for VQA: Fine-tune a vision-language model on VQAv2 dataset subset (10K question-answer pairs). Task: Improve question-answering accuracy. Requirements: (1) Choose BLIP-2 or LLaVA as base model. (2) Implement VQA training: encode image+question, generate answer, compute loss. (3) Use LoRA on language model parameters. (4) Train for 3-5 epochs. (5) Evaluate VQA accuracy on held-out test set. (6) Analyze by question type: yes/no questions, counting, color, object recognition, spatial reasoning. (7) Error analysis: Identify failure modes. Does model fail to see objects? Misunderstand questions? Hallucinate? (8) Discussion: Compare pre-trained vs. fine-tuned performance. What types of questions benefit most from fine-tuning? How much training data is needed for good performance? What are remaining limitations? Written report should synthesize insights across all three exercises, discussing broader lessons about multimodal model adaptation, efficiency of PEFT methods, and practical considerations for real-world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Model Deployment Strategies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Deployment Overview and Considerations: Deploying multimodal models in production requires balancing multiple objectives: inference latency (response time), throughput (requests per second), computational cost (hardware and energy), model size (memory footprint), and accuracy. Different deployment scenarios have different constraints: (1) Interactive applications (chatbots, image search) require low latency (&lt;100ms) and high availability. (2) Batch processing (content moderation, dataset annotation) prioritizes throughput over latency. (3) Edge deployment (mobile apps, robotics) has strict memory and compute constraints. (4) Research and development prioritizes flexibility and experimentation. Key decisions: where to deploy (cloud, on-premise, edge), what hardware (CPU, GPU, TPU, specialized accelerators), what optimizations (quantization, pruning, distillation), and what serving infrastructure (REST API, gRPC, model server frameworks).</a:t>
            </a:r>
          </a:p>
          <a:p>
            <a:pPr>
              <a:lnSpc>
                <a:spcPct val="120000"/>
              </a:lnSpc>
              <a:spcBef>
                <a:spcPts val="900"/>
              </a:spcBef>
              <a:spcAft>
                <a:spcPts val="600"/>
              </a:spcAft>
              <a:defRPr sz="1100">
                <a:solidFill>
                  <a:srgbClr val="333333"/>
                </a:solidFill>
              </a:defRPr>
            </a:pPr>
            <a:r>
              <a:t>Cloud Deployment with Model Serving Frameworks: Cloud deployment provides scalability and flexibility. Popular frameworks: (1) TorchServe - PyTorch's native serving framework supporting batching, multi-model serving, metrics, and A/B testing. Package model as .mar file, deploy with configuration specifying batch size, timeout, workers. Handles HTTP/gRPC requests, load balancing, auto-scaling. (2) TensorFlow Serving - similar for TensorFlow models. (3) Triton Inference Server (NVIDIA) - framework-agnostic, optimized for GPU inference, supports PyTorch, TensorFlow, ONNX. Features: dynamic batching (accumulating requests to maximize GPU utilization), model ensembles, concurrent model execution. (4) Ray Serve - Python-first serving framework with advanced features like multi-model composition, streaming, custom business logic. Deployment workflow: Export model to standard format (TorchScript, ONNX), containerize with Docker, deploy to Kubernetes cluster with horizontal auto-scaling, monitor with Prometheus/Grafana.</a:t>
            </a:r>
          </a:p>
          <a:p>
            <a:pPr>
              <a:lnSpc>
                <a:spcPct val="120000"/>
              </a:lnSpc>
              <a:spcBef>
                <a:spcPts val="900"/>
              </a:spcBef>
              <a:spcAft>
                <a:spcPts val="600"/>
              </a:spcAft>
              <a:defRPr sz="1100">
                <a:solidFill>
                  <a:srgbClr val="333333"/>
                </a:solidFill>
              </a:defRPr>
            </a:pPr>
            <a:r>
              <a:t>Edge Deployment and Mobile Optimization: Deploying on edge devices (smartphones, IoT, robots) requires aggressive optimization. Challenges: limited memory (2-8GB), CPU-only or mobile GPU, battery constraints, intermittent connectivity. Optimization techniques: (1) Quantization - convert FP32 to INT8 or even INT4 using post-training quantization or quantization-aware training. PyTorch Mobile and TensorFlow Lite provide quantization tools. (2) Pruning - remove unimportant weights/neurons, reducing model size and computation. Structured pruning removes entire channels/layers. (3) Knowledge distillation - train smaller student model to mimic larger teacher. For example, distilling CLIP ViT-L to ViT-B or MobileNet backbone. (4) Neural architecture search - finding efficient architectures for target hardware (MobileNets, EfficientNets designed for mobile). (5) Model partitioning - split computation between edge and cloud, processing sensitive data locally while offloading heavy computation. Example: Run CLIP's vision encoder on device, text encoder in cloud for privacy-preserving image search.</a:t>
            </a:r>
          </a:p>
          <a:p>
            <a:pPr>
              <a:lnSpc>
                <a:spcPct val="120000"/>
              </a:lnSpc>
              <a:spcBef>
                <a:spcPts val="900"/>
              </a:spcBef>
              <a:spcAft>
                <a:spcPts val="600"/>
              </a:spcAft>
              <a:defRPr sz="1100">
                <a:solidFill>
                  <a:srgbClr val="333333"/>
                </a:solidFill>
              </a:defRPr>
            </a:pPr>
            <a:r>
              <a:t>Inference Optimization and Best Practices: Optimizations applicable across deployment scenarios: (1) Batching - processing multiple inputs together amortizes overhead and maximizes hardware utilization. Dynamic batching accumulates requests up to timeout or max batch size. Critical for GPU throughput. (2) Model compilation - JIT compilation (TorchScript torch.jit.trace/script) optimizes computation graph. ONNX Runtime provides further optimizations. TensorRT (NVIDIA) aggressively optimizes for specific GPU models. (3) Mixed precision inference - FP16 reduces memory and increases throughput with minimal accuracy loss. (4) Caching - cache embeddings for frequently accessed items (e.g., cache CLIP image embeddings for product catalog). (5) Multi-stage pipelines - for complex workflows, use smaller fast models for filtering before expensive models. (6) Hardware selection - GPUs for throughput-critical applications, CPUs with AVX-512/VNNI for cost-sensitive deployment, TPUs for Google Cloud. Monitoring: Track latency percentiles (p50, p95, p99), throughput, error rates, resource utilization. Set up alerts for degradation. A/B testing for model updates. Gradual rollout to catch issues before full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Production Best Practices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Testing and Validation: Rigorous testing prevents production failures. Testing hierarchy: (1) Unit tests - test individual components (data preprocessing, model forward pass, postprocessing) with fixtures. Use pytest for Python testing. (2) Integration tests - test end-to-end pipeline: input → preprocessing → inference → postprocessing → output. Validate on representative examples covering common cases and edge cases. (3) Regression tests - maintain test suite of examples with expected outputs. Run on every code change to catch regressions. (4) Performance tests - measure latency and throughput under load using tools like Locust or Apache JMeter. Establish performance baselines and SLOs (Service Level Objectives). (5) Shadow deployment - run new model alongside production model, compare outputs, monitor disagreements before switching traffic. (6) A/B testing - gradually roll out new model to subset of users, compare metrics (accuracy, user engagement, business KPIs) before full deployment.</a:t>
            </a:r>
          </a:p>
          <a:p>
            <a:pPr>
              <a:lnSpc>
                <a:spcPct val="120000"/>
              </a:lnSpc>
              <a:spcBef>
                <a:spcPts val="900"/>
              </a:spcBef>
              <a:spcAft>
                <a:spcPts val="600"/>
              </a:spcAft>
              <a:defRPr sz="1100">
                <a:solidFill>
                  <a:srgbClr val="333333"/>
                </a:solidFill>
              </a:defRPr>
            </a:pPr>
            <a:r>
              <a:t>Monitoring and Observability: Comprehensive monitoring enables quick issue detection and diagnosis. Key metrics to track: (1) Latency - p50, p95, p99, p99.9 response times. Set alerts for degradation (e.g., p95 &gt; 200ms). (2) Throughput - requests per second, ensuring capacity matches demand. (3) Error rates - 4xx (client errors), 5xx (server errors), model-specific errors (invalid inputs). (4) Resource utilization - CPU, GPU, memory usage. High utilization may indicate need to scale. (5) Model metrics - prediction confidence distribution, embedding norms, attention pattern statistics. Detect distribution shift. (6) Business metrics - task success rates, user engagement. Infrastructure: Use Prometheus for metrics collection, Grafana for dashboards, alerting systems (PagerDuty, Opsgenie) for on-call. Structured logging with context (request ID, user ID, model version) enables debugging. Distributed tracing (Jaeger, Zipkin) for multi-service calls.</a:t>
            </a:r>
          </a:p>
          <a:p>
            <a:pPr>
              <a:lnSpc>
                <a:spcPct val="120000"/>
              </a:lnSpc>
              <a:spcBef>
                <a:spcPts val="900"/>
              </a:spcBef>
              <a:spcAft>
                <a:spcPts val="600"/>
              </a:spcAft>
              <a:defRPr sz="1100">
                <a:solidFill>
                  <a:srgbClr val="333333"/>
                </a:solidFill>
              </a:defRPr>
            </a:pPr>
            <a:r>
              <a:t>Model Versioning and Reproducibility: Systematic versioning prevents confusion and enables rollback. Version control: (1) Code versioning - Git for all code, including training scripts, preprocessing, evaluation. Tag releases (v1.0, v1.1). (2) Data versioning - DVC (Data Version Control) or similar tools track dataset versions. Critical for reproducibility - 'trained on dataset version X'. (3) Model versioning - semantic versioning (major.minor.patch). Store model weights, configuration, hyperparameters, and training metadata together. Use MLflow, Weights &amp; Biases, or Neptune for experiment tracking. (4) Environment versioning - Docker images with pinned dependency versions ensure consistent execution across development and production. (5) Experiment tracking - log every training run with hyperparameters, metrics, artifacts. Enable comparing experiments and reproducing best models. Model registry - centralized repository (MLflow Model Registry, SageMaker Model Registry) tracks production-ready models with metadata, lineage, and approval workflows.</a:t>
            </a:r>
          </a:p>
          <a:p>
            <a:pPr>
              <a:lnSpc>
                <a:spcPct val="120000"/>
              </a:lnSpc>
              <a:spcBef>
                <a:spcPts val="900"/>
              </a:spcBef>
              <a:spcAft>
                <a:spcPts val="600"/>
              </a:spcAft>
              <a:defRPr sz="1100">
                <a:solidFill>
                  <a:srgbClr val="333333"/>
                </a:solidFill>
              </a:defRPr>
            </a:pPr>
            <a:r>
              <a:t>Documentation and Knowledge Sharing: Good documentation enables maintenance and knowledge transfer. Documentation layers: (1) Code documentation - docstrings for functions/classes explaining inputs, outputs, behavior. Follow Google or NumPy docstring conventions. (2) Model cards - structured documentation template describing model architecture, training data, intended use, limitations, evaluation results, ethical considerations. Essential for responsible AI deployment. (3) API documentation - clear specification of endpoints, input/output formats, error codes, rate limits. Use OpenAPI/Swagger for REST APIs. (4) Deployment documentation - runbooks for deployment procedures, rollback procedures, troubleshooting common issues, on-call playbooks. (5) Architecture documentation - system diagrams showing components, data flow, dependencies. (6) Decision logs - ADRs (Architecture Decision Records) documenting key technical decisions and rationale. Maintenance: Documentation must be living - update with code changes. Automated doc generation (Sphinx, pdoc) from code comments. Regular reviews to keep current. Knowledge sharing: internal tech talks, post-mortems for incidents, onboarding guides for new team members.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