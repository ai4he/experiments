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66733"/>
                </a:solidFill>
              </a:defRPr>
            </a:pPr>
            <a:r>
              <a:t>Multimodal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33333"/>
                </a:solidFill>
              </a:defRPr>
            </a:pPr>
            <a:r>
              <a:t>Applied Data Science - Clemson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Part of Applied Data Science course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Master's program in Computer Science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Prerequisites: Understanding of Transformer architecture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Attention mechanisms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Self-attention and cross-attention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Encoder-decoder architectures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Building on previous lessons on LLMs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Today: Extending to multiple modalities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Understand multimodal learning fundamentals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Master single-modality representations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Learn multimodal fusion strategies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Study state-of-the-art architectures (CLIP, BLIP, LLaVA, etc.)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Understand training from scratch vs. fine-tuning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Gain practical implementation knowledge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Apply concepts on Palmetto cluster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What is Multimodal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Definition: Learning from multiple data modalities simultaneously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Modalities: Different types of data sources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Vision (images, videos)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 (documents, captions)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Audio (speech, sound)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Sensor data, time series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Goal: Build unified representations across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Enable cross-modal understanding and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Why Multimodal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Human perception is inherently multimodal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Richer understanding through multiple perspectives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Applications benefit from combined information: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Visual Question Answering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Image/Video captioning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Text-to-image generation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Embodied AI and robotics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Better generalization and robustness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Alignment between different data types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Historical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Early days: Separate models per modality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2010s: Simple concatenation approaches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2017: Attention mechanisms enable better fusion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2019-2020: BERT + Vision models (ViLBERT, LXMERT)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2021: CLIP revolutionizes vision-language learning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2022-2023: Large-scale multimodal models (Flamingo, GPT-4V)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2023-2024: Open-source alternatives (LLaVA, BLIP-2)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2024+: Any-to-any multimodal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Challenges in Multimodal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Modality gap: Different data distributions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Representation learning: Finding common space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Alignment: Matching corresponding elements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Fusion strategies: How to combine modalities?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 requirements: Need paired/aligned data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Computational cost: Processing multiple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Evaluation: Measuring cross-modal performance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Scalability: Training with massive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Part I: Single Modality Foundations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Single Modality: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Image representation: Pixels arranged in grids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Convolutional Neural Networks (CNNs):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Learn spatial hierarchies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Translation invariance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Vision Transformers (ViT):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Split image into patches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Apply transformer to sequence of patches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Better scalability with data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Feature extraction: CNN backbones or ViT encoders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High-dimensional feature vectors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Vision Transformers (ViT)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Architecture: Pure transformer applied to images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Process: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1. Split image into fixed-size patches (e.g., 16×16)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2. Flatten patches and linearly embed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3. Add positional embeddings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4. Feed through transformer encoder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5. Extract [CLS] token or average pooling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Advantages: Scalable, less inductive bias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Used in: CLIP, BLIP, and most modern models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Single Modality: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Tokenization: Convert text to discrete tokens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Embedding: Map tokens to continuous vectors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Transformers for text: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BERT: Bidirectional encoder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GPT: Autoregressive decoder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T5: Encoder-decoder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Contextual representations capture semantics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Pre-training on large text corpora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Sequence of contextual embeddings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Single Modality: Audio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Raw audio: Waveform representation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Feature extraction: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Mel-spectrograms: Time-frequency representation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MFCCs: Mel-frequency cepstral coefficients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Wav2Vec 2.0: Self-supervised speech representation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Whisper: Robust speech recognition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AudioMAE: Masked autoencoding for audio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Audio embeddings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Single Modality: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Video = Sequence of images + temporal information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Spatial encoding: Per-frame CNN/ViT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Temporal encoding: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3D convolutions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Recurrent networks (LSTM)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Temporal transformers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 Computational cost, long sequences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 TimeSformer, VideoMAE, ViViT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Spatio-temporal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Modality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Each modality has unique characteristics: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Vision: Spatial structure, continuous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Text: Sequential, discrete tokens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Audio: Temporal, continuous waveforms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Goal: Map to common semantic space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Representation learning objectives: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Reconstruction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Contrastive learning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Masked modeling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Enable cross-modal reasoning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Feature Extraction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Raw data in original modality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Preprocessing: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Images: Resize, normalize, augment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Text: Tokenize, add special tokens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Audio: Resample, compute spectrogram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Encoder: Modality-specific neural network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Fixed or variable-length embeddings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Projection: Map to common dimension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Normalization: L2 normalize for similarity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Embedding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Embedding space: High-dimensional vector space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Desirable properties: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Semantic similarity → Vector proximity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Modality invariance: Same concept, same location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Structured relationships preserved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Joint embedding space: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Multiple modalities mapped to same space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Enable cross-modal retrieval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Learned through contrastive objectives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The Alignment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Core challenge: How to align different modalities?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Types of alignment: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Global: Image-caption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Local: Objects-words, regions-phrases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Temporal: Video frames-transcript segments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Contrastive learning (CLIP)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Cross-attention mechanisms (Flamingo)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Q-Former architecture (BLIP-2)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Goal: Bridge the modality gap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Part II: Multimodal Architectures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Overview of Multimodal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Three main paradigms: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1. Dual-encoder (CLIP, ALIGN)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Separate encoders per modality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Joint embedding space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2. Fusion encoder (LXMERT, ViLBERT)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Cross-modal attention layers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Deep interaction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3. Encoder-decoder (BLIP, Flamingo, LLaVA)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Visual encoder + Language model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Generation capabilities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Early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Combine raw features at input level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Concatenate or sum modality features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Process jointly through unified network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Maximum interaction between modalities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Simple architecture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Disadvantages: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Difficult to leverage pre-trained models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Modality-specific preprocessing challenging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Less flexible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Late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Process each modality independently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Combine at decision/output level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Examples: Ensemble approaches, voting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Easy to use pre-trained models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Modular design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Can train modalities separately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Disadvantages: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Limited cross-modal interaction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May miss complex relationships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Hybrid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Combine early and late fusion benefits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Multi-stage interaction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Example: Cross-attention at multiple layers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Flexible architecture design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Can leverage pre-trained components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Rich cross-modal interaction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Most modern architectures use hybrid approach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Examples: BLIP-2, Flamingo, LLaVA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Cross-Attention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Key technique for multimodal fusion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Standard attention: Q, K, V from same sequence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Cross-attention: Q from one modality, K,V from another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Example: Text queries vision features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Q = text embeddings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K, V = image patch features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Bidirectional cross-attention for deep fusion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Used in: Flamingo, BLIP, Q-Former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CLIP: Contrastive Language-Image Pre-training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Dual-encoder architecture (OpenAI, 2021)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Components: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 encoder: ViT or ResNet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 encoder: Transformer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Project to same dimension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Training: Contrastive learning on 400M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Zero-shot capabilities: Natural language supervision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Applications: Image classification, retrieval, generation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CLIP Training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Contrastive loss on batch of N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Maximize similarity of correct (image, text)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Minimize similarity of incorrect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Loss: InfoNCE (normalized temperature-scaled cross entropy)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Math: L = -log(exp(sim(I,T)/τ) / Σ exp(sim(I,T')/τ))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Symmetric: Both image→text and text→image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Temperature τ: Learned parameter for scaling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Result: Aligned vision-language space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ALIGN: A Large-scale ImaGe and Noisy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Similar to CLIP but different training data (Google, 2021)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Key difference: Uses noisy web data (1.8B pairs)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No careful curation of alt-text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Components: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EfficientNet for images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BERT for text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Same contrastive objective as CLIP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Insight: Scale and diversity &gt; data quality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Achieves comparable or better 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BLIP: Bootstrapping Language-Image Pre-training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Encoder-decoder architecture (Salesforce, 2022)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Three components: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1. Image encoder: ViT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2. Text encoder: BERT-like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3. Text decoder: GPT-like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Multi-task learning: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Image-text contrastive learning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Image-text matching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Image-conditioned language modeling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CapFilt: Bootstrapping with synthetic captions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BLIP-2: Querying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Efficient architecture (Salesforce, 2023)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Key innovation: Q-Former (Querying Transformer)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Lightweight module between frozen encoders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Learnable query tokens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Cross-attention to vision features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Two-stage training: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Stage 1: Vision-language representation learning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Stage 2: Vision-to-language generative learning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Uses frozen ViT and frozen LLM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Much more parameter-efficient than BLIP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Flamingo: Visual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Few-shot learning VLM (DeepMind, 2022)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Architecture: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Vision encoder: Frozen pre-trained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Perceiver resampler: Compress visual features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LLM: Frozen pre-trained (70B Chinchilla)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Cross-attention layers: Gated XATTN-DENSE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Interleaved image-text input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In-context learning: Few-shot prompting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Powerful few-shot visual understanding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GPT-4V: Multimodal GPT-4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Proprietary multimodal model (OpenAI, 2023)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Accepts both images and text as input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Architecture details not fully disclosed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Likely components: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Vision encoder: Enhanced CLIP-like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Large language model: GPT-4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Sophisticated fusion mechanism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Capabilities: VQA, OCR, reasoning, code generation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State-of-the-art performance on benchmarks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LLaVA: Large Language and Vision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Open-source VLM (Liu et al., 2023)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Simple and effective architecture: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Vision encoder: CLIP ViT-L/14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Projection layer: Linear or MLP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LLM: Vicuna (LLaMA-based)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Training data: GPT-4 generated instructions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Two-stage training: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Pre-training: Projection layer only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Fine-tuning: Full model or LoRA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Excellent performance with modest compute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LLaVA 1.5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Enhanced version (2023)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Improvements: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MLP projection layer: 2-layer vs 1-layer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Higher resolution: 336×336 instead of 224×224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Better instruction data: More diverse tasks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Academic task data: VQA, OCR, reasoning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Unified training recipe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Near GPT-4V performance on some tasks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Efficient: Can fine-tune on single GPU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Gemini: Google's Multimodal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Native multimodal model (Google, 2023)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Three sizes: Nano, Pro, Ultra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Key feature: Natively multimodal from scratch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Not adapting separate pre-trained models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Joint training on all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Capabilities: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Image, video, audio, text understanding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Long context: Up to 1M tokens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Complex reasoning across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State-of-the-art on many benchmarks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Any-to-Any Multimodal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Next generation: Unified models for all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NExT-GPT: Any-to-any generation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CoDi: Composable diffusion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Unified-IO 2: Single model, any task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Capabilities: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 → Image, Audio, Video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 → Text, Audio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Any modality → Any modality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 Training complexity, data requirements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Unified Multimodal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Goal: Single model handling all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Approaches: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Tokenize all modalities (Unified-IO)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Shared encoder-decoder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Modality-specific adapters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Benefits: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Simplified deployment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Cross-modal transfer learning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More efficient inference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Research direction: Foundation models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Architecture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CLIP: Fast, dual-encoder, zero-shot classification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BLIP: Versatile, generation + understanding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BLIP-2: Efficient, frozen components, Q-Former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Flamingo: Few-shot, interleaved input, large-scale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LLaVA: Open-source, instruction-tuned, accessible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GPT-4V: State-of-the-art, proprietary, expensive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Selection criteria: Task, compute, data, performance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Design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1. Leverage pre-trained models when possible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2. Freeze large components to reduce compute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3. Use efficient fusion mechanisms (Q-Former, projectors)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4. Multi-task learning for better generalization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5. High-quality instruction data crucial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6. Balance model size vs. performance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7. Consider inference efficiency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8. Open-source enables research and applications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Part III: Training Strategies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Training from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When to train from scratch?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Novel architectures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Unique data distribution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Proprietary requirements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Massive data requirements (millions of pairs)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Extensive compute (thousands of GPU hours)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Careful hyperparameter tuning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Alternative: Fine-tune pre-trained models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Most practitioners: Fine-tuning approach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Data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Scale: Modern models trained on millions/billions of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Types of data: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Image-caption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Interleaved image-text documents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Video-subtitle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Question-answer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 quality vs. quantity: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CLIP: Curated 400M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ALIGN: Noisy 1.8B pairs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Diversity crucial for generalization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Key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Image-Text: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COCO: 330K images with captions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Visual Genome: 108K images with dense annotations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Conceptual Captions: 3.3M image-caption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LAION-400M/5B: Large-scale web data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VQA: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VQAv2: 1.1M questions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GQA: 22M questions with scene graphs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Video: WebVid, HowTo100M, YT-Temporal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Pre-training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1. Contrastive Learning: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Align positive pairs, separate negative pairs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InfoNCE loss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2. Masked Language/Image Modeling: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Mask tokens/patches, predict them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Learn contextualized representations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3. Image-Text Matching: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Binary classification: match or not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Cross-modal alignment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4. Generative objectives: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Caption generation, image generation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Contrastive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Core idea: Similar items close, dissimilar far apart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For multimodal: Match corresponding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Positive pairs: (image, caption) from same example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Negative pairs: All other combinations in batch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Loss function: InfoNCE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Numerator: Similarity of positive pair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Denominator: Sum of all pair similarities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Temperature scaling: Control distribution sharpness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Effective for learning aligned embeddings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Masked Language/Image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Masked Language Modeling (MLM):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Mask random tokens in text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Predict masked tokens from context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Used in BERT, VilBERT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Masked Image Modeling (MIM):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Mask random patches in image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Reconstruct masked patches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Used in MAE, SimMIM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Multimodal: Mask in both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Learn robust cross-modal representations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Image-Text Matching (ITM)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Binary classification task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Image and text pair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Match (1) or not match (0)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Requires cross-modal interaction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Usually through cross-attention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Negative sampling strategies: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Random negatives from batch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Hard negatives: Similar but wrong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Used alongside contrastive learning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Improves fine-grained alignment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Training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Large batch sizes needed for contrastive learning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Gradient explosion/vanishing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Modality imbalance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Gradient clipping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Layer normalization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Warm-up learning rate schedule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Mixed precision training (FP16/BF16)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Careful initialization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Monitor: Loss curves, gradient norms, representations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Computational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Training large multimodal models is expensive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CLIP: 592 V100 GPUs, 12 days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Flamingo: TPUv4 pods, weeks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LLaVA: 8 A100 GPUs, ~1 day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Factors affecting cost: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Model size, batch size, data size, resolution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Strategies to reduce cost: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Freeze components, efficient architectures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Lower resolution during pre-training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Use smaller models for research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Distributed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Essential for large-scale training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Strategies: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Data parallelism: Split data across GPUs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Model parallelism: Split model across GPUs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Pipeline parallelism: Split layers across GPUs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Tensor parallelism: Split tensors across GPUs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Frameworks: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PyTorch DDP, FSDP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DeepSpeed, Megatron-LM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Communication overhead: Critical bottleneck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1. Data preparation: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Collect and clean data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Create train/val/test splits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2. Preprocessing: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Tokenization, image resizing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Augmentation strategies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3. Model initialization: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Load pre-trained weights if available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4. Training loop: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Forward pass, loss computation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Backward pass, optimizer step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5. Evaluation and checkpointing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Evaluation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Image-Text Retrieval: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Recall@K, Mean Rank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VQA: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Accuracy, VQA score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Image Captioning: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BLEU, METEOR, CIDEr, SPICE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Zero-shot Classification: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Top-1/Top-5 accuracy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General: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Cross-modal similarity scores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Human evaluation for generation tasks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Key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Classification: ImageNet, CIFAR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VQA: VQAv2, GQA, OK-VQA, VizWiz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Captioning: COCO Captions, NoCaps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Retrieval: COCO, Flickr30K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Reasoning: NLVR2, CLEVR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OCR: TextVQA, DocVQA, Infographics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Video: MSRVTT, ActivityNet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Comprehensive: MMBench, SEED-Bench, MM-Vet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Part IV: Fine-tuning Strategies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Fine-tuning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Most practical approach for practitioners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Start with pre-trained multimodal model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Adapt to specific task or domain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Less data required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Less compute required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Faster convergence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Better performance on downstream tasks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Types: Full fine-tuning vs. parameter-efficient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Transfer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Leverage knowledge from pre-training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Pre-trained model already understands: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Visual concepts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Language semantics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Cross-modal alignment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Fine-tuning teaches: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Task-specific patterns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Domain-specific knowledge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Output format requirements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Critical: Choose appropriate base model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Parameter-Efficient Fine-tuning (PEFT)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Goal: Fine-tune with minimal trainable parameters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Why PEFT?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Large models too expensive to fully fine-tune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Reduced memory requirements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Faster training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Easier deployment (store only adapter weights)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Methods: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LoRA, Adapters, Prompt tuning, Prefix tuning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Often achieves comparable performance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LoRA: Low-Rank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Key idea: Learn low-rank updates to weight matrices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W_new = W_frozen + B × 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W_frozen: Original pre-trained weights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B, A: Low-rank matrices (rank r &lt;&lt; d)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Only train B and A (1-2% of parameters)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Apply to: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Attention projection matrices (Q, K, V)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Feed-forward layers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Works well for LLM component in VLMs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Implementation: PEFT library by HuggingFace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Adapter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Small bottleneck layers inserted in network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Structure: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Down-projection: d → r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Non-linearity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Up-projection: r → 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Residual connection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Inserted after attention and FFN layers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Only adapters are trained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Slightly more parameters than LoRA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Good for vision encoders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Prompt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Learn soft prompts: Continuous embeddings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Prepend learnable tokens to input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Visual prompt tuning: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Learn perturbations to input image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Or learn visual prefix tokens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Text prompt tuning: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Learn continuous prompt embeddings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Extremely parameter-efficient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 May need more careful tuning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Good for: Few-shot learning scenarios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Instruction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Fine-tune on instruction-following data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Format: (Instruction, Input, Output) triples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Instruction: 'Describe the image in detail'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Input: [Image]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Output: 'A photo of...'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Benefits: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Better instruction following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More natural interactions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Improved zero-shot generalization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Used in: LLaVA, InstructBLIP, Otter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Task-Specific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Adapt to specific downstream tasks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VQA: Fine-tune on VQAv2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Captioning: Fine-tune on COCO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Medical imaging: Fine-tune on medical data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Task-specific head may be added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Data: 1K-100K task-specific examples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Often use full fine-tuning or LoRA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Evaluation on task benchmark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Domain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Adapt to specific domain: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Medical images and reports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Scientific figures and papers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E-commerce products and descriptions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Remote sensing imagery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Domain shift from pre-training data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Specialized terminology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Continue pre-training on domain data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Task-specific fine-tuning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Domain-specific vocabularies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Fine-tuning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1. Start with appropriate pre-trained model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2. Use lower learning rate than pre-training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3. Freeze vision encoder initially (if needed)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4. Use LoRA for large models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5. Monitor validation performance carefully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6. Prevent overfitting: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Early stopping, regularization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7. Data augmentation for small datasets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8. Gradient accumulation for larger batch sizes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Part V: Implementation &amp; Applications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Implementation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HuggingFace Transformers: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Pre-trained models: CLIP, BLIP, LLaVA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Easy fine-tuning with Trainer API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PEFT library for LoRA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PyTorch: Low-level flexibility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JAX/Flax: XLA compilation, TPU support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LangChain: Integration with applications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OpenCLIP: Open-source CLIP training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LLaVA codebase: Instruction tuning pipeline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GPU memory critical bottleneck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 size considerations: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CLIP ViT-B: ~400MB, inference on any GPU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BLIP-2: ~4GB, fine-tune on 16GB+ GPU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LLaVA-7B: ~14GB, fine-tune on 24GB+ GPU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LLaVA-13B: ~26GB, need 40GB+ GPU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Techniques to reduce memory: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8-bit quantization, gradient checkpointing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LoRA reduces memory by 2-3x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Palmetto: A100 (40/80GB), H100 available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Palmetto Cluster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Clemson's HPC cluster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GPU nodes: V100, A100, H100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Setup steps: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1. Request GPU node: qsub -I -l select=1:ngpus=1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2. Load modules: CUDA, conda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3. Create environment: conda create -n multimodal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4. Install packages: transformers, torch, peft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Storage: /scratch for datasets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Jupyter notebooks available via OnDemand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See lab notebook for detailed setup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Loading Pre-trained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HuggingFace example: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from transformers import CLIPModel, CLIPProcessor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 = CLIPModel.from_pretrained('openai/clip-vit-base-patch32')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processor = CLIPProcessor.from_pretrained('openai/clip-vit-base-patch32')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For BLIP-2: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from transformers import Blip2Processor, Blip2ForConditionalGeneration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processor = Blip2Processor.from_pretrained('Salesforce/blip2-opt-2.7b')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 = Blip2ForConditionalGeneration.from_pretrained('Salesforce/blip2-opt-2.7b')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Move to GPU: model.to('cuda')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Inference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CLIP zero-shot classification: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from PIL import Image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image = Image.open('photo.jpg')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text = ['a photo of a cat', 'a photo of a dog']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inputs = processor(text=text, images=image, return_tensors='pt', padding=True)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outputs = model(**inputs)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logits_per_image = outputs.logits_per_image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probs = logits_per_image.softmax(dim=1)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See lab notebook for BLIP captioning, LLaVA VQA examples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Fine-tuning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Using HuggingFace Trainer: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from transformers import Trainer, TrainingArguments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from peft import get_peft_model, LoraConfig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lora_config = LoraConfig(r=8, lora_alpha=16, target_modules=['q_proj', 'v_proj'])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 = get_peft_model(model, lora_config)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training_args = TrainingArguments(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    output_dir='./results', num_train_epochs=3,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    per_device_train_batch_size=4, learning_rate=2e-5)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trainer = Trainer(model=model, args=training_args, train_dataset=dataset)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trainer.train()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Application: Visual Question 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Task: Answer questions about images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Image + Question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Answer (text)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 BLIP-2, LLaVA, InstructBLIP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Accessibility for visually impaired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Content moderation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Educational tools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Image search and retrieval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Datasets: VQAv2, GQA, OK-VQA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Application: Image Captioning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Task: Generate textual description of images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Image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Caption (text)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 BLIP, BLIP-2, GIT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Alt-text generation for web accessibility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Photo organization and search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Social media content creation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Medical report generation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Evaluation: BLEU, CIDEr, SPICE metrics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Application: Text-to-Image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Task: Generate images from text descriptions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Text prompt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Image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 DALL-E, Stable Diffusion, Imagen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Architecture: Diffusion models with text conditioning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Text encoder: CLIP or T5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Diffusion model: U-Net with cross-attention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Creative content generation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Design and prototyping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Data augmentation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Application: Video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Task: Understand and reason about video content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Input: Video (sequence of frames + audio)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Output: Caption, answer, action recognition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Models: VideoMAE, TimeSformer, Video-LLaMA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Temporal modeling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Long sequences (memory)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Multi-modal fusion (visual + audio + text)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Applications: Surveillance, sports analysis, education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Challenges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Hallucination: Generating false information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Robustness: Sensitive to input variations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Bias: Reflecting dataset biases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Computational cost: Training and inference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 requirements: Need for large paired datasets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Interpretability: Understanding model decisions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Safety: Potential for misuse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Evaluation: Measuring true understanding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Scaling: Larger models, more data, more modalities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Efficiency: Smaller models with better performance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Grounding: Connecting to physical world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Reasoning: Better logical and causal reasoning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Embodied AI: Integration with robotics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Multilinguality: Support for more languages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Scientific applications: Discovery and analysis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Democratization: Making models more accessible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Multimodal learning enables richer AI understanding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Modern architectures leverage pre-trained components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Contrastive learning is key for alignment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Fine-tuning is practical approach for most applications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Parameter-efficient methods (LoRA) make fine-tuning accessible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Many open-source models available (CLIP, BLIP, LLaVA)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Applications span from VQA to text-to-image generation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Exciting field with rapid progress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22D80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Papers: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CLIP, BLIP-2, LLaVA, Flamingo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Code: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HuggingFace Transformers, PEFT library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OpenCLIP, LLaVA GitHub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Datasets: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COCO, Visual Genome, LAION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Tutorials: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HuggingFace documentation</a:t>
            </a:r>
          </a:p>
          <a:p>
            <a:pPr lvl="1"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Papers with Code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Next: Lab session with hands-on implementation!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66733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