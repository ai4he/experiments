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p>
          <a:p>
            <a:pPr>
              <a:lnSpc>
                <a:spcPct val="125000"/>
              </a:lnSpc>
              <a:spcBef>
                <a:spcPts val="800"/>
              </a:spcBef>
              <a:defRPr sz="1200">
                <a:solidFill>
                  <a:srgbClr val="333333"/>
                </a:solidFill>
              </a:defRPr>
            </a:pPr>
            <a:r>
              <a:t>This lecture introduces Multimodal Large Language Models as taught in the Applied Data Science course at Clemson University. Building on your existing knowledge of Transformer architectures and single-modality language models, we extend these concepts to systems that process multiple data types simultaneously. The diagram illustrates how different modalities (vision, text, audio, video) are mapped into a unified embedding space, enabling cross-modal understanding and generation.</a:t>
            </a:r>
          </a:p>
        </p:txBody>
      </p:sp>
      <p:sp>
        <p:nvSpPr>
          <p:cNvPr id="3" name="TextBox 2"/>
          <p:cNvSpPr txBox="1"/>
          <p:nvPr/>
        </p:nvSpPr>
        <p:spPr>
          <a:xfrm>
            <a:off x="457200" y="3383280"/>
            <a:ext cx="8229600" cy="731520"/>
          </a:xfrm>
          <a:prstGeom prst="rect">
            <a:avLst/>
          </a:prstGeom>
          <a:noFill/>
        </p:spPr>
        <p:txBody>
          <a:bodyPr wrap="none">
            <a:spAutoFit/>
          </a:bodyPr>
          <a:lstStyle/>
          <a:p>
            <a:pPr algn="ctr">
              <a:defRPr sz="2200">
                <a:solidFill>
                  <a:srgbClr val="333333"/>
                </a:solidFill>
              </a:defRPr>
            </a:pPr>
            <a:r>
              <a:t>Applied Data Science - Clemson University</a:t>
            </a:r>
          </a:p>
        </p:txBody>
      </p:sp>
      <p:pic>
        <p:nvPicPr>
          <p:cNvPr id="4" name="Picture 3" descr="image.png"/>
          <p:cNvPicPr>
            <a:picLocks noChangeAspect="1"/>
          </p:cNvPicPr>
          <p:nvPr/>
        </p:nvPicPr>
        <p:blipFill>
          <a:blip r:embed="rId2"/>
          <a:stretch>
            <a:fillRect/>
          </a:stretch>
        </p:blipFill>
        <p:spPr>
          <a:xfrm>
            <a:off x="2743200" y="4389120"/>
            <a:ext cx="3657600" cy="21785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Course Context</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p>
          <a:p>
            <a:pPr>
              <a:lnSpc>
                <a:spcPct val="125000"/>
              </a:lnSpc>
              <a:spcBef>
                <a:spcPts val="800"/>
              </a:spcBef>
              <a:defRPr sz="1200">
                <a:solidFill>
                  <a:srgbClr val="333333"/>
                </a:solidFill>
              </a:defRPr>
            </a:pPr>
            <a:r>
              <a:t>This course builds upon your understanding of Transformer architectures from previous lessons. You've already studied attention mechanisms, self-attention, cross-attention, and encoder-decoder frameworks. Now we extend these concepts to multimodal settings where models must process and align multiple heterogeneous data types. The transition from single-modality LLMs to multimodal models represents a paradigm shift in AI, enabling systems that can see, read, hear, and understand the relationships between different forms of information. This lecture provides the theoretical foundations and practical skills needed to work with state-of-the-art multimodal models.</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Learning Objectives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Understand multimodal learning fundamentals</a:t>
            </a:r>
          </a:p>
          <a:p>
            <a:pPr>
              <a:spcBef>
                <a:spcPts val="500"/>
              </a:spcBef>
              <a:defRPr sz="1500">
                <a:solidFill>
                  <a:srgbClr val="333333"/>
                </a:solidFill>
              </a:defRPr>
            </a:pPr>
            <a:r>
              <a:t>Master single-modality representations</a:t>
            </a:r>
          </a:p>
          <a:p>
            <a:pPr>
              <a:spcBef>
                <a:spcPts val="500"/>
              </a:spcBef>
              <a:defRPr sz="1500">
                <a:solidFill>
                  <a:srgbClr val="333333"/>
                </a:solidFill>
              </a:defRPr>
            </a:pPr>
            <a:r>
              <a:t>Learn multimodal fusion strategies</a:t>
            </a:r>
          </a:p>
          <a:p>
            <a:pPr>
              <a:spcBef>
                <a:spcPts val="500"/>
              </a:spcBef>
              <a:defRPr sz="1500">
                <a:solidFill>
                  <a:srgbClr val="333333"/>
                </a:solidFill>
              </a:defRPr>
            </a:pPr>
            <a:r>
              <a:t>Study state-of-the-art architectures</a:t>
            </a:r>
          </a:p>
          <a:p>
            <a:pPr>
              <a:spcBef>
                <a:spcPts val="500"/>
              </a:spcBef>
              <a:defRPr sz="1500">
                <a:solidFill>
                  <a:srgbClr val="333333"/>
                </a:solidFill>
              </a:defRPr>
            </a:pPr>
            <a:r>
              <a:t>Understand training vs. fine-tuning</a:t>
            </a:r>
          </a:p>
          <a:p>
            <a:pPr>
              <a:spcBef>
                <a:spcPts val="500"/>
              </a:spcBef>
              <a:defRPr sz="1500">
                <a:solidFill>
                  <a:srgbClr val="333333"/>
                </a:solidFill>
              </a:defRPr>
            </a:pPr>
            <a:r>
              <a:t>Apply on Palmetto cluster</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What is Multimodal Learning?</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Learning from multiple data modalities simultaneously</a:t>
            </a:r>
          </a:p>
          <a:p>
            <a:pPr>
              <a:spcBef>
                <a:spcPts val="500"/>
              </a:spcBef>
              <a:defRPr sz="1500">
                <a:solidFill>
                  <a:srgbClr val="333333"/>
                </a:solidFill>
              </a:defRPr>
            </a:pPr>
            <a:r>
              <a:t>Modalities: Different types of data sources</a:t>
            </a:r>
          </a:p>
          <a:p>
            <a:pPr lvl="1">
              <a:spcBef>
                <a:spcPts val="500"/>
              </a:spcBef>
              <a:defRPr sz="1300">
                <a:solidFill>
                  <a:srgbClr val="333333"/>
                </a:solidFill>
              </a:defRPr>
            </a:pPr>
            <a:r>
              <a:t>Vision (images, videos)</a:t>
            </a:r>
          </a:p>
          <a:p>
            <a:pPr lvl="1">
              <a:spcBef>
                <a:spcPts val="500"/>
              </a:spcBef>
              <a:defRPr sz="1300">
                <a:solidFill>
                  <a:srgbClr val="333333"/>
                </a:solidFill>
              </a:defRPr>
            </a:pPr>
            <a:r>
              <a:t>Text (documents, captions)</a:t>
            </a:r>
          </a:p>
          <a:p>
            <a:pPr lvl="1">
              <a:spcBef>
                <a:spcPts val="500"/>
              </a:spcBef>
              <a:defRPr sz="1300">
                <a:solidFill>
                  <a:srgbClr val="333333"/>
                </a:solidFill>
              </a:defRPr>
            </a:pPr>
            <a:r>
              <a:t>Audio (speech, sound)</a:t>
            </a:r>
          </a:p>
          <a:p>
            <a:pPr>
              <a:spcBef>
                <a:spcPts val="500"/>
              </a:spcBef>
              <a:defRPr sz="1500">
                <a:solidFill>
                  <a:srgbClr val="333333"/>
                </a:solidFill>
              </a:defRPr>
            </a:pPr>
            <a:r>
              <a:t>Goal: Build unified representations</a:t>
            </a:r>
          </a:p>
          <a:p>
            <a:pPr>
              <a:spcBef>
                <a:spcPts val="500"/>
              </a:spcBef>
              <a:defRPr sz="1500">
                <a:solidFill>
                  <a:srgbClr val="333333"/>
                </a:solidFill>
              </a:defRPr>
            </a:pPr>
            <a:r>
              <a:t>Enable cross-modal understanding</a:t>
            </a:r>
          </a:p>
        </p:txBody>
      </p:sp>
      <p:pic>
        <p:nvPicPr>
          <p:cNvPr id="4" name="Picture 3" descr="image.png"/>
          <p:cNvPicPr>
            <a:picLocks noChangeAspect="1"/>
          </p:cNvPicPr>
          <p:nvPr/>
        </p:nvPicPr>
        <p:blipFill>
          <a:blip r:embed="rId2"/>
          <a:stretch>
            <a:fillRect/>
          </a:stretch>
        </p:blipFill>
        <p:spPr>
          <a:xfrm>
            <a:off x="5029200" y="1371600"/>
            <a:ext cx="3840480" cy="228746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Why Multimodal Models?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Human perception is inherently multimodal</a:t>
            </a:r>
          </a:p>
          <a:p>
            <a:pPr>
              <a:spcBef>
                <a:spcPts val="500"/>
              </a:spcBef>
              <a:defRPr sz="1500">
                <a:solidFill>
                  <a:srgbClr val="333333"/>
                </a:solidFill>
              </a:defRPr>
            </a:pPr>
            <a:r>
              <a:t>Richer understanding through multiple perspectives</a:t>
            </a:r>
          </a:p>
          <a:p>
            <a:pPr>
              <a:spcBef>
                <a:spcPts val="500"/>
              </a:spcBef>
              <a:defRPr sz="1500">
                <a:solidFill>
                  <a:srgbClr val="333333"/>
                </a:solidFill>
              </a:defRPr>
            </a:pPr>
            <a:r>
              <a:t>Key applications:</a:t>
            </a:r>
          </a:p>
          <a:p>
            <a:pPr lvl="1">
              <a:spcBef>
                <a:spcPts val="500"/>
              </a:spcBef>
              <a:defRPr sz="1300">
                <a:solidFill>
                  <a:srgbClr val="333333"/>
                </a:solidFill>
              </a:defRPr>
            </a:pPr>
            <a:r>
              <a:t>Visual Question Answering</a:t>
            </a:r>
          </a:p>
          <a:p>
            <a:pPr lvl="1">
              <a:spcBef>
                <a:spcPts val="500"/>
              </a:spcBef>
              <a:defRPr sz="1300">
                <a:solidFill>
                  <a:srgbClr val="333333"/>
                </a:solidFill>
              </a:defRPr>
            </a:pPr>
            <a:r>
              <a:t>Image/Video captioning</a:t>
            </a:r>
          </a:p>
          <a:p>
            <a:pPr lvl="1">
              <a:spcBef>
                <a:spcPts val="500"/>
              </a:spcBef>
              <a:defRPr sz="1300">
                <a:solidFill>
                  <a:srgbClr val="333333"/>
                </a:solidFill>
              </a:defRPr>
            </a:pPr>
            <a:r>
              <a:t>Text-to-image generation</a:t>
            </a:r>
          </a:p>
          <a:p>
            <a:pPr lvl="1">
              <a:spcBef>
                <a:spcPts val="500"/>
              </a:spcBef>
              <a:defRPr sz="1300">
                <a:solidFill>
                  <a:srgbClr val="333333"/>
                </a:solidFill>
              </a:defRPr>
            </a:pPr>
            <a:r>
              <a:t>Embodied AI and robotics</a:t>
            </a:r>
          </a:p>
          <a:p>
            <a:pPr>
              <a:spcBef>
                <a:spcPts val="500"/>
              </a:spcBef>
              <a:defRPr sz="1500">
                <a:solidFill>
                  <a:srgbClr val="333333"/>
                </a:solidFill>
              </a:defRPr>
            </a:pPr>
            <a:r>
              <a:t>Better generalization and robustness</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Historical Context</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2010s: Separate models per modality</a:t>
            </a:r>
          </a:p>
          <a:p>
            <a:pPr>
              <a:spcBef>
                <a:spcPts val="500"/>
              </a:spcBef>
              <a:defRPr sz="1500">
                <a:solidFill>
                  <a:srgbClr val="333333"/>
                </a:solidFill>
              </a:defRPr>
            </a:pPr>
            <a:r>
              <a:t>2017: Attention mechanisms enable fusion</a:t>
            </a:r>
          </a:p>
          <a:p>
            <a:pPr>
              <a:spcBef>
                <a:spcPts val="500"/>
              </a:spcBef>
              <a:defRPr sz="1500">
                <a:solidFill>
                  <a:srgbClr val="333333"/>
                </a:solidFill>
              </a:defRPr>
            </a:pPr>
            <a:r>
              <a:t>2019-2020: BERT + Vision (ViLBERT, LXMERT)</a:t>
            </a:r>
          </a:p>
          <a:p>
            <a:pPr>
              <a:spcBef>
                <a:spcPts val="500"/>
              </a:spcBef>
              <a:defRPr sz="1500">
                <a:solidFill>
                  <a:srgbClr val="333333"/>
                </a:solidFill>
              </a:defRPr>
            </a:pPr>
            <a:r>
              <a:t>2021: CLIP revolutionizes vision-language</a:t>
            </a:r>
          </a:p>
          <a:p>
            <a:pPr>
              <a:spcBef>
                <a:spcPts val="500"/>
              </a:spcBef>
              <a:defRPr sz="1500">
                <a:solidFill>
                  <a:srgbClr val="333333"/>
                </a:solidFill>
              </a:defRPr>
            </a:pPr>
            <a:r>
              <a:t>2022-2023: Large-scale models (Flamingo, GPT-4V)</a:t>
            </a:r>
          </a:p>
          <a:p>
            <a:pPr>
              <a:spcBef>
                <a:spcPts val="500"/>
              </a:spcBef>
              <a:defRPr sz="1500">
                <a:solidFill>
                  <a:srgbClr val="333333"/>
                </a:solidFill>
              </a:defRPr>
            </a:pPr>
            <a:r>
              <a:t>2023-2024: Open-source alternatives (LLaVA, BLIP-2)</a:t>
            </a:r>
          </a:p>
          <a:p>
            <a:pPr>
              <a:spcBef>
                <a:spcPts val="500"/>
              </a:spcBef>
              <a:defRPr sz="1500">
                <a:solidFill>
                  <a:srgbClr val="333333"/>
                </a:solidFill>
              </a:defRPr>
            </a:pPr>
            <a:r>
              <a:t>2024+: Any-to-any multimodal models</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Challenges in Multimodal Learning</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Modality gap: Different data distributions</a:t>
            </a:r>
          </a:p>
          <a:p>
            <a:pPr>
              <a:spcBef>
                <a:spcPts val="500"/>
              </a:spcBef>
              <a:defRPr sz="1500">
                <a:solidFill>
                  <a:srgbClr val="333333"/>
                </a:solidFill>
              </a:defRPr>
            </a:pPr>
            <a:r>
              <a:t>Representation learning: Finding common space</a:t>
            </a:r>
          </a:p>
          <a:p>
            <a:pPr>
              <a:spcBef>
                <a:spcPts val="500"/>
              </a:spcBef>
              <a:defRPr sz="1500">
                <a:solidFill>
                  <a:srgbClr val="333333"/>
                </a:solidFill>
              </a:defRPr>
            </a:pPr>
            <a:r>
              <a:t>Alignment: Matching corresponding elements</a:t>
            </a:r>
          </a:p>
          <a:p>
            <a:pPr>
              <a:spcBef>
                <a:spcPts val="500"/>
              </a:spcBef>
              <a:defRPr sz="1500">
                <a:solidFill>
                  <a:srgbClr val="333333"/>
                </a:solidFill>
              </a:defRPr>
            </a:pPr>
            <a:r>
              <a:t>Fusion strategies: How to combine?</a:t>
            </a:r>
          </a:p>
          <a:p>
            <a:pPr>
              <a:spcBef>
                <a:spcPts val="500"/>
              </a:spcBef>
              <a:defRPr sz="1500">
                <a:solidFill>
                  <a:srgbClr val="333333"/>
                </a:solidFill>
              </a:defRPr>
            </a:pPr>
            <a:r>
              <a:t>Data requirements: Need paired data</a:t>
            </a:r>
          </a:p>
          <a:p>
            <a:pPr>
              <a:spcBef>
                <a:spcPts val="500"/>
              </a:spcBef>
              <a:defRPr sz="1500">
                <a:solidFill>
                  <a:srgbClr val="333333"/>
                </a:solidFill>
              </a:defRPr>
            </a:pPr>
            <a:r>
              <a:t>Computational cost: Processing multiple modalities</a:t>
            </a:r>
          </a:p>
          <a:p>
            <a:pPr>
              <a:spcBef>
                <a:spcPts val="500"/>
              </a:spcBef>
              <a:defRPr sz="1500">
                <a:solidFill>
                  <a:srgbClr val="333333"/>
                </a:solidFill>
              </a:defRPr>
            </a:pPr>
            <a:r>
              <a:t>Evaluation: Measuring performance</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 Single Modality Foundations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Single Modality: Vision</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Image representation: Pixels in grids</a:t>
            </a:r>
          </a:p>
          <a:p>
            <a:pPr>
              <a:spcBef>
                <a:spcPts val="500"/>
              </a:spcBef>
              <a:defRPr sz="1500">
                <a:solidFill>
                  <a:srgbClr val="333333"/>
                </a:solidFill>
              </a:defRPr>
            </a:pPr>
            <a:r>
              <a:t>Convolutional Neural Networks (CNNs):</a:t>
            </a:r>
          </a:p>
          <a:p>
            <a:pPr lvl="1">
              <a:spcBef>
                <a:spcPts val="500"/>
              </a:spcBef>
              <a:defRPr sz="1300">
                <a:solidFill>
                  <a:srgbClr val="333333"/>
                </a:solidFill>
              </a:defRPr>
            </a:pPr>
            <a:r>
              <a:t>Learn spatial hierarchies</a:t>
            </a:r>
          </a:p>
          <a:p>
            <a:pPr lvl="1">
              <a:spcBef>
                <a:spcPts val="500"/>
              </a:spcBef>
              <a:defRPr sz="1300">
                <a:solidFill>
                  <a:srgbClr val="333333"/>
                </a:solidFill>
              </a:defRPr>
            </a:pPr>
            <a:r>
              <a:t>Translation invariance</a:t>
            </a:r>
          </a:p>
          <a:p>
            <a:pPr>
              <a:spcBef>
                <a:spcPts val="500"/>
              </a:spcBef>
              <a:defRPr sz="1500">
                <a:solidFill>
                  <a:srgbClr val="333333"/>
                </a:solidFill>
              </a:defRPr>
            </a:pPr>
            <a:r>
              <a:t>Vision Transformers (ViT):</a:t>
            </a:r>
          </a:p>
          <a:p>
            <a:pPr lvl="1">
              <a:spcBef>
                <a:spcPts val="500"/>
              </a:spcBef>
              <a:defRPr sz="1300">
                <a:solidFill>
                  <a:srgbClr val="333333"/>
                </a:solidFill>
              </a:defRPr>
            </a:pPr>
            <a:r>
              <a:t>Split image into patches</a:t>
            </a:r>
          </a:p>
          <a:p>
            <a:pPr lvl="1">
              <a:spcBef>
                <a:spcPts val="500"/>
              </a:spcBef>
              <a:defRPr sz="1300">
                <a:solidFill>
                  <a:srgbClr val="333333"/>
                </a:solidFill>
              </a:defRPr>
            </a:pPr>
            <a:r>
              <a:t>Apply transformer to patches</a:t>
            </a:r>
          </a:p>
          <a:p>
            <a:pPr lvl="1">
              <a:spcBef>
                <a:spcPts val="500"/>
              </a:spcBef>
              <a:defRPr sz="1300">
                <a:solidFill>
                  <a:srgbClr val="333333"/>
                </a:solidFill>
              </a:defRPr>
            </a:pPr>
            <a:r>
              <a:t>Better scalability with data</a:t>
            </a:r>
          </a:p>
          <a:p>
            <a:pPr>
              <a:spcBef>
                <a:spcPts val="500"/>
              </a:spcBef>
              <a:defRPr sz="1500">
                <a:solidFill>
                  <a:srgbClr val="333333"/>
                </a:solidFill>
              </a:defRPr>
            </a:pPr>
            <a:r>
              <a:t>Output: High-dimensional feature vectors</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Vision Transformers (ViT)</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Pure transformer applied to images</a:t>
            </a:r>
          </a:p>
          <a:p>
            <a:pPr>
              <a:spcBef>
                <a:spcPts val="500"/>
              </a:spcBef>
              <a:defRPr sz="1500">
                <a:solidFill>
                  <a:srgbClr val="333333"/>
                </a:solidFill>
              </a:defRPr>
            </a:pPr>
            <a:r>
              <a:t>Process:</a:t>
            </a:r>
          </a:p>
          <a:p>
            <a:pPr lvl="1">
              <a:spcBef>
                <a:spcPts val="500"/>
              </a:spcBef>
              <a:defRPr sz="1300">
                <a:solidFill>
                  <a:srgbClr val="333333"/>
                </a:solidFill>
              </a:defRPr>
            </a:pPr>
            <a:r>
              <a:t>1. Split image into 16×16 patches</a:t>
            </a:r>
          </a:p>
          <a:p>
            <a:pPr lvl="1">
              <a:spcBef>
                <a:spcPts val="500"/>
              </a:spcBef>
              <a:defRPr sz="1300">
                <a:solidFill>
                  <a:srgbClr val="333333"/>
                </a:solidFill>
              </a:defRPr>
            </a:pPr>
            <a:r>
              <a:t>2. Flatten and linearly embed</a:t>
            </a:r>
          </a:p>
          <a:p>
            <a:pPr lvl="1">
              <a:spcBef>
                <a:spcPts val="500"/>
              </a:spcBef>
              <a:defRPr sz="1300">
                <a:solidFill>
                  <a:srgbClr val="333333"/>
                </a:solidFill>
              </a:defRPr>
            </a:pPr>
            <a:r>
              <a:t>3. Add positional embeddings</a:t>
            </a:r>
          </a:p>
          <a:p>
            <a:pPr lvl="1">
              <a:spcBef>
                <a:spcPts val="500"/>
              </a:spcBef>
              <a:defRPr sz="1300">
                <a:solidFill>
                  <a:srgbClr val="333333"/>
                </a:solidFill>
              </a:defRPr>
            </a:pPr>
            <a:r>
              <a:t>4. Feed through transformer</a:t>
            </a:r>
          </a:p>
          <a:p>
            <a:pPr lvl="1">
              <a:spcBef>
                <a:spcPts val="500"/>
              </a:spcBef>
              <a:defRPr sz="1300">
                <a:solidFill>
                  <a:srgbClr val="333333"/>
                </a:solidFill>
              </a:defRPr>
            </a:pPr>
            <a:r>
              <a:t>5. Extract [CLS] token</a:t>
            </a:r>
          </a:p>
          <a:p>
            <a:pPr>
              <a:spcBef>
                <a:spcPts val="500"/>
              </a:spcBef>
              <a:defRPr sz="1500">
                <a:solidFill>
                  <a:srgbClr val="333333"/>
                </a:solidFill>
              </a:defRPr>
            </a:pPr>
            <a:r>
              <a:t>Advantages: Scalable, less bias</a:t>
            </a:r>
          </a:p>
          <a:p>
            <a:pPr>
              <a:spcBef>
                <a:spcPts val="500"/>
              </a:spcBef>
              <a:defRPr sz="1500">
                <a:solidFill>
                  <a:srgbClr val="333333"/>
                </a:solidFill>
              </a:defRPr>
            </a:pPr>
            <a:r>
              <a:t>Used in CLIP, BLIP, modern models</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Single Modality: Text</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Tokenization: Convert text to tokens</a:t>
            </a:r>
          </a:p>
          <a:p>
            <a:pPr>
              <a:spcBef>
                <a:spcPts val="500"/>
              </a:spcBef>
              <a:defRPr sz="1500">
                <a:solidFill>
                  <a:srgbClr val="333333"/>
                </a:solidFill>
              </a:defRPr>
            </a:pPr>
            <a:r>
              <a:t>Embedding: Map tokens to vectors</a:t>
            </a:r>
          </a:p>
          <a:p>
            <a:pPr>
              <a:spcBef>
                <a:spcPts val="500"/>
              </a:spcBef>
              <a:defRPr sz="1500">
                <a:solidFill>
                  <a:srgbClr val="333333"/>
                </a:solidFill>
              </a:defRPr>
            </a:pPr>
            <a:r>
              <a:t>Transformers for text:</a:t>
            </a:r>
          </a:p>
          <a:p>
            <a:pPr lvl="1">
              <a:spcBef>
                <a:spcPts val="500"/>
              </a:spcBef>
              <a:defRPr sz="1300">
                <a:solidFill>
                  <a:srgbClr val="333333"/>
                </a:solidFill>
              </a:defRPr>
            </a:pPr>
            <a:r>
              <a:t>BERT: Bidirectional encoder</a:t>
            </a:r>
          </a:p>
          <a:p>
            <a:pPr lvl="1">
              <a:spcBef>
                <a:spcPts val="500"/>
              </a:spcBef>
              <a:defRPr sz="1300">
                <a:solidFill>
                  <a:srgbClr val="333333"/>
                </a:solidFill>
              </a:defRPr>
            </a:pPr>
            <a:r>
              <a:t>GPT: Autoregressive decoder</a:t>
            </a:r>
          </a:p>
          <a:p>
            <a:pPr lvl="1">
              <a:spcBef>
                <a:spcPts val="500"/>
              </a:spcBef>
              <a:defRPr sz="1300">
                <a:solidFill>
                  <a:srgbClr val="333333"/>
                </a:solidFill>
              </a:defRPr>
            </a:pPr>
            <a:r>
              <a:t>T5: Encoder-decoder</a:t>
            </a:r>
          </a:p>
          <a:p>
            <a:pPr>
              <a:spcBef>
                <a:spcPts val="500"/>
              </a:spcBef>
              <a:defRPr sz="1500">
                <a:solidFill>
                  <a:srgbClr val="333333"/>
                </a:solidFill>
              </a:defRPr>
            </a:pPr>
            <a:r>
              <a:t>Contextual representations</a:t>
            </a:r>
          </a:p>
          <a:p>
            <a:pPr>
              <a:spcBef>
                <a:spcPts val="500"/>
              </a:spcBef>
              <a:defRPr sz="1500">
                <a:solidFill>
                  <a:srgbClr val="333333"/>
                </a:solidFill>
              </a:defRPr>
            </a:pPr>
            <a:r>
              <a:t>Pre-training on large text corpora</a:t>
            </a:r>
          </a:p>
          <a:p>
            <a:pPr>
              <a:spcBef>
                <a:spcPts val="500"/>
              </a:spcBef>
              <a:defRPr sz="1500">
                <a:solidFill>
                  <a:srgbClr val="333333"/>
                </a:solidFill>
              </a:defRPr>
            </a:pPr>
            <a:r>
              <a:t>Output: Sequence of embeddings</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Single Modality: Audio</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Raw audio: Waveform representation</a:t>
            </a:r>
          </a:p>
          <a:p>
            <a:pPr>
              <a:spcBef>
                <a:spcPts val="500"/>
              </a:spcBef>
              <a:defRPr sz="1500">
                <a:solidFill>
                  <a:srgbClr val="333333"/>
                </a:solidFill>
              </a:defRPr>
            </a:pPr>
            <a:r>
              <a:t>Feature extraction:</a:t>
            </a:r>
          </a:p>
          <a:p>
            <a:pPr lvl="1">
              <a:spcBef>
                <a:spcPts val="500"/>
              </a:spcBef>
              <a:defRPr sz="1300">
                <a:solidFill>
                  <a:srgbClr val="333333"/>
                </a:solidFill>
              </a:defRPr>
            </a:pPr>
            <a:r>
              <a:t>Mel-spectrograms: Time-frequency</a:t>
            </a:r>
          </a:p>
          <a:p>
            <a:pPr lvl="1">
              <a:spcBef>
                <a:spcPts val="500"/>
              </a:spcBef>
              <a:defRPr sz="1300">
                <a:solidFill>
                  <a:srgbClr val="333333"/>
                </a:solidFill>
              </a:defRPr>
            </a:pPr>
            <a:r>
              <a:t>MFCCs: Cepstral coefficients</a:t>
            </a:r>
          </a:p>
          <a:p>
            <a:pPr>
              <a:spcBef>
                <a:spcPts val="500"/>
              </a:spcBef>
              <a:defRPr sz="1500">
                <a:solidFill>
                  <a:srgbClr val="333333"/>
                </a:solidFill>
              </a:defRPr>
            </a:pPr>
            <a:r>
              <a:t>Models:</a:t>
            </a:r>
          </a:p>
          <a:p>
            <a:pPr lvl="1">
              <a:spcBef>
                <a:spcPts val="500"/>
              </a:spcBef>
              <a:defRPr sz="1300">
                <a:solidFill>
                  <a:srgbClr val="333333"/>
                </a:solidFill>
              </a:defRPr>
            </a:pPr>
            <a:r>
              <a:t>Wav2Vec 2.0: Self-supervised speech</a:t>
            </a:r>
          </a:p>
          <a:p>
            <a:pPr lvl="1">
              <a:spcBef>
                <a:spcPts val="500"/>
              </a:spcBef>
              <a:defRPr sz="1300">
                <a:solidFill>
                  <a:srgbClr val="333333"/>
                </a:solidFill>
              </a:defRPr>
            </a:pPr>
            <a:r>
              <a:t>Whisper: Robust speech recognition</a:t>
            </a:r>
          </a:p>
          <a:p>
            <a:pPr lvl="1">
              <a:spcBef>
                <a:spcPts val="500"/>
              </a:spcBef>
              <a:defRPr sz="1300">
                <a:solidFill>
                  <a:srgbClr val="333333"/>
                </a:solidFill>
              </a:defRPr>
            </a:pPr>
            <a:r>
              <a:t>AudioMAE: Masked autoencoding</a:t>
            </a:r>
          </a:p>
          <a:p>
            <a:pPr>
              <a:spcBef>
                <a:spcPts val="500"/>
              </a:spcBef>
              <a:defRPr sz="1500">
                <a:solidFill>
                  <a:srgbClr val="333333"/>
                </a:solidFill>
              </a:defRPr>
            </a:pPr>
            <a:r>
              <a:t>Output: Audio embeddings</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Single Modality: Video</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Video = Images + temporal information</a:t>
            </a:r>
          </a:p>
          <a:p>
            <a:pPr>
              <a:spcBef>
                <a:spcPts val="500"/>
              </a:spcBef>
              <a:defRPr sz="1500">
                <a:solidFill>
                  <a:srgbClr val="333333"/>
                </a:solidFill>
              </a:defRPr>
            </a:pPr>
            <a:r>
              <a:t>Spatial encoding: Per-frame CNN/ViT</a:t>
            </a:r>
          </a:p>
          <a:p>
            <a:pPr>
              <a:spcBef>
                <a:spcPts val="500"/>
              </a:spcBef>
              <a:defRPr sz="1500">
                <a:solidFill>
                  <a:srgbClr val="333333"/>
                </a:solidFill>
              </a:defRPr>
            </a:pPr>
            <a:r>
              <a:t>Temporal encoding:</a:t>
            </a:r>
          </a:p>
          <a:p>
            <a:pPr lvl="1">
              <a:spcBef>
                <a:spcPts val="500"/>
              </a:spcBef>
              <a:defRPr sz="1300">
                <a:solidFill>
                  <a:srgbClr val="333333"/>
                </a:solidFill>
              </a:defRPr>
            </a:pPr>
            <a:r>
              <a:t>3D convolutions</a:t>
            </a:r>
          </a:p>
          <a:p>
            <a:pPr lvl="1">
              <a:spcBef>
                <a:spcPts val="500"/>
              </a:spcBef>
              <a:defRPr sz="1300">
                <a:solidFill>
                  <a:srgbClr val="333333"/>
                </a:solidFill>
              </a:defRPr>
            </a:pPr>
            <a:r>
              <a:t>Recurrent networks (LSTM)</a:t>
            </a:r>
          </a:p>
          <a:p>
            <a:pPr lvl="1">
              <a:spcBef>
                <a:spcPts val="500"/>
              </a:spcBef>
              <a:defRPr sz="1300">
                <a:solidFill>
                  <a:srgbClr val="333333"/>
                </a:solidFill>
              </a:defRPr>
            </a:pPr>
            <a:r>
              <a:t>Temporal transformers</a:t>
            </a:r>
          </a:p>
          <a:p>
            <a:pPr>
              <a:spcBef>
                <a:spcPts val="500"/>
              </a:spcBef>
              <a:defRPr sz="1500">
                <a:solidFill>
                  <a:srgbClr val="333333"/>
                </a:solidFill>
              </a:defRPr>
            </a:pPr>
            <a:r>
              <a:t>Challenges: Computational cost</a:t>
            </a:r>
          </a:p>
          <a:p>
            <a:pPr>
              <a:spcBef>
                <a:spcPts val="500"/>
              </a:spcBef>
              <a:defRPr sz="1500">
                <a:solidFill>
                  <a:srgbClr val="333333"/>
                </a:solidFill>
              </a:defRPr>
            </a:pPr>
            <a:r>
              <a:t>Models: TimeSformer, VideoMAE</a:t>
            </a:r>
          </a:p>
          <a:p>
            <a:pPr>
              <a:spcBef>
                <a:spcPts val="500"/>
              </a:spcBef>
              <a:defRPr sz="1500">
                <a:solidFill>
                  <a:srgbClr val="333333"/>
                </a:solidFill>
              </a:defRPr>
            </a:pPr>
            <a:r>
              <a:t>Output: Spatio-temporal features</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Modality Representations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Each modality has unique characteristics</a:t>
            </a:r>
          </a:p>
          <a:p>
            <a:pPr>
              <a:spcBef>
                <a:spcPts val="500"/>
              </a:spcBef>
              <a:defRPr sz="1500">
                <a:solidFill>
                  <a:srgbClr val="333333"/>
                </a:solidFill>
              </a:defRPr>
            </a:pPr>
            <a:r>
              <a:t>Vision: Spatial structure, continuous</a:t>
            </a:r>
          </a:p>
          <a:p>
            <a:pPr>
              <a:spcBef>
                <a:spcPts val="500"/>
              </a:spcBef>
              <a:defRPr sz="1500">
                <a:solidFill>
                  <a:srgbClr val="333333"/>
                </a:solidFill>
              </a:defRPr>
            </a:pPr>
            <a:r>
              <a:t>Text: Sequential, discrete tokens</a:t>
            </a:r>
          </a:p>
          <a:p>
            <a:pPr>
              <a:spcBef>
                <a:spcPts val="500"/>
              </a:spcBef>
              <a:defRPr sz="1500">
                <a:solidFill>
                  <a:srgbClr val="333333"/>
                </a:solidFill>
              </a:defRPr>
            </a:pPr>
            <a:r>
              <a:t>Audio: Temporal, continuous waveforms</a:t>
            </a:r>
          </a:p>
          <a:p>
            <a:pPr>
              <a:spcBef>
                <a:spcPts val="500"/>
              </a:spcBef>
              <a:defRPr sz="1500">
                <a:solidFill>
                  <a:srgbClr val="333333"/>
                </a:solidFill>
              </a:defRPr>
            </a:pPr>
            <a:r>
              <a:t>Goal: Map to common semantic space</a:t>
            </a:r>
          </a:p>
          <a:p>
            <a:pPr>
              <a:spcBef>
                <a:spcPts val="500"/>
              </a:spcBef>
              <a:defRPr sz="1500">
                <a:solidFill>
                  <a:srgbClr val="333333"/>
                </a:solidFill>
              </a:defRPr>
            </a:pPr>
            <a:r>
              <a:t>Representation learning objectives:</a:t>
            </a:r>
          </a:p>
          <a:p>
            <a:pPr lvl="1">
              <a:spcBef>
                <a:spcPts val="500"/>
              </a:spcBef>
              <a:defRPr sz="1300">
                <a:solidFill>
                  <a:srgbClr val="333333"/>
                </a:solidFill>
              </a:defRPr>
            </a:pPr>
            <a:r>
              <a:t>Reconstruction</a:t>
            </a:r>
          </a:p>
          <a:p>
            <a:pPr lvl="1">
              <a:spcBef>
                <a:spcPts val="500"/>
              </a:spcBef>
              <a:defRPr sz="1300">
                <a:solidFill>
                  <a:srgbClr val="333333"/>
                </a:solidFill>
              </a:defRPr>
            </a:pPr>
            <a:r>
              <a:t>Contrastive learning</a:t>
            </a:r>
          </a:p>
          <a:p>
            <a:pPr lvl="1">
              <a:spcBef>
                <a:spcPts val="500"/>
              </a:spcBef>
              <a:defRPr sz="1300">
                <a:solidFill>
                  <a:srgbClr val="333333"/>
                </a:solidFill>
              </a:defRPr>
            </a:pPr>
            <a:r>
              <a:t>Masked modeling</a:t>
            </a:r>
          </a:p>
        </p:txBody>
      </p:sp>
      <p:pic>
        <p:nvPicPr>
          <p:cNvPr id="4" name="Picture 3" descr="image.png"/>
          <p:cNvPicPr>
            <a:picLocks noChangeAspect="1"/>
          </p:cNvPicPr>
          <p:nvPr/>
        </p:nvPicPr>
        <p:blipFill>
          <a:blip r:embed="rId2"/>
          <a:stretch>
            <a:fillRect/>
          </a:stretch>
        </p:blipFill>
        <p:spPr>
          <a:xfrm>
            <a:off x="5029200" y="1371600"/>
            <a:ext cx="3840480" cy="228746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Feature Extraction Pipeline</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Input: Raw data in original modality</a:t>
            </a:r>
          </a:p>
          <a:p>
            <a:pPr>
              <a:spcBef>
                <a:spcPts val="500"/>
              </a:spcBef>
              <a:defRPr sz="1500">
                <a:solidFill>
                  <a:srgbClr val="333333"/>
                </a:solidFill>
              </a:defRPr>
            </a:pPr>
            <a:r>
              <a:t>Preprocessing:</a:t>
            </a:r>
          </a:p>
          <a:p>
            <a:pPr lvl="1">
              <a:spcBef>
                <a:spcPts val="500"/>
              </a:spcBef>
              <a:defRPr sz="1300">
                <a:solidFill>
                  <a:srgbClr val="333333"/>
                </a:solidFill>
              </a:defRPr>
            </a:pPr>
            <a:r>
              <a:t>Images: Resize, normalize</a:t>
            </a:r>
          </a:p>
          <a:p>
            <a:pPr lvl="1">
              <a:spcBef>
                <a:spcPts val="500"/>
              </a:spcBef>
              <a:defRPr sz="1300">
                <a:solidFill>
                  <a:srgbClr val="333333"/>
                </a:solidFill>
              </a:defRPr>
            </a:pPr>
            <a:r>
              <a:t>Text: Tokenize, add special tokens</a:t>
            </a:r>
          </a:p>
          <a:p>
            <a:pPr lvl="1">
              <a:spcBef>
                <a:spcPts val="500"/>
              </a:spcBef>
              <a:defRPr sz="1300">
                <a:solidFill>
                  <a:srgbClr val="333333"/>
                </a:solidFill>
              </a:defRPr>
            </a:pPr>
            <a:r>
              <a:t>Audio: Resample, spectrogram</a:t>
            </a:r>
          </a:p>
          <a:p>
            <a:pPr>
              <a:spcBef>
                <a:spcPts val="500"/>
              </a:spcBef>
              <a:defRPr sz="1500">
                <a:solidFill>
                  <a:srgbClr val="333333"/>
                </a:solidFill>
              </a:defRPr>
            </a:pPr>
            <a:r>
              <a:t>Encoder: Modality-specific network</a:t>
            </a:r>
          </a:p>
          <a:p>
            <a:pPr>
              <a:spcBef>
                <a:spcPts val="500"/>
              </a:spcBef>
              <a:defRPr sz="1500">
                <a:solidFill>
                  <a:srgbClr val="333333"/>
                </a:solidFill>
              </a:defRPr>
            </a:pPr>
            <a:r>
              <a:t>Projection: Map to common dimension</a:t>
            </a:r>
          </a:p>
          <a:p>
            <a:pPr>
              <a:spcBef>
                <a:spcPts val="500"/>
              </a:spcBef>
              <a:defRPr sz="1500">
                <a:solidFill>
                  <a:srgbClr val="333333"/>
                </a:solidFill>
              </a:defRPr>
            </a:pPr>
            <a:r>
              <a:t>Normalization: L2 normalize for similarity</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Embedding Spaces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Embedding space: High-dimensional vectors</a:t>
            </a:r>
          </a:p>
          <a:p>
            <a:pPr>
              <a:spcBef>
                <a:spcPts val="500"/>
              </a:spcBef>
              <a:defRPr sz="1500">
                <a:solidFill>
                  <a:srgbClr val="333333"/>
                </a:solidFill>
              </a:defRPr>
            </a:pPr>
            <a:r>
              <a:t>Desirable properties:</a:t>
            </a:r>
          </a:p>
          <a:p>
            <a:pPr lvl="1">
              <a:spcBef>
                <a:spcPts val="500"/>
              </a:spcBef>
              <a:defRPr sz="1300">
                <a:solidFill>
                  <a:srgbClr val="333333"/>
                </a:solidFill>
              </a:defRPr>
            </a:pPr>
            <a:r>
              <a:t>Semantic similarity → Vector proximity</a:t>
            </a:r>
          </a:p>
          <a:p>
            <a:pPr lvl="1">
              <a:spcBef>
                <a:spcPts val="500"/>
              </a:spcBef>
              <a:defRPr sz="1300">
                <a:solidFill>
                  <a:srgbClr val="333333"/>
                </a:solidFill>
              </a:defRPr>
            </a:pPr>
            <a:r>
              <a:t>Modality invariance</a:t>
            </a:r>
          </a:p>
          <a:p>
            <a:pPr lvl="1">
              <a:spcBef>
                <a:spcPts val="500"/>
              </a:spcBef>
              <a:defRPr sz="1300">
                <a:solidFill>
                  <a:srgbClr val="333333"/>
                </a:solidFill>
              </a:defRPr>
            </a:pPr>
            <a:r>
              <a:t>Structured relationships</a:t>
            </a:r>
          </a:p>
          <a:p>
            <a:pPr>
              <a:spcBef>
                <a:spcPts val="500"/>
              </a:spcBef>
              <a:defRPr sz="1500">
                <a:solidFill>
                  <a:srgbClr val="333333"/>
                </a:solidFill>
              </a:defRPr>
            </a:pPr>
            <a:r>
              <a:t>Joint embedding space:</a:t>
            </a:r>
          </a:p>
          <a:p>
            <a:pPr lvl="1">
              <a:spcBef>
                <a:spcPts val="500"/>
              </a:spcBef>
              <a:defRPr sz="1300">
                <a:solidFill>
                  <a:srgbClr val="333333"/>
                </a:solidFill>
              </a:defRPr>
            </a:pPr>
            <a:r>
              <a:t>Multiple modalities → same space</a:t>
            </a:r>
          </a:p>
          <a:p>
            <a:pPr lvl="1">
              <a:spcBef>
                <a:spcPts val="500"/>
              </a:spcBef>
              <a:defRPr sz="1300">
                <a:solidFill>
                  <a:srgbClr val="333333"/>
                </a:solidFill>
              </a:defRPr>
            </a:pPr>
            <a:r>
              <a:t>Enable cross-modal retrieval</a:t>
            </a:r>
          </a:p>
          <a:p>
            <a:pPr>
              <a:spcBef>
                <a:spcPts val="500"/>
              </a:spcBef>
              <a:defRPr sz="1500">
                <a:solidFill>
                  <a:srgbClr val="333333"/>
                </a:solidFill>
              </a:defRPr>
            </a:pPr>
            <a:r>
              <a:t>Learned through contrastive objectives</a:t>
            </a:r>
          </a:p>
        </p:txBody>
      </p:sp>
      <p:pic>
        <p:nvPicPr>
          <p:cNvPr id="4" name="Picture 3" descr="image.png"/>
          <p:cNvPicPr>
            <a:picLocks noChangeAspect="1"/>
          </p:cNvPicPr>
          <p:nvPr/>
        </p:nvPicPr>
        <p:blipFill>
          <a:blip r:embed="rId2"/>
          <a:stretch>
            <a:fillRect/>
          </a:stretch>
        </p:blipFill>
        <p:spPr>
          <a:xfrm>
            <a:off x="5029200" y="1371600"/>
            <a:ext cx="3840480" cy="281315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The Alignment Problem</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Core challenge: Align different modalities</a:t>
            </a:r>
          </a:p>
          <a:p>
            <a:pPr>
              <a:spcBef>
                <a:spcPts val="500"/>
              </a:spcBef>
              <a:defRPr sz="1500">
                <a:solidFill>
                  <a:srgbClr val="333333"/>
                </a:solidFill>
              </a:defRPr>
            </a:pPr>
            <a:r>
              <a:t>Types of alignment:</a:t>
            </a:r>
          </a:p>
          <a:p>
            <a:pPr lvl="1">
              <a:spcBef>
                <a:spcPts val="500"/>
              </a:spcBef>
              <a:defRPr sz="1300">
                <a:solidFill>
                  <a:srgbClr val="333333"/>
                </a:solidFill>
              </a:defRPr>
            </a:pPr>
            <a:r>
              <a:t>Global: Image-caption pairs</a:t>
            </a:r>
          </a:p>
          <a:p>
            <a:pPr lvl="1">
              <a:spcBef>
                <a:spcPts val="500"/>
              </a:spcBef>
              <a:defRPr sz="1300">
                <a:solidFill>
                  <a:srgbClr val="333333"/>
                </a:solidFill>
              </a:defRPr>
            </a:pPr>
            <a:r>
              <a:t>Local: Objects-words</a:t>
            </a:r>
          </a:p>
          <a:p>
            <a:pPr lvl="1">
              <a:spcBef>
                <a:spcPts val="500"/>
              </a:spcBef>
              <a:defRPr sz="1300">
                <a:solidFill>
                  <a:srgbClr val="333333"/>
                </a:solidFill>
              </a:defRPr>
            </a:pPr>
            <a:r>
              <a:t>Temporal: Video-transcript</a:t>
            </a:r>
          </a:p>
          <a:p>
            <a:pPr>
              <a:spcBef>
                <a:spcPts val="500"/>
              </a:spcBef>
              <a:defRPr sz="1500">
                <a:solidFill>
                  <a:srgbClr val="333333"/>
                </a:solidFill>
              </a:defRPr>
            </a:pPr>
            <a:r>
              <a:t>Solutions:</a:t>
            </a:r>
          </a:p>
          <a:p>
            <a:pPr lvl="1">
              <a:spcBef>
                <a:spcPts val="500"/>
              </a:spcBef>
              <a:defRPr sz="1300">
                <a:solidFill>
                  <a:srgbClr val="333333"/>
                </a:solidFill>
              </a:defRPr>
            </a:pPr>
            <a:r>
              <a:t>Contrastive learning (CLIP)</a:t>
            </a:r>
          </a:p>
          <a:p>
            <a:pPr lvl="1">
              <a:spcBef>
                <a:spcPts val="500"/>
              </a:spcBef>
              <a:defRPr sz="1300">
                <a:solidFill>
                  <a:srgbClr val="333333"/>
                </a:solidFill>
              </a:defRPr>
            </a:pPr>
            <a:r>
              <a:t>Cross-attention (Flamingo)</a:t>
            </a:r>
          </a:p>
          <a:p>
            <a:pPr lvl="1">
              <a:spcBef>
                <a:spcPts val="500"/>
              </a:spcBef>
              <a:defRPr sz="1300">
                <a:solidFill>
                  <a:srgbClr val="333333"/>
                </a:solidFill>
              </a:defRPr>
            </a:pPr>
            <a:r>
              <a:t>Q-Former (BLIP-2)</a:t>
            </a:r>
          </a:p>
          <a:p>
            <a:pPr>
              <a:spcBef>
                <a:spcPts val="500"/>
              </a:spcBef>
              <a:defRPr sz="1500">
                <a:solidFill>
                  <a:srgbClr val="333333"/>
                </a:solidFill>
              </a:defRPr>
            </a:pPr>
            <a:r>
              <a:t>Goal: Bridge the modality gap</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 Multimodal Architectures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Overview of Multimodal Architectures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Three main paradigms:</a:t>
            </a:r>
          </a:p>
          <a:p>
            <a:pPr>
              <a:spcBef>
                <a:spcPts val="500"/>
              </a:spcBef>
              <a:defRPr sz="1500">
                <a:solidFill>
                  <a:srgbClr val="333333"/>
                </a:solidFill>
              </a:defRPr>
            </a:pPr>
            <a:r>
              <a:t>1. Dual-encoder (CLIP, ALIGN)</a:t>
            </a:r>
          </a:p>
          <a:p>
            <a:pPr lvl="1">
              <a:spcBef>
                <a:spcPts val="500"/>
              </a:spcBef>
              <a:defRPr sz="1300">
                <a:solidFill>
                  <a:srgbClr val="333333"/>
                </a:solidFill>
              </a:defRPr>
            </a:pPr>
            <a:r>
              <a:t>Separate encoders per modality</a:t>
            </a:r>
          </a:p>
          <a:p>
            <a:pPr lvl="1">
              <a:spcBef>
                <a:spcPts val="500"/>
              </a:spcBef>
              <a:defRPr sz="1300">
                <a:solidFill>
                  <a:srgbClr val="333333"/>
                </a:solidFill>
              </a:defRPr>
            </a:pPr>
            <a:r>
              <a:t>Joint embedding space</a:t>
            </a:r>
          </a:p>
          <a:p>
            <a:pPr>
              <a:spcBef>
                <a:spcPts val="500"/>
              </a:spcBef>
              <a:defRPr sz="1500">
                <a:solidFill>
                  <a:srgbClr val="333333"/>
                </a:solidFill>
              </a:defRPr>
            </a:pPr>
            <a:r>
              <a:t>2. Fusion encoder (LXMERT, ViLBERT)</a:t>
            </a:r>
          </a:p>
          <a:p>
            <a:pPr lvl="1">
              <a:spcBef>
                <a:spcPts val="500"/>
              </a:spcBef>
              <a:defRPr sz="1300">
                <a:solidFill>
                  <a:srgbClr val="333333"/>
                </a:solidFill>
              </a:defRPr>
            </a:pPr>
            <a:r>
              <a:t>Cross-modal attention layers</a:t>
            </a:r>
          </a:p>
          <a:p>
            <a:pPr>
              <a:spcBef>
                <a:spcPts val="500"/>
              </a:spcBef>
              <a:defRPr sz="1500">
                <a:solidFill>
                  <a:srgbClr val="333333"/>
                </a:solidFill>
              </a:defRPr>
            </a:pPr>
            <a:r>
              <a:t>3. Encoder-decoder (BLIP, Flamingo, LLaVA)</a:t>
            </a:r>
          </a:p>
          <a:p>
            <a:pPr lvl="1">
              <a:spcBef>
                <a:spcPts val="500"/>
              </a:spcBef>
              <a:defRPr sz="1300">
                <a:solidFill>
                  <a:srgbClr val="333333"/>
                </a:solidFill>
              </a:defRPr>
            </a:pPr>
            <a:r>
              <a:t>Visual encoder + Language model</a:t>
            </a:r>
          </a:p>
          <a:p>
            <a:pPr lvl="1">
              <a:spcBef>
                <a:spcPts val="500"/>
              </a:spcBef>
              <a:defRPr sz="1300">
                <a:solidFill>
                  <a:srgbClr val="333333"/>
                </a:solidFill>
              </a:defRPr>
            </a:pPr>
            <a:r>
              <a:t>Generation capabilities</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Early Fusion</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Combine raw features at input level</a:t>
            </a:r>
          </a:p>
          <a:p>
            <a:pPr>
              <a:spcBef>
                <a:spcPts val="500"/>
              </a:spcBef>
              <a:defRPr sz="1500">
                <a:solidFill>
                  <a:srgbClr val="333333"/>
                </a:solidFill>
              </a:defRPr>
            </a:pPr>
            <a:r>
              <a:t>Concatenate or sum modality features</a:t>
            </a:r>
          </a:p>
          <a:p>
            <a:pPr>
              <a:spcBef>
                <a:spcPts val="500"/>
              </a:spcBef>
              <a:defRPr sz="1500">
                <a:solidFill>
                  <a:srgbClr val="333333"/>
                </a:solidFill>
              </a:defRPr>
            </a:pPr>
            <a:r>
              <a:t>Process jointly through unified network</a:t>
            </a:r>
          </a:p>
          <a:p>
            <a:pPr>
              <a:spcBef>
                <a:spcPts val="500"/>
              </a:spcBef>
              <a:defRPr sz="1500">
                <a:solidFill>
                  <a:srgbClr val="333333"/>
                </a:solidFill>
              </a:defRPr>
            </a:pPr>
            <a:r>
              <a:t>Advantages:</a:t>
            </a:r>
          </a:p>
          <a:p>
            <a:pPr lvl="1">
              <a:spcBef>
                <a:spcPts val="500"/>
              </a:spcBef>
              <a:defRPr sz="1300">
                <a:solidFill>
                  <a:srgbClr val="333333"/>
                </a:solidFill>
              </a:defRPr>
            </a:pPr>
            <a:r>
              <a:t>Maximum interaction</a:t>
            </a:r>
          </a:p>
          <a:p>
            <a:pPr lvl="1">
              <a:spcBef>
                <a:spcPts val="500"/>
              </a:spcBef>
              <a:defRPr sz="1300">
                <a:solidFill>
                  <a:srgbClr val="333333"/>
                </a:solidFill>
              </a:defRPr>
            </a:pPr>
            <a:r>
              <a:t>Simple architecture</a:t>
            </a:r>
          </a:p>
          <a:p>
            <a:pPr>
              <a:spcBef>
                <a:spcPts val="500"/>
              </a:spcBef>
              <a:defRPr sz="1500">
                <a:solidFill>
                  <a:srgbClr val="333333"/>
                </a:solidFill>
              </a:defRPr>
            </a:pPr>
            <a:r>
              <a:t>Disadvantages:</a:t>
            </a:r>
          </a:p>
          <a:p>
            <a:pPr lvl="1">
              <a:spcBef>
                <a:spcPts val="500"/>
              </a:spcBef>
              <a:defRPr sz="1300">
                <a:solidFill>
                  <a:srgbClr val="333333"/>
                </a:solidFill>
              </a:defRPr>
            </a:pPr>
            <a:r>
              <a:t>Hard to leverage pre-trained models</a:t>
            </a:r>
          </a:p>
          <a:p>
            <a:pPr lvl="1">
              <a:spcBef>
                <a:spcPts val="500"/>
              </a:spcBef>
              <a:defRPr sz="1300">
                <a:solidFill>
                  <a:srgbClr val="333333"/>
                </a:solidFill>
              </a:defRPr>
            </a:pPr>
            <a:r>
              <a:t>Less flexible</a:t>
            </a:r>
          </a:p>
        </p:txBody>
      </p:sp>
      <p:pic>
        <p:nvPicPr>
          <p:cNvPr id="4" name="Picture 3" descr="image.png"/>
          <p:cNvPicPr>
            <a:picLocks noChangeAspect="1"/>
          </p:cNvPicPr>
          <p:nvPr/>
        </p:nvPicPr>
        <p:blipFill>
          <a:blip r:embed="rId2"/>
          <a:stretch>
            <a:fillRect/>
          </a:stretch>
        </p:blipFill>
        <p:spPr>
          <a:xfrm>
            <a:off x="5029200" y="1371600"/>
            <a:ext cx="3840480" cy="119886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Late Fusion</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Process each modality independently</a:t>
            </a:r>
          </a:p>
          <a:p>
            <a:pPr>
              <a:spcBef>
                <a:spcPts val="500"/>
              </a:spcBef>
              <a:defRPr sz="1500">
                <a:solidFill>
                  <a:srgbClr val="333333"/>
                </a:solidFill>
              </a:defRPr>
            </a:pPr>
            <a:r>
              <a:t>Combine at decision/output level</a:t>
            </a:r>
          </a:p>
          <a:p>
            <a:pPr>
              <a:spcBef>
                <a:spcPts val="500"/>
              </a:spcBef>
              <a:defRPr sz="1500">
                <a:solidFill>
                  <a:srgbClr val="333333"/>
                </a:solidFill>
              </a:defRPr>
            </a:pPr>
            <a:r>
              <a:t>Examples: Ensemble approaches</a:t>
            </a:r>
          </a:p>
          <a:p>
            <a:pPr>
              <a:spcBef>
                <a:spcPts val="500"/>
              </a:spcBef>
              <a:defRPr sz="1500">
                <a:solidFill>
                  <a:srgbClr val="333333"/>
                </a:solidFill>
              </a:defRPr>
            </a:pPr>
            <a:r>
              <a:t>Advantages:</a:t>
            </a:r>
          </a:p>
          <a:p>
            <a:pPr lvl="1">
              <a:spcBef>
                <a:spcPts val="500"/>
              </a:spcBef>
              <a:defRPr sz="1300">
                <a:solidFill>
                  <a:srgbClr val="333333"/>
                </a:solidFill>
              </a:defRPr>
            </a:pPr>
            <a:r>
              <a:t>Easy to use pre-trained models</a:t>
            </a:r>
          </a:p>
          <a:p>
            <a:pPr lvl="1">
              <a:spcBef>
                <a:spcPts val="500"/>
              </a:spcBef>
              <a:defRPr sz="1300">
                <a:solidFill>
                  <a:srgbClr val="333333"/>
                </a:solidFill>
              </a:defRPr>
            </a:pPr>
            <a:r>
              <a:t>Modular design</a:t>
            </a:r>
          </a:p>
          <a:p>
            <a:pPr lvl="1">
              <a:spcBef>
                <a:spcPts val="500"/>
              </a:spcBef>
              <a:defRPr sz="1300">
                <a:solidFill>
                  <a:srgbClr val="333333"/>
                </a:solidFill>
              </a:defRPr>
            </a:pPr>
            <a:r>
              <a:t>Train modalities separately</a:t>
            </a:r>
          </a:p>
          <a:p>
            <a:pPr>
              <a:spcBef>
                <a:spcPts val="500"/>
              </a:spcBef>
              <a:defRPr sz="1500">
                <a:solidFill>
                  <a:srgbClr val="333333"/>
                </a:solidFill>
              </a:defRPr>
            </a:pPr>
            <a:r>
              <a:t>Disadvantages:</a:t>
            </a:r>
          </a:p>
          <a:p>
            <a:pPr lvl="1">
              <a:spcBef>
                <a:spcPts val="500"/>
              </a:spcBef>
              <a:defRPr sz="1300">
                <a:solidFill>
                  <a:srgbClr val="333333"/>
                </a:solidFill>
              </a:defRPr>
            </a:pPr>
            <a:r>
              <a:t>Limited cross-modal interaction</a:t>
            </a:r>
          </a:p>
          <a:p>
            <a:pPr lvl="1">
              <a:spcBef>
                <a:spcPts val="500"/>
              </a:spcBef>
              <a:defRPr sz="1300">
                <a:solidFill>
                  <a:srgbClr val="333333"/>
                </a:solidFill>
              </a:defRPr>
            </a:pPr>
            <a:r>
              <a:t>May miss complex relationships</a:t>
            </a:r>
          </a:p>
        </p:txBody>
      </p:sp>
      <p:pic>
        <p:nvPicPr>
          <p:cNvPr id="4" name="Picture 3" descr="image.png"/>
          <p:cNvPicPr>
            <a:picLocks noChangeAspect="1"/>
          </p:cNvPicPr>
          <p:nvPr/>
        </p:nvPicPr>
        <p:blipFill>
          <a:blip r:embed="rId2"/>
          <a:stretch>
            <a:fillRect/>
          </a:stretch>
        </p:blipFill>
        <p:spPr>
          <a:xfrm>
            <a:off x="5029200" y="1371600"/>
            <a:ext cx="3840480" cy="119886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Hybrid Fusion</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Combine early and late fusion benefits</a:t>
            </a:r>
          </a:p>
          <a:p>
            <a:pPr>
              <a:spcBef>
                <a:spcPts val="500"/>
              </a:spcBef>
              <a:defRPr sz="1500">
                <a:solidFill>
                  <a:srgbClr val="333333"/>
                </a:solidFill>
              </a:defRPr>
            </a:pPr>
            <a:r>
              <a:t>Multi-stage interaction</a:t>
            </a:r>
          </a:p>
          <a:p>
            <a:pPr>
              <a:spcBef>
                <a:spcPts val="500"/>
              </a:spcBef>
              <a:defRPr sz="1500">
                <a:solidFill>
                  <a:srgbClr val="333333"/>
                </a:solidFill>
              </a:defRPr>
            </a:pPr>
            <a:r>
              <a:t>Example: Cross-attention at multiple layers</a:t>
            </a:r>
          </a:p>
          <a:p>
            <a:pPr>
              <a:spcBef>
                <a:spcPts val="500"/>
              </a:spcBef>
              <a:defRPr sz="1500">
                <a:solidFill>
                  <a:srgbClr val="333333"/>
                </a:solidFill>
              </a:defRPr>
            </a:pPr>
            <a:r>
              <a:t>Advantages:</a:t>
            </a:r>
          </a:p>
          <a:p>
            <a:pPr lvl="1">
              <a:spcBef>
                <a:spcPts val="500"/>
              </a:spcBef>
              <a:defRPr sz="1300">
                <a:solidFill>
                  <a:srgbClr val="333333"/>
                </a:solidFill>
              </a:defRPr>
            </a:pPr>
            <a:r>
              <a:t>Flexible architecture design</a:t>
            </a:r>
          </a:p>
          <a:p>
            <a:pPr lvl="1">
              <a:spcBef>
                <a:spcPts val="500"/>
              </a:spcBef>
              <a:defRPr sz="1300">
                <a:solidFill>
                  <a:srgbClr val="333333"/>
                </a:solidFill>
              </a:defRPr>
            </a:pPr>
            <a:r>
              <a:t>Leverage pre-trained components</a:t>
            </a:r>
          </a:p>
          <a:p>
            <a:pPr lvl="1">
              <a:spcBef>
                <a:spcPts val="500"/>
              </a:spcBef>
              <a:defRPr sz="1300">
                <a:solidFill>
                  <a:srgbClr val="333333"/>
                </a:solidFill>
              </a:defRPr>
            </a:pPr>
            <a:r>
              <a:t>Rich cross-modal interaction</a:t>
            </a:r>
          </a:p>
          <a:p>
            <a:pPr>
              <a:spcBef>
                <a:spcPts val="500"/>
              </a:spcBef>
              <a:defRPr sz="1500">
                <a:solidFill>
                  <a:srgbClr val="333333"/>
                </a:solidFill>
              </a:defRPr>
            </a:pPr>
            <a:r>
              <a:t>Most modern architectures use hybrid</a:t>
            </a:r>
          </a:p>
          <a:p>
            <a:pPr>
              <a:spcBef>
                <a:spcPts val="500"/>
              </a:spcBef>
              <a:defRPr sz="1500">
                <a:solidFill>
                  <a:srgbClr val="333333"/>
                </a:solidFill>
              </a:defRPr>
            </a:pPr>
            <a:r>
              <a:t>Examples: BLIP-2, Flamingo, LLaVA</a:t>
            </a:r>
          </a:p>
        </p:txBody>
      </p:sp>
      <p:pic>
        <p:nvPicPr>
          <p:cNvPr id="4" name="Picture 3" descr="image.png"/>
          <p:cNvPicPr>
            <a:picLocks noChangeAspect="1"/>
          </p:cNvPicPr>
          <p:nvPr/>
        </p:nvPicPr>
        <p:blipFill>
          <a:blip r:embed="rId2"/>
          <a:stretch>
            <a:fillRect/>
          </a:stretch>
        </p:blipFill>
        <p:spPr>
          <a:xfrm>
            <a:off x="5029200" y="1371600"/>
            <a:ext cx="3840480" cy="119886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Cross-Attention Mechanisms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Key technique for multimodal fusion</a:t>
            </a:r>
          </a:p>
          <a:p>
            <a:pPr>
              <a:spcBef>
                <a:spcPts val="500"/>
              </a:spcBef>
              <a:defRPr sz="1500">
                <a:solidFill>
                  <a:srgbClr val="333333"/>
                </a:solidFill>
              </a:defRPr>
            </a:pPr>
            <a:r>
              <a:t>Standard attention: Q, K, V from same sequence</a:t>
            </a:r>
          </a:p>
          <a:p>
            <a:pPr>
              <a:spcBef>
                <a:spcPts val="500"/>
              </a:spcBef>
              <a:defRPr sz="1500">
                <a:solidFill>
                  <a:srgbClr val="333333"/>
                </a:solidFill>
              </a:defRPr>
            </a:pPr>
            <a:r>
              <a:t>Cross-attention: Q from one modality, K,V from another</a:t>
            </a:r>
          </a:p>
          <a:p>
            <a:pPr>
              <a:spcBef>
                <a:spcPts val="500"/>
              </a:spcBef>
              <a:defRPr sz="1500">
                <a:solidFill>
                  <a:srgbClr val="333333"/>
                </a:solidFill>
              </a:defRPr>
            </a:pPr>
            <a:r>
              <a:t>Example: Text queries vision features</a:t>
            </a:r>
          </a:p>
          <a:p>
            <a:pPr lvl="1">
              <a:spcBef>
                <a:spcPts val="500"/>
              </a:spcBef>
              <a:defRPr sz="1300">
                <a:solidFill>
                  <a:srgbClr val="333333"/>
                </a:solidFill>
              </a:defRPr>
            </a:pPr>
            <a:r>
              <a:t>Q = text embeddings</a:t>
            </a:r>
          </a:p>
          <a:p>
            <a:pPr lvl="1">
              <a:spcBef>
                <a:spcPts val="500"/>
              </a:spcBef>
              <a:defRPr sz="1300">
                <a:solidFill>
                  <a:srgbClr val="333333"/>
                </a:solidFill>
              </a:defRPr>
            </a:pPr>
            <a:r>
              <a:t>K, V = image patch features</a:t>
            </a:r>
          </a:p>
          <a:p>
            <a:pPr>
              <a:spcBef>
                <a:spcPts val="500"/>
              </a:spcBef>
              <a:defRPr sz="1500">
                <a:solidFill>
                  <a:srgbClr val="333333"/>
                </a:solidFill>
              </a:defRPr>
            </a:pPr>
            <a:r>
              <a:t>Bidirectional cross-attention for deep fusion</a:t>
            </a:r>
          </a:p>
          <a:p>
            <a:pPr>
              <a:spcBef>
                <a:spcPts val="500"/>
              </a:spcBef>
              <a:defRPr sz="1500">
                <a:solidFill>
                  <a:srgbClr val="333333"/>
                </a:solidFill>
              </a:defRPr>
            </a:pPr>
            <a:r>
              <a:t>Used in: Flamingo, BLIP, Q-Former</a:t>
            </a:r>
          </a:p>
        </p:txBody>
      </p:sp>
      <p:pic>
        <p:nvPicPr>
          <p:cNvPr id="4" name="Picture 3" descr="image.png"/>
          <p:cNvPicPr>
            <a:picLocks noChangeAspect="1"/>
          </p:cNvPicPr>
          <p:nvPr/>
        </p:nvPicPr>
        <p:blipFill>
          <a:blip r:embed="rId2"/>
          <a:stretch>
            <a:fillRect/>
          </a:stretch>
        </p:blipFill>
        <p:spPr>
          <a:xfrm>
            <a:off x="5029200" y="1371600"/>
            <a:ext cx="3840480" cy="281315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CLIP: Contrastive Language-Image Pre-training</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Dual-encoder architecture (OpenAI, 2021)</a:t>
            </a:r>
          </a:p>
          <a:p>
            <a:pPr>
              <a:spcBef>
                <a:spcPts val="500"/>
              </a:spcBef>
              <a:defRPr sz="1500">
                <a:solidFill>
                  <a:srgbClr val="333333"/>
                </a:solidFill>
              </a:defRPr>
            </a:pPr>
            <a:r>
              <a:t>Components:</a:t>
            </a:r>
          </a:p>
          <a:p>
            <a:pPr lvl="1">
              <a:spcBef>
                <a:spcPts val="500"/>
              </a:spcBef>
              <a:defRPr sz="1300">
                <a:solidFill>
                  <a:srgbClr val="333333"/>
                </a:solidFill>
              </a:defRPr>
            </a:pPr>
            <a:r>
              <a:t>Image encoder: ViT or ResNet</a:t>
            </a:r>
          </a:p>
          <a:p>
            <a:pPr lvl="1">
              <a:spcBef>
                <a:spcPts val="500"/>
              </a:spcBef>
              <a:defRPr sz="1300">
                <a:solidFill>
                  <a:srgbClr val="333333"/>
                </a:solidFill>
              </a:defRPr>
            </a:pPr>
            <a:r>
              <a:t>Text encoder: Transformer</a:t>
            </a:r>
          </a:p>
          <a:p>
            <a:pPr lvl="1">
              <a:spcBef>
                <a:spcPts val="500"/>
              </a:spcBef>
              <a:defRPr sz="1300">
                <a:solidFill>
                  <a:srgbClr val="333333"/>
                </a:solidFill>
              </a:defRPr>
            </a:pPr>
            <a:r>
              <a:t>Project to same dimension</a:t>
            </a:r>
          </a:p>
          <a:p>
            <a:pPr>
              <a:spcBef>
                <a:spcPts val="500"/>
              </a:spcBef>
              <a:defRPr sz="1500">
                <a:solidFill>
                  <a:srgbClr val="333333"/>
                </a:solidFill>
              </a:defRPr>
            </a:pPr>
            <a:r>
              <a:t>Training: Contrastive learning on 400M pairs</a:t>
            </a:r>
          </a:p>
          <a:p>
            <a:pPr>
              <a:spcBef>
                <a:spcPts val="500"/>
              </a:spcBef>
              <a:defRPr sz="1500">
                <a:solidFill>
                  <a:srgbClr val="333333"/>
                </a:solidFill>
              </a:defRPr>
            </a:pPr>
            <a:r>
              <a:t>Zero-shot capabilities</a:t>
            </a:r>
          </a:p>
          <a:p>
            <a:pPr>
              <a:spcBef>
                <a:spcPts val="500"/>
              </a:spcBef>
              <a:defRPr sz="1500">
                <a:solidFill>
                  <a:srgbClr val="333333"/>
                </a:solidFill>
              </a:defRPr>
            </a:pPr>
            <a:r>
              <a:t>Applications: Classification, retrieval</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CLIP Training Objective</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Contrastive loss on batch of N pairs</a:t>
            </a:r>
          </a:p>
          <a:p>
            <a:pPr>
              <a:spcBef>
                <a:spcPts val="500"/>
              </a:spcBef>
              <a:defRPr sz="1500">
                <a:solidFill>
                  <a:srgbClr val="333333"/>
                </a:solidFill>
              </a:defRPr>
            </a:pPr>
            <a:r>
              <a:t>Maximize similarity of correct (image, text) pairs</a:t>
            </a:r>
          </a:p>
          <a:p>
            <a:pPr>
              <a:spcBef>
                <a:spcPts val="500"/>
              </a:spcBef>
              <a:defRPr sz="1500">
                <a:solidFill>
                  <a:srgbClr val="333333"/>
                </a:solidFill>
              </a:defRPr>
            </a:pPr>
            <a:r>
              <a:t>Minimize similarity of incorrect pairs</a:t>
            </a:r>
          </a:p>
          <a:p>
            <a:pPr>
              <a:spcBef>
                <a:spcPts val="500"/>
              </a:spcBef>
              <a:defRPr sz="1500">
                <a:solidFill>
                  <a:srgbClr val="333333"/>
                </a:solidFill>
              </a:defRPr>
            </a:pPr>
            <a:r>
              <a:t>Loss: InfoNCE</a:t>
            </a:r>
          </a:p>
          <a:p>
            <a:pPr>
              <a:spcBef>
                <a:spcPts val="500"/>
              </a:spcBef>
              <a:defRPr sz="1500">
                <a:solidFill>
                  <a:srgbClr val="333333"/>
                </a:solidFill>
              </a:defRPr>
            </a:pPr>
            <a:r>
              <a:t>Temperature scaling: τ learned parameter</a:t>
            </a:r>
          </a:p>
          <a:p>
            <a:pPr>
              <a:spcBef>
                <a:spcPts val="500"/>
              </a:spcBef>
              <a:defRPr sz="1500">
                <a:solidFill>
                  <a:srgbClr val="333333"/>
                </a:solidFill>
              </a:defRPr>
            </a:pPr>
            <a:r>
              <a:t>Symmetric: Both image→text and text→image</a:t>
            </a:r>
          </a:p>
          <a:p>
            <a:pPr>
              <a:spcBef>
                <a:spcPts val="500"/>
              </a:spcBef>
              <a:defRPr sz="1500">
                <a:solidFill>
                  <a:srgbClr val="333333"/>
                </a:solidFill>
              </a:defRPr>
            </a:pPr>
            <a:r>
              <a:t>Result: Aligned vision-language space</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ALIGN: A Large-scale ImaGe and Noisy text</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Similar to CLIP (Google, 2021)</a:t>
            </a:r>
          </a:p>
          <a:p>
            <a:pPr>
              <a:spcBef>
                <a:spcPts val="500"/>
              </a:spcBef>
              <a:defRPr sz="1500">
                <a:solidFill>
                  <a:srgbClr val="333333"/>
                </a:solidFill>
              </a:defRPr>
            </a:pPr>
            <a:r>
              <a:t>Key difference: Noisy web data (1.8B pairs)</a:t>
            </a:r>
          </a:p>
          <a:p>
            <a:pPr>
              <a:spcBef>
                <a:spcPts val="500"/>
              </a:spcBef>
              <a:defRPr sz="1500">
                <a:solidFill>
                  <a:srgbClr val="333333"/>
                </a:solidFill>
              </a:defRPr>
            </a:pPr>
            <a:r>
              <a:t>No careful curation</a:t>
            </a:r>
          </a:p>
          <a:p>
            <a:pPr>
              <a:spcBef>
                <a:spcPts val="500"/>
              </a:spcBef>
              <a:defRPr sz="1500">
                <a:solidFill>
                  <a:srgbClr val="333333"/>
                </a:solidFill>
              </a:defRPr>
            </a:pPr>
            <a:r>
              <a:t>Components:</a:t>
            </a:r>
          </a:p>
          <a:p>
            <a:pPr lvl="1">
              <a:spcBef>
                <a:spcPts val="500"/>
              </a:spcBef>
              <a:defRPr sz="1300">
                <a:solidFill>
                  <a:srgbClr val="333333"/>
                </a:solidFill>
              </a:defRPr>
            </a:pPr>
            <a:r>
              <a:t>EfficientNet for images</a:t>
            </a:r>
          </a:p>
          <a:p>
            <a:pPr lvl="1">
              <a:spcBef>
                <a:spcPts val="500"/>
              </a:spcBef>
              <a:defRPr sz="1300">
                <a:solidFill>
                  <a:srgbClr val="333333"/>
                </a:solidFill>
              </a:defRPr>
            </a:pPr>
            <a:r>
              <a:t>BERT for text</a:t>
            </a:r>
          </a:p>
          <a:p>
            <a:pPr>
              <a:spcBef>
                <a:spcPts val="500"/>
              </a:spcBef>
              <a:defRPr sz="1500">
                <a:solidFill>
                  <a:srgbClr val="333333"/>
                </a:solidFill>
              </a:defRPr>
            </a:pPr>
            <a:r>
              <a:t>Same contrastive objective</a:t>
            </a:r>
          </a:p>
          <a:p>
            <a:pPr>
              <a:spcBef>
                <a:spcPts val="500"/>
              </a:spcBef>
              <a:defRPr sz="1500">
                <a:solidFill>
                  <a:srgbClr val="333333"/>
                </a:solidFill>
              </a:defRPr>
            </a:pPr>
            <a:r>
              <a:t>Insight: Scale &gt; data quality</a:t>
            </a:r>
          </a:p>
          <a:p>
            <a:pPr>
              <a:spcBef>
                <a:spcPts val="500"/>
              </a:spcBef>
              <a:defRPr sz="1500">
                <a:solidFill>
                  <a:srgbClr val="333333"/>
                </a:solidFill>
              </a:defRPr>
            </a:pPr>
            <a:r>
              <a:t>Comparable or better results</a:t>
            </a:r>
          </a:p>
        </p:txBody>
      </p:sp>
      <p:pic>
        <p:nvPicPr>
          <p:cNvPr id="4" name="Picture 3" descr="image.png"/>
          <p:cNvPicPr>
            <a:picLocks noChangeAspect="1"/>
          </p:cNvPicPr>
          <p:nvPr/>
        </p:nvPicPr>
        <p:blipFill>
          <a:blip r:embed="rId2"/>
          <a:stretch>
            <a:fillRect/>
          </a:stretch>
        </p:blipFill>
        <p:spPr>
          <a:xfrm>
            <a:off x="5029200" y="1371600"/>
            <a:ext cx="3840480" cy="2116403"/>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BLIP: Bootstrapping Language-Image Pre-training</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Encoder-decoder architecture (Salesforce, 2022)</a:t>
            </a:r>
          </a:p>
          <a:p>
            <a:pPr>
              <a:spcBef>
                <a:spcPts val="500"/>
              </a:spcBef>
              <a:defRPr sz="1500">
                <a:solidFill>
                  <a:srgbClr val="333333"/>
                </a:solidFill>
              </a:defRPr>
            </a:pPr>
            <a:r>
              <a:t>Three components:</a:t>
            </a:r>
          </a:p>
          <a:p>
            <a:pPr lvl="1">
              <a:spcBef>
                <a:spcPts val="500"/>
              </a:spcBef>
              <a:defRPr sz="1300">
                <a:solidFill>
                  <a:srgbClr val="333333"/>
                </a:solidFill>
              </a:defRPr>
            </a:pPr>
            <a:r>
              <a:t>1. Image encoder: ViT</a:t>
            </a:r>
          </a:p>
          <a:p>
            <a:pPr lvl="1">
              <a:spcBef>
                <a:spcPts val="500"/>
              </a:spcBef>
              <a:defRPr sz="1300">
                <a:solidFill>
                  <a:srgbClr val="333333"/>
                </a:solidFill>
              </a:defRPr>
            </a:pPr>
            <a:r>
              <a:t>2. Text encoder: BERT-like</a:t>
            </a:r>
          </a:p>
          <a:p>
            <a:pPr lvl="1">
              <a:spcBef>
                <a:spcPts val="500"/>
              </a:spcBef>
              <a:defRPr sz="1300">
                <a:solidFill>
                  <a:srgbClr val="333333"/>
                </a:solidFill>
              </a:defRPr>
            </a:pPr>
            <a:r>
              <a:t>3. Text decoder: GPT-like</a:t>
            </a:r>
          </a:p>
          <a:p>
            <a:pPr>
              <a:spcBef>
                <a:spcPts val="500"/>
              </a:spcBef>
              <a:defRPr sz="1500">
                <a:solidFill>
                  <a:srgbClr val="333333"/>
                </a:solidFill>
              </a:defRPr>
            </a:pPr>
            <a:r>
              <a:t>Multi-task learning:</a:t>
            </a:r>
          </a:p>
          <a:p>
            <a:pPr lvl="1">
              <a:spcBef>
                <a:spcPts val="500"/>
              </a:spcBef>
              <a:defRPr sz="1300">
                <a:solidFill>
                  <a:srgbClr val="333333"/>
                </a:solidFill>
              </a:defRPr>
            </a:pPr>
            <a:r>
              <a:t>Contrastive learning</a:t>
            </a:r>
          </a:p>
          <a:p>
            <a:pPr lvl="1">
              <a:spcBef>
                <a:spcPts val="500"/>
              </a:spcBef>
              <a:defRPr sz="1300">
                <a:solidFill>
                  <a:srgbClr val="333333"/>
                </a:solidFill>
              </a:defRPr>
            </a:pPr>
            <a:r>
              <a:t>Image-text matching</a:t>
            </a:r>
          </a:p>
          <a:p>
            <a:pPr lvl="1">
              <a:spcBef>
                <a:spcPts val="500"/>
              </a:spcBef>
              <a:defRPr sz="1300">
                <a:solidFill>
                  <a:srgbClr val="333333"/>
                </a:solidFill>
              </a:defRPr>
            </a:pPr>
            <a:r>
              <a:t>Image-conditioned LM</a:t>
            </a:r>
          </a:p>
          <a:p>
            <a:pPr>
              <a:spcBef>
                <a:spcPts val="500"/>
              </a:spcBef>
              <a:defRPr sz="1500">
                <a:solidFill>
                  <a:srgbClr val="333333"/>
                </a:solidFill>
              </a:defRPr>
            </a:pPr>
            <a:r>
              <a:t>CapFilt: Synthetic captions</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BLIP-2: Querying Transformer</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Efficient architecture (Salesforce, 2023)</a:t>
            </a:r>
          </a:p>
          <a:p>
            <a:pPr>
              <a:spcBef>
                <a:spcPts val="500"/>
              </a:spcBef>
              <a:defRPr sz="1500">
                <a:solidFill>
                  <a:srgbClr val="333333"/>
                </a:solidFill>
              </a:defRPr>
            </a:pPr>
            <a:r>
              <a:t>Key innovation: Q-Former</a:t>
            </a:r>
          </a:p>
          <a:p>
            <a:pPr lvl="1">
              <a:spcBef>
                <a:spcPts val="500"/>
              </a:spcBef>
              <a:defRPr sz="1300">
                <a:solidFill>
                  <a:srgbClr val="333333"/>
                </a:solidFill>
              </a:defRPr>
            </a:pPr>
            <a:r>
              <a:t>Lightweight module between frozen encoders</a:t>
            </a:r>
          </a:p>
          <a:p>
            <a:pPr lvl="1">
              <a:spcBef>
                <a:spcPts val="500"/>
              </a:spcBef>
              <a:defRPr sz="1300">
                <a:solidFill>
                  <a:srgbClr val="333333"/>
                </a:solidFill>
              </a:defRPr>
            </a:pPr>
            <a:r>
              <a:t>Learnable query tokens</a:t>
            </a:r>
          </a:p>
          <a:p>
            <a:pPr lvl="1">
              <a:spcBef>
                <a:spcPts val="500"/>
              </a:spcBef>
              <a:defRPr sz="1300">
                <a:solidFill>
                  <a:srgbClr val="333333"/>
                </a:solidFill>
              </a:defRPr>
            </a:pPr>
            <a:r>
              <a:t>Cross-attention to vision</a:t>
            </a:r>
          </a:p>
          <a:p>
            <a:pPr>
              <a:spcBef>
                <a:spcPts val="500"/>
              </a:spcBef>
              <a:defRPr sz="1500">
                <a:solidFill>
                  <a:srgbClr val="333333"/>
                </a:solidFill>
              </a:defRPr>
            </a:pPr>
            <a:r>
              <a:t>Two-stage training:</a:t>
            </a:r>
          </a:p>
          <a:p>
            <a:pPr lvl="1">
              <a:spcBef>
                <a:spcPts val="500"/>
              </a:spcBef>
              <a:defRPr sz="1300">
                <a:solidFill>
                  <a:srgbClr val="333333"/>
                </a:solidFill>
              </a:defRPr>
            </a:pPr>
            <a:r>
              <a:t>Stage 1: Vision-language learning</a:t>
            </a:r>
          </a:p>
          <a:p>
            <a:pPr lvl="1">
              <a:spcBef>
                <a:spcPts val="500"/>
              </a:spcBef>
              <a:defRPr sz="1300">
                <a:solidFill>
                  <a:srgbClr val="333333"/>
                </a:solidFill>
              </a:defRPr>
            </a:pPr>
            <a:r>
              <a:t>Stage 2: Vision-to-language generation</a:t>
            </a:r>
          </a:p>
          <a:p>
            <a:pPr>
              <a:spcBef>
                <a:spcPts val="500"/>
              </a:spcBef>
              <a:defRPr sz="1500">
                <a:solidFill>
                  <a:srgbClr val="333333"/>
                </a:solidFill>
              </a:defRPr>
            </a:pPr>
            <a:r>
              <a:t>Much more parameter-efficient</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Flamingo: Visual Language Model</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Few-shot learning VLM (DeepMind, 2022)</a:t>
            </a:r>
          </a:p>
          <a:p>
            <a:pPr>
              <a:spcBef>
                <a:spcPts val="500"/>
              </a:spcBef>
              <a:defRPr sz="1500">
                <a:solidFill>
                  <a:srgbClr val="333333"/>
                </a:solidFill>
              </a:defRPr>
            </a:pPr>
            <a:r>
              <a:t>Architecture:</a:t>
            </a:r>
          </a:p>
          <a:p>
            <a:pPr lvl="1">
              <a:spcBef>
                <a:spcPts val="500"/>
              </a:spcBef>
              <a:defRPr sz="1300">
                <a:solidFill>
                  <a:srgbClr val="333333"/>
                </a:solidFill>
              </a:defRPr>
            </a:pPr>
            <a:r>
              <a:t>Vision encoder: Frozen pre-trained</a:t>
            </a:r>
          </a:p>
          <a:p>
            <a:pPr lvl="1">
              <a:spcBef>
                <a:spcPts val="500"/>
              </a:spcBef>
              <a:defRPr sz="1300">
                <a:solidFill>
                  <a:srgbClr val="333333"/>
                </a:solidFill>
              </a:defRPr>
            </a:pPr>
            <a:r>
              <a:t>Perceiver resampler: Compress features</a:t>
            </a:r>
          </a:p>
          <a:p>
            <a:pPr lvl="1">
              <a:spcBef>
                <a:spcPts val="500"/>
              </a:spcBef>
              <a:defRPr sz="1300">
                <a:solidFill>
                  <a:srgbClr val="333333"/>
                </a:solidFill>
              </a:defRPr>
            </a:pPr>
            <a:r>
              <a:t>LLM: Frozen Chinchilla 70B</a:t>
            </a:r>
          </a:p>
          <a:p>
            <a:pPr lvl="1">
              <a:spcBef>
                <a:spcPts val="500"/>
              </a:spcBef>
              <a:defRPr sz="1300">
                <a:solidFill>
                  <a:srgbClr val="333333"/>
                </a:solidFill>
              </a:defRPr>
            </a:pPr>
            <a:r>
              <a:t>Cross-attention: Gated XATTN-DENSE</a:t>
            </a:r>
          </a:p>
          <a:p>
            <a:pPr>
              <a:spcBef>
                <a:spcPts val="500"/>
              </a:spcBef>
              <a:defRPr sz="1500">
                <a:solidFill>
                  <a:srgbClr val="333333"/>
                </a:solidFill>
              </a:defRPr>
            </a:pPr>
            <a:r>
              <a:t>Interleaved image-text input</a:t>
            </a:r>
          </a:p>
          <a:p>
            <a:pPr>
              <a:spcBef>
                <a:spcPts val="500"/>
              </a:spcBef>
              <a:defRPr sz="1500">
                <a:solidFill>
                  <a:srgbClr val="333333"/>
                </a:solidFill>
              </a:defRPr>
            </a:pPr>
            <a:r>
              <a:t>In-context learning: Few-shot prompting</a:t>
            </a:r>
          </a:p>
          <a:p>
            <a:pPr>
              <a:spcBef>
                <a:spcPts val="500"/>
              </a:spcBef>
              <a:defRPr sz="1500">
                <a:solidFill>
                  <a:srgbClr val="333333"/>
                </a:solidFill>
              </a:defRPr>
            </a:pPr>
            <a:r>
              <a:t>Powerful few-shot visual understanding</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GPT-4V: Multimodal GPT-4</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Proprietary multimodal model (OpenAI, 2023)</a:t>
            </a:r>
          </a:p>
          <a:p>
            <a:pPr>
              <a:spcBef>
                <a:spcPts val="500"/>
              </a:spcBef>
              <a:defRPr sz="1500">
                <a:solidFill>
                  <a:srgbClr val="333333"/>
                </a:solidFill>
              </a:defRPr>
            </a:pPr>
            <a:r>
              <a:t>Accepts images and text as input</a:t>
            </a:r>
          </a:p>
          <a:p>
            <a:pPr>
              <a:spcBef>
                <a:spcPts val="500"/>
              </a:spcBef>
              <a:defRPr sz="1500">
                <a:solidFill>
                  <a:srgbClr val="333333"/>
                </a:solidFill>
              </a:defRPr>
            </a:pPr>
            <a:r>
              <a:t>Architecture details not disclosed</a:t>
            </a:r>
          </a:p>
          <a:p>
            <a:pPr>
              <a:spcBef>
                <a:spcPts val="500"/>
              </a:spcBef>
              <a:defRPr sz="1500">
                <a:solidFill>
                  <a:srgbClr val="333333"/>
                </a:solidFill>
              </a:defRPr>
            </a:pPr>
            <a:r>
              <a:t>Likely components:</a:t>
            </a:r>
          </a:p>
          <a:p>
            <a:pPr lvl="1">
              <a:spcBef>
                <a:spcPts val="500"/>
              </a:spcBef>
              <a:defRPr sz="1300">
                <a:solidFill>
                  <a:srgbClr val="333333"/>
                </a:solidFill>
              </a:defRPr>
            </a:pPr>
            <a:r>
              <a:t>Enhanced CLIP-like vision encoder</a:t>
            </a:r>
          </a:p>
          <a:p>
            <a:pPr lvl="1">
              <a:spcBef>
                <a:spcPts val="500"/>
              </a:spcBef>
              <a:defRPr sz="1300">
                <a:solidFill>
                  <a:srgbClr val="333333"/>
                </a:solidFill>
              </a:defRPr>
            </a:pPr>
            <a:r>
              <a:t>Large language model: GPT-4</a:t>
            </a:r>
          </a:p>
          <a:p>
            <a:pPr lvl="1">
              <a:spcBef>
                <a:spcPts val="500"/>
              </a:spcBef>
              <a:defRPr sz="1300">
                <a:solidFill>
                  <a:srgbClr val="333333"/>
                </a:solidFill>
              </a:defRPr>
            </a:pPr>
            <a:r>
              <a:t>Sophisticated fusion</a:t>
            </a:r>
          </a:p>
          <a:p>
            <a:pPr>
              <a:spcBef>
                <a:spcPts val="500"/>
              </a:spcBef>
              <a:defRPr sz="1500">
                <a:solidFill>
                  <a:srgbClr val="333333"/>
                </a:solidFill>
              </a:defRPr>
            </a:pPr>
            <a:r>
              <a:t>Capabilities: VQA, OCR, reasoning, code</a:t>
            </a:r>
          </a:p>
          <a:p>
            <a:pPr>
              <a:spcBef>
                <a:spcPts val="500"/>
              </a:spcBef>
              <a:defRPr sz="1500">
                <a:solidFill>
                  <a:srgbClr val="333333"/>
                </a:solidFill>
              </a:defRPr>
            </a:pPr>
            <a:r>
              <a:t>State-of-the-art performance</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LLaVA: Large Language and Vision Assistant</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Open-source VLM (Liu et al., 2023)</a:t>
            </a:r>
          </a:p>
          <a:p>
            <a:pPr>
              <a:spcBef>
                <a:spcPts val="500"/>
              </a:spcBef>
              <a:defRPr sz="1500">
                <a:solidFill>
                  <a:srgbClr val="333333"/>
                </a:solidFill>
              </a:defRPr>
            </a:pPr>
            <a:r>
              <a:t>Simple architecture:</a:t>
            </a:r>
          </a:p>
          <a:p>
            <a:pPr lvl="1">
              <a:spcBef>
                <a:spcPts val="500"/>
              </a:spcBef>
              <a:defRPr sz="1300">
                <a:solidFill>
                  <a:srgbClr val="333333"/>
                </a:solidFill>
              </a:defRPr>
            </a:pPr>
            <a:r>
              <a:t>Vision encoder: CLIP ViT-L/14</a:t>
            </a:r>
          </a:p>
          <a:p>
            <a:pPr lvl="1">
              <a:spcBef>
                <a:spcPts val="500"/>
              </a:spcBef>
              <a:defRPr sz="1300">
                <a:solidFill>
                  <a:srgbClr val="333333"/>
                </a:solidFill>
              </a:defRPr>
            </a:pPr>
            <a:r>
              <a:t>Projection: Linear or MLP</a:t>
            </a:r>
          </a:p>
          <a:p>
            <a:pPr lvl="1">
              <a:spcBef>
                <a:spcPts val="500"/>
              </a:spcBef>
              <a:defRPr sz="1300">
                <a:solidFill>
                  <a:srgbClr val="333333"/>
                </a:solidFill>
              </a:defRPr>
            </a:pPr>
            <a:r>
              <a:t>LLM: Vicuna (LLaMA-based)</a:t>
            </a:r>
          </a:p>
          <a:p>
            <a:pPr>
              <a:spcBef>
                <a:spcPts val="500"/>
              </a:spcBef>
              <a:defRPr sz="1500">
                <a:solidFill>
                  <a:srgbClr val="333333"/>
                </a:solidFill>
              </a:defRPr>
            </a:pPr>
            <a:r>
              <a:t>Training data: GPT-4 generated instructions</a:t>
            </a:r>
          </a:p>
          <a:p>
            <a:pPr>
              <a:spcBef>
                <a:spcPts val="500"/>
              </a:spcBef>
              <a:defRPr sz="1500">
                <a:solidFill>
                  <a:srgbClr val="333333"/>
                </a:solidFill>
              </a:defRPr>
            </a:pPr>
            <a:r>
              <a:t>Two-stage training:</a:t>
            </a:r>
          </a:p>
          <a:p>
            <a:pPr lvl="1">
              <a:spcBef>
                <a:spcPts val="500"/>
              </a:spcBef>
              <a:defRPr sz="1300">
                <a:solidFill>
                  <a:srgbClr val="333333"/>
                </a:solidFill>
              </a:defRPr>
            </a:pPr>
            <a:r>
              <a:t>Pre-training: Projection only</a:t>
            </a:r>
          </a:p>
          <a:p>
            <a:pPr lvl="1">
              <a:spcBef>
                <a:spcPts val="500"/>
              </a:spcBef>
              <a:defRPr sz="1300">
                <a:solidFill>
                  <a:srgbClr val="333333"/>
                </a:solidFill>
              </a:defRPr>
            </a:pPr>
            <a:r>
              <a:t>Fine-tuning: Full model or LoRA</a:t>
            </a:r>
          </a:p>
          <a:p>
            <a:pPr>
              <a:spcBef>
                <a:spcPts val="500"/>
              </a:spcBef>
              <a:defRPr sz="1500">
                <a:solidFill>
                  <a:srgbClr val="333333"/>
                </a:solidFill>
              </a:defRPr>
            </a:pPr>
            <a:r>
              <a:t>Excellent performance, modest compute</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LLaVA 1.5 Improvements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Enhanced version (2023)</a:t>
            </a:r>
          </a:p>
          <a:p>
            <a:pPr>
              <a:spcBef>
                <a:spcPts val="500"/>
              </a:spcBef>
              <a:defRPr sz="1500">
                <a:solidFill>
                  <a:srgbClr val="333333"/>
                </a:solidFill>
              </a:defRPr>
            </a:pPr>
            <a:r>
              <a:t>Improvements:</a:t>
            </a:r>
          </a:p>
          <a:p>
            <a:pPr lvl="1">
              <a:spcBef>
                <a:spcPts val="500"/>
              </a:spcBef>
              <a:defRPr sz="1300">
                <a:solidFill>
                  <a:srgbClr val="333333"/>
                </a:solidFill>
              </a:defRPr>
            </a:pPr>
            <a:r>
              <a:t>MLP projection: 2-layer vs 1-layer</a:t>
            </a:r>
          </a:p>
          <a:p>
            <a:pPr lvl="1">
              <a:spcBef>
                <a:spcPts val="500"/>
              </a:spcBef>
              <a:defRPr sz="1300">
                <a:solidFill>
                  <a:srgbClr val="333333"/>
                </a:solidFill>
              </a:defRPr>
            </a:pPr>
            <a:r>
              <a:t>Higher resolution: 336×336 vs 224</a:t>
            </a:r>
          </a:p>
          <a:p>
            <a:pPr lvl="1">
              <a:spcBef>
                <a:spcPts val="500"/>
              </a:spcBef>
              <a:defRPr sz="1300">
                <a:solidFill>
                  <a:srgbClr val="333333"/>
                </a:solidFill>
              </a:defRPr>
            </a:pPr>
            <a:r>
              <a:t>Better instruction data</a:t>
            </a:r>
          </a:p>
          <a:p>
            <a:pPr lvl="1">
              <a:spcBef>
                <a:spcPts val="500"/>
              </a:spcBef>
              <a:defRPr sz="1300">
                <a:solidFill>
                  <a:srgbClr val="333333"/>
                </a:solidFill>
              </a:defRPr>
            </a:pPr>
            <a:r>
              <a:t>Academic task data: VQA, OCR</a:t>
            </a:r>
          </a:p>
          <a:p>
            <a:pPr>
              <a:spcBef>
                <a:spcPts val="500"/>
              </a:spcBef>
              <a:defRPr sz="1500">
                <a:solidFill>
                  <a:srgbClr val="333333"/>
                </a:solidFill>
              </a:defRPr>
            </a:pPr>
            <a:r>
              <a:t>Unified training recipe</a:t>
            </a:r>
          </a:p>
          <a:p>
            <a:pPr>
              <a:spcBef>
                <a:spcPts val="500"/>
              </a:spcBef>
              <a:defRPr sz="1500">
                <a:solidFill>
                  <a:srgbClr val="333333"/>
                </a:solidFill>
              </a:defRPr>
            </a:pPr>
            <a:r>
              <a:t>Near GPT-4V on some tasks</a:t>
            </a:r>
          </a:p>
          <a:p>
            <a:pPr>
              <a:spcBef>
                <a:spcPts val="500"/>
              </a:spcBef>
              <a:defRPr sz="1500">
                <a:solidFill>
                  <a:srgbClr val="333333"/>
                </a:solidFill>
              </a:defRPr>
            </a:pPr>
            <a:r>
              <a:t>Efficient: Fine-tune on single GPU</a:t>
            </a:r>
          </a:p>
        </p:txBody>
      </p:sp>
      <p:pic>
        <p:nvPicPr>
          <p:cNvPr id="4" name="Picture 3" descr="image.png"/>
          <p:cNvPicPr>
            <a:picLocks noChangeAspect="1"/>
          </p:cNvPicPr>
          <p:nvPr/>
        </p:nvPicPr>
        <p:blipFill>
          <a:blip r:embed="rId2"/>
          <a:stretch>
            <a:fillRect/>
          </a:stretch>
        </p:blipFill>
        <p:spPr>
          <a:xfrm>
            <a:off x="5029200" y="1371600"/>
            <a:ext cx="3840480" cy="2124367"/>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Gemini: Google's Multimodal Model</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Native multimodal model (Google, 2023)</a:t>
            </a:r>
          </a:p>
          <a:p>
            <a:pPr>
              <a:spcBef>
                <a:spcPts val="500"/>
              </a:spcBef>
              <a:defRPr sz="1500">
                <a:solidFill>
                  <a:srgbClr val="333333"/>
                </a:solidFill>
              </a:defRPr>
            </a:pPr>
            <a:r>
              <a:t>Three sizes: Nano, Pro, Ultra</a:t>
            </a:r>
          </a:p>
          <a:p>
            <a:pPr>
              <a:spcBef>
                <a:spcPts val="500"/>
              </a:spcBef>
              <a:defRPr sz="1500">
                <a:solidFill>
                  <a:srgbClr val="333333"/>
                </a:solidFill>
              </a:defRPr>
            </a:pPr>
            <a:r>
              <a:t>Key: Natively multimodal from scratch</a:t>
            </a:r>
          </a:p>
          <a:p>
            <a:pPr lvl="1">
              <a:spcBef>
                <a:spcPts val="500"/>
              </a:spcBef>
              <a:defRPr sz="1300">
                <a:solidFill>
                  <a:srgbClr val="333333"/>
                </a:solidFill>
              </a:defRPr>
            </a:pPr>
            <a:r>
              <a:t>Not adapting separate models</a:t>
            </a:r>
          </a:p>
          <a:p>
            <a:pPr lvl="1">
              <a:spcBef>
                <a:spcPts val="500"/>
              </a:spcBef>
              <a:defRPr sz="1300">
                <a:solidFill>
                  <a:srgbClr val="333333"/>
                </a:solidFill>
              </a:defRPr>
            </a:pPr>
            <a:r>
              <a:t>Joint training on all modalities</a:t>
            </a:r>
          </a:p>
          <a:p>
            <a:pPr>
              <a:spcBef>
                <a:spcPts val="500"/>
              </a:spcBef>
              <a:defRPr sz="1500">
                <a:solidFill>
                  <a:srgbClr val="333333"/>
                </a:solidFill>
              </a:defRPr>
            </a:pPr>
            <a:r>
              <a:t>Capabilities:</a:t>
            </a:r>
          </a:p>
          <a:p>
            <a:pPr lvl="1">
              <a:spcBef>
                <a:spcPts val="500"/>
              </a:spcBef>
              <a:defRPr sz="1300">
                <a:solidFill>
                  <a:srgbClr val="333333"/>
                </a:solidFill>
              </a:defRPr>
            </a:pPr>
            <a:r>
              <a:t>Image, video, audio, text</a:t>
            </a:r>
          </a:p>
          <a:p>
            <a:pPr lvl="1">
              <a:spcBef>
                <a:spcPts val="500"/>
              </a:spcBef>
              <a:defRPr sz="1300">
                <a:solidFill>
                  <a:srgbClr val="333333"/>
                </a:solidFill>
              </a:defRPr>
            </a:pPr>
            <a:r>
              <a:t>Long context: Up to 1M tokens</a:t>
            </a:r>
          </a:p>
          <a:p>
            <a:pPr lvl="1">
              <a:spcBef>
                <a:spcPts val="500"/>
              </a:spcBef>
              <a:defRPr sz="1300">
                <a:solidFill>
                  <a:srgbClr val="333333"/>
                </a:solidFill>
              </a:defRPr>
            </a:pPr>
            <a:r>
              <a:t>Complex reasoning</a:t>
            </a:r>
          </a:p>
          <a:p>
            <a:pPr>
              <a:spcBef>
                <a:spcPts val="500"/>
              </a:spcBef>
              <a:defRPr sz="1500">
                <a:solidFill>
                  <a:srgbClr val="333333"/>
                </a:solidFill>
              </a:defRPr>
            </a:pPr>
            <a:r>
              <a:t>State-of-the-art benchmarks</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Any-to-Any Multimodal Models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Next generation: Unified for all modalities</a:t>
            </a:r>
          </a:p>
          <a:p>
            <a:pPr>
              <a:spcBef>
                <a:spcPts val="500"/>
              </a:spcBef>
              <a:defRPr sz="1500">
                <a:solidFill>
                  <a:srgbClr val="333333"/>
                </a:solidFill>
              </a:defRPr>
            </a:pPr>
            <a:r>
              <a:t>Examples:</a:t>
            </a:r>
          </a:p>
          <a:p>
            <a:pPr lvl="1">
              <a:spcBef>
                <a:spcPts val="500"/>
              </a:spcBef>
              <a:defRPr sz="1300">
                <a:solidFill>
                  <a:srgbClr val="333333"/>
                </a:solidFill>
              </a:defRPr>
            </a:pPr>
            <a:r>
              <a:t>NExT-GPT: Any-to-any generation</a:t>
            </a:r>
          </a:p>
          <a:p>
            <a:pPr lvl="1">
              <a:spcBef>
                <a:spcPts val="500"/>
              </a:spcBef>
              <a:defRPr sz="1300">
                <a:solidFill>
                  <a:srgbClr val="333333"/>
                </a:solidFill>
              </a:defRPr>
            </a:pPr>
            <a:r>
              <a:t>CoDi: Composable diffusion</a:t>
            </a:r>
          </a:p>
          <a:p>
            <a:pPr lvl="1">
              <a:spcBef>
                <a:spcPts val="500"/>
              </a:spcBef>
              <a:defRPr sz="1300">
                <a:solidFill>
                  <a:srgbClr val="333333"/>
                </a:solidFill>
              </a:defRPr>
            </a:pPr>
            <a:r>
              <a:t>Unified-IO 2: Single model, any task</a:t>
            </a:r>
          </a:p>
          <a:p>
            <a:pPr>
              <a:spcBef>
                <a:spcPts val="500"/>
              </a:spcBef>
              <a:defRPr sz="1500">
                <a:solidFill>
                  <a:srgbClr val="333333"/>
                </a:solidFill>
              </a:defRPr>
            </a:pPr>
            <a:r>
              <a:t>Capabilities:</a:t>
            </a:r>
          </a:p>
          <a:p>
            <a:pPr lvl="1">
              <a:spcBef>
                <a:spcPts val="500"/>
              </a:spcBef>
              <a:defRPr sz="1300">
                <a:solidFill>
                  <a:srgbClr val="333333"/>
                </a:solidFill>
              </a:defRPr>
            </a:pPr>
            <a:r>
              <a:t>Text → Image, Audio, Video</a:t>
            </a:r>
          </a:p>
          <a:p>
            <a:pPr lvl="1">
              <a:spcBef>
                <a:spcPts val="500"/>
              </a:spcBef>
              <a:defRPr sz="1300">
                <a:solidFill>
                  <a:srgbClr val="333333"/>
                </a:solidFill>
              </a:defRPr>
            </a:pPr>
            <a:r>
              <a:t>Image → Text, Audio</a:t>
            </a:r>
          </a:p>
          <a:p>
            <a:pPr lvl="1">
              <a:spcBef>
                <a:spcPts val="500"/>
              </a:spcBef>
              <a:defRPr sz="1300">
                <a:solidFill>
                  <a:srgbClr val="333333"/>
                </a:solidFill>
              </a:defRPr>
            </a:pPr>
            <a:r>
              <a:t>Any modality → Any modality</a:t>
            </a:r>
          </a:p>
          <a:p>
            <a:pPr>
              <a:spcBef>
                <a:spcPts val="500"/>
              </a:spcBef>
              <a:defRPr sz="1500">
                <a:solidFill>
                  <a:srgbClr val="333333"/>
                </a:solidFill>
              </a:defRPr>
            </a:pPr>
            <a:r>
              <a:t>Challenges: Training complexity, data</a:t>
            </a:r>
          </a:p>
        </p:txBody>
      </p:sp>
      <p:pic>
        <p:nvPicPr>
          <p:cNvPr id="4" name="Picture 3" descr="image.png"/>
          <p:cNvPicPr>
            <a:picLocks noChangeAspect="1"/>
          </p:cNvPicPr>
          <p:nvPr/>
        </p:nvPicPr>
        <p:blipFill>
          <a:blip r:embed="rId2"/>
          <a:stretch>
            <a:fillRect/>
          </a:stretch>
        </p:blipFill>
        <p:spPr>
          <a:xfrm>
            <a:off x="5029200" y="1371600"/>
            <a:ext cx="3840480" cy="2287464"/>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Unified Multimodal Models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Goal: Single model for all modalities</a:t>
            </a:r>
          </a:p>
          <a:p>
            <a:pPr>
              <a:spcBef>
                <a:spcPts val="500"/>
              </a:spcBef>
              <a:defRPr sz="1500">
                <a:solidFill>
                  <a:srgbClr val="333333"/>
                </a:solidFill>
              </a:defRPr>
            </a:pPr>
            <a:r>
              <a:t>Approaches:</a:t>
            </a:r>
          </a:p>
          <a:p>
            <a:pPr lvl="1">
              <a:spcBef>
                <a:spcPts val="500"/>
              </a:spcBef>
              <a:defRPr sz="1300">
                <a:solidFill>
                  <a:srgbClr val="333333"/>
                </a:solidFill>
              </a:defRPr>
            </a:pPr>
            <a:r>
              <a:t>Tokenize all modalities (Unified-IO)</a:t>
            </a:r>
          </a:p>
          <a:p>
            <a:pPr lvl="1">
              <a:spcBef>
                <a:spcPts val="500"/>
              </a:spcBef>
              <a:defRPr sz="1300">
                <a:solidFill>
                  <a:srgbClr val="333333"/>
                </a:solidFill>
              </a:defRPr>
            </a:pPr>
            <a:r>
              <a:t>Shared encoder-decoder</a:t>
            </a:r>
          </a:p>
          <a:p>
            <a:pPr lvl="1">
              <a:spcBef>
                <a:spcPts val="500"/>
              </a:spcBef>
              <a:defRPr sz="1300">
                <a:solidFill>
                  <a:srgbClr val="333333"/>
                </a:solidFill>
              </a:defRPr>
            </a:pPr>
            <a:r>
              <a:t>Modality-specific adapters</a:t>
            </a:r>
          </a:p>
          <a:p>
            <a:pPr>
              <a:spcBef>
                <a:spcPts val="500"/>
              </a:spcBef>
              <a:defRPr sz="1500">
                <a:solidFill>
                  <a:srgbClr val="333333"/>
                </a:solidFill>
              </a:defRPr>
            </a:pPr>
            <a:r>
              <a:t>Benefits:</a:t>
            </a:r>
          </a:p>
          <a:p>
            <a:pPr lvl="1">
              <a:spcBef>
                <a:spcPts val="500"/>
              </a:spcBef>
              <a:defRPr sz="1300">
                <a:solidFill>
                  <a:srgbClr val="333333"/>
                </a:solidFill>
              </a:defRPr>
            </a:pPr>
            <a:r>
              <a:t>Simplified deployment</a:t>
            </a:r>
          </a:p>
          <a:p>
            <a:pPr lvl="1">
              <a:spcBef>
                <a:spcPts val="500"/>
              </a:spcBef>
              <a:defRPr sz="1300">
                <a:solidFill>
                  <a:srgbClr val="333333"/>
                </a:solidFill>
              </a:defRPr>
            </a:pPr>
            <a:r>
              <a:t>Cross-modal transfer</a:t>
            </a:r>
          </a:p>
          <a:p>
            <a:pPr lvl="1">
              <a:spcBef>
                <a:spcPts val="500"/>
              </a:spcBef>
              <a:defRPr sz="1300">
                <a:solidFill>
                  <a:srgbClr val="333333"/>
                </a:solidFill>
              </a:defRPr>
            </a:pPr>
            <a:r>
              <a:t>Efficient inference</a:t>
            </a:r>
          </a:p>
          <a:p>
            <a:pPr>
              <a:spcBef>
                <a:spcPts val="500"/>
              </a:spcBef>
              <a:defRPr sz="1500">
                <a:solidFill>
                  <a:srgbClr val="333333"/>
                </a:solidFill>
              </a:defRPr>
            </a:pPr>
            <a:r>
              <a:t>Research direction: Foundation models</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Architecture Comparison</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CLIP: Fast, dual-encoder, zero-shot</a:t>
            </a:r>
          </a:p>
          <a:p>
            <a:pPr>
              <a:spcBef>
                <a:spcPts val="500"/>
              </a:spcBef>
              <a:defRPr sz="1500">
                <a:solidFill>
                  <a:srgbClr val="333333"/>
                </a:solidFill>
              </a:defRPr>
            </a:pPr>
            <a:r>
              <a:t>BLIP: Versatile, generation + understanding</a:t>
            </a:r>
          </a:p>
          <a:p>
            <a:pPr>
              <a:spcBef>
                <a:spcPts val="500"/>
              </a:spcBef>
              <a:defRPr sz="1500">
                <a:solidFill>
                  <a:srgbClr val="333333"/>
                </a:solidFill>
              </a:defRPr>
            </a:pPr>
            <a:r>
              <a:t>BLIP-2: Efficient, frozen components</a:t>
            </a:r>
          </a:p>
          <a:p>
            <a:pPr>
              <a:spcBef>
                <a:spcPts val="500"/>
              </a:spcBef>
              <a:defRPr sz="1500">
                <a:solidFill>
                  <a:srgbClr val="333333"/>
                </a:solidFill>
              </a:defRPr>
            </a:pPr>
            <a:r>
              <a:t>Flamingo: Few-shot, interleaved input</a:t>
            </a:r>
          </a:p>
          <a:p>
            <a:pPr>
              <a:spcBef>
                <a:spcPts val="500"/>
              </a:spcBef>
              <a:defRPr sz="1500">
                <a:solidFill>
                  <a:srgbClr val="333333"/>
                </a:solidFill>
              </a:defRPr>
            </a:pPr>
            <a:r>
              <a:t>LLaVA: Open-source, instruction-tuned</a:t>
            </a:r>
          </a:p>
          <a:p>
            <a:pPr>
              <a:spcBef>
                <a:spcPts val="500"/>
              </a:spcBef>
              <a:defRPr sz="1500">
                <a:solidFill>
                  <a:srgbClr val="333333"/>
                </a:solidFill>
              </a:defRPr>
            </a:pPr>
            <a:r>
              <a:t>GPT-4V: State-of-the-art, proprietary</a:t>
            </a:r>
          </a:p>
          <a:p>
            <a:pPr>
              <a:spcBef>
                <a:spcPts val="500"/>
              </a:spcBef>
              <a:defRPr sz="1500">
                <a:solidFill>
                  <a:srgbClr val="333333"/>
                </a:solidFill>
              </a:defRPr>
            </a:pPr>
            <a:r>
              <a:t>Selection: Task, compute, data, performance</a:t>
            </a:r>
          </a:p>
        </p:txBody>
      </p:sp>
      <p:pic>
        <p:nvPicPr>
          <p:cNvPr id="4" name="Picture 3" descr="image.png"/>
          <p:cNvPicPr>
            <a:picLocks noChangeAspect="1"/>
          </p:cNvPicPr>
          <p:nvPr/>
        </p:nvPicPr>
        <p:blipFill>
          <a:blip r:embed="rId2"/>
          <a:stretch>
            <a:fillRect/>
          </a:stretch>
        </p:blipFill>
        <p:spPr>
          <a:xfrm>
            <a:off x="5029200" y="1371600"/>
            <a:ext cx="3840480" cy="2124367"/>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Design Principles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1. Leverage pre-trained models when possible</a:t>
            </a:r>
          </a:p>
          <a:p>
            <a:pPr>
              <a:spcBef>
                <a:spcPts val="500"/>
              </a:spcBef>
              <a:defRPr sz="1500">
                <a:solidFill>
                  <a:srgbClr val="333333"/>
                </a:solidFill>
              </a:defRPr>
            </a:pPr>
            <a:r>
              <a:t>2. Freeze large components to reduce compute</a:t>
            </a:r>
          </a:p>
          <a:p>
            <a:pPr>
              <a:spcBef>
                <a:spcPts val="500"/>
              </a:spcBef>
              <a:defRPr sz="1500">
                <a:solidFill>
                  <a:srgbClr val="333333"/>
                </a:solidFill>
              </a:defRPr>
            </a:pPr>
            <a:r>
              <a:t>3. Use efficient fusion (Q-Former, projectors)</a:t>
            </a:r>
          </a:p>
          <a:p>
            <a:pPr>
              <a:spcBef>
                <a:spcPts val="500"/>
              </a:spcBef>
              <a:defRPr sz="1500">
                <a:solidFill>
                  <a:srgbClr val="333333"/>
                </a:solidFill>
              </a:defRPr>
            </a:pPr>
            <a:r>
              <a:t>4. Multi-task learning for generalization</a:t>
            </a:r>
          </a:p>
          <a:p>
            <a:pPr>
              <a:spcBef>
                <a:spcPts val="500"/>
              </a:spcBef>
              <a:defRPr sz="1500">
                <a:solidFill>
                  <a:srgbClr val="333333"/>
                </a:solidFill>
              </a:defRPr>
            </a:pPr>
            <a:r>
              <a:t>5. High-quality instruction data crucial</a:t>
            </a:r>
          </a:p>
          <a:p>
            <a:pPr>
              <a:spcBef>
                <a:spcPts val="500"/>
              </a:spcBef>
              <a:defRPr sz="1500">
                <a:solidFill>
                  <a:srgbClr val="333333"/>
                </a:solidFill>
              </a:defRPr>
            </a:pPr>
            <a:r>
              <a:t>6. Balance model size vs. performance</a:t>
            </a:r>
          </a:p>
          <a:p>
            <a:pPr>
              <a:spcBef>
                <a:spcPts val="500"/>
              </a:spcBef>
              <a:defRPr sz="1500">
                <a:solidFill>
                  <a:srgbClr val="333333"/>
                </a:solidFill>
              </a:defRPr>
            </a:pPr>
            <a:r>
              <a:t>7. Consider inference efficiency</a:t>
            </a:r>
          </a:p>
          <a:p>
            <a:pPr>
              <a:spcBef>
                <a:spcPts val="500"/>
              </a:spcBef>
              <a:defRPr sz="1500">
                <a:solidFill>
                  <a:srgbClr val="333333"/>
                </a:solidFill>
              </a:defRPr>
            </a:pPr>
            <a:r>
              <a:t>8. Open-source enables research</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III: Training Strategies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Training from Scratch</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When to train from scratch?</a:t>
            </a:r>
          </a:p>
          <a:p>
            <a:pPr lvl="1">
              <a:spcBef>
                <a:spcPts val="500"/>
              </a:spcBef>
              <a:defRPr sz="1300">
                <a:solidFill>
                  <a:srgbClr val="333333"/>
                </a:solidFill>
              </a:defRPr>
            </a:pPr>
            <a:r>
              <a:t>Novel architectures</a:t>
            </a:r>
          </a:p>
          <a:p>
            <a:pPr lvl="1">
              <a:spcBef>
                <a:spcPts val="500"/>
              </a:spcBef>
              <a:defRPr sz="1300">
                <a:solidFill>
                  <a:srgbClr val="333333"/>
                </a:solidFill>
              </a:defRPr>
            </a:pPr>
            <a:r>
              <a:t>Unique data distribution</a:t>
            </a:r>
          </a:p>
          <a:p>
            <a:pPr lvl="1">
              <a:spcBef>
                <a:spcPts val="500"/>
              </a:spcBef>
              <a:defRPr sz="1300">
                <a:solidFill>
                  <a:srgbClr val="333333"/>
                </a:solidFill>
              </a:defRPr>
            </a:pPr>
            <a:r>
              <a:t>Proprietary requirements</a:t>
            </a:r>
          </a:p>
          <a:p>
            <a:pPr>
              <a:spcBef>
                <a:spcPts val="500"/>
              </a:spcBef>
              <a:defRPr sz="1500">
                <a:solidFill>
                  <a:srgbClr val="333333"/>
                </a:solidFill>
              </a:defRPr>
            </a:pPr>
            <a:r>
              <a:t>Challenges:</a:t>
            </a:r>
          </a:p>
          <a:p>
            <a:pPr lvl="1">
              <a:spcBef>
                <a:spcPts val="500"/>
              </a:spcBef>
              <a:defRPr sz="1300">
                <a:solidFill>
                  <a:srgbClr val="333333"/>
                </a:solidFill>
              </a:defRPr>
            </a:pPr>
            <a:r>
              <a:t>Massive data (millions of pairs)</a:t>
            </a:r>
          </a:p>
          <a:p>
            <a:pPr lvl="1">
              <a:spcBef>
                <a:spcPts val="500"/>
              </a:spcBef>
              <a:defRPr sz="1300">
                <a:solidFill>
                  <a:srgbClr val="333333"/>
                </a:solidFill>
              </a:defRPr>
            </a:pPr>
            <a:r>
              <a:t>Extensive compute (1000s GPU hours)</a:t>
            </a:r>
          </a:p>
          <a:p>
            <a:pPr lvl="1">
              <a:spcBef>
                <a:spcPts val="500"/>
              </a:spcBef>
              <a:defRPr sz="1300">
                <a:solidFill>
                  <a:srgbClr val="333333"/>
                </a:solidFill>
              </a:defRPr>
            </a:pPr>
            <a:r>
              <a:t>Careful hyperparameter tuning</a:t>
            </a:r>
          </a:p>
          <a:p>
            <a:pPr>
              <a:spcBef>
                <a:spcPts val="500"/>
              </a:spcBef>
              <a:defRPr sz="1500">
                <a:solidFill>
                  <a:srgbClr val="333333"/>
                </a:solidFill>
              </a:defRPr>
            </a:pPr>
            <a:r>
              <a:t>Alternative: Fine-tune pre-trained models</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Data Requirements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Scale: Millions/billions of pairs</a:t>
            </a:r>
          </a:p>
          <a:p>
            <a:pPr>
              <a:spcBef>
                <a:spcPts val="500"/>
              </a:spcBef>
              <a:defRPr sz="1500">
                <a:solidFill>
                  <a:srgbClr val="333333"/>
                </a:solidFill>
              </a:defRPr>
            </a:pPr>
            <a:r>
              <a:t>Types of data:</a:t>
            </a:r>
          </a:p>
          <a:p>
            <a:pPr lvl="1">
              <a:spcBef>
                <a:spcPts val="500"/>
              </a:spcBef>
              <a:defRPr sz="1300">
                <a:solidFill>
                  <a:srgbClr val="333333"/>
                </a:solidFill>
              </a:defRPr>
            </a:pPr>
            <a:r>
              <a:t>Image-caption pairs</a:t>
            </a:r>
          </a:p>
          <a:p>
            <a:pPr lvl="1">
              <a:spcBef>
                <a:spcPts val="500"/>
              </a:spcBef>
              <a:defRPr sz="1300">
                <a:solidFill>
                  <a:srgbClr val="333333"/>
                </a:solidFill>
              </a:defRPr>
            </a:pPr>
            <a:r>
              <a:t>Interleaved image-text</a:t>
            </a:r>
          </a:p>
          <a:p>
            <a:pPr lvl="1">
              <a:spcBef>
                <a:spcPts val="500"/>
              </a:spcBef>
              <a:defRPr sz="1300">
                <a:solidFill>
                  <a:srgbClr val="333333"/>
                </a:solidFill>
              </a:defRPr>
            </a:pPr>
            <a:r>
              <a:t>Video-subtitle pairs</a:t>
            </a:r>
          </a:p>
          <a:p>
            <a:pPr lvl="1">
              <a:spcBef>
                <a:spcPts val="500"/>
              </a:spcBef>
              <a:defRPr sz="1300">
                <a:solidFill>
                  <a:srgbClr val="333333"/>
                </a:solidFill>
              </a:defRPr>
            </a:pPr>
            <a:r>
              <a:t>Question-answer pairs</a:t>
            </a:r>
          </a:p>
          <a:p>
            <a:pPr>
              <a:spcBef>
                <a:spcPts val="500"/>
              </a:spcBef>
              <a:defRPr sz="1500">
                <a:solidFill>
                  <a:srgbClr val="333333"/>
                </a:solidFill>
              </a:defRPr>
            </a:pPr>
            <a:r>
              <a:t>Data quality vs. quantity:</a:t>
            </a:r>
          </a:p>
          <a:p>
            <a:pPr lvl="1">
              <a:spcBef>
                <a:spcPts val="500"/>
              </a:spcBef>
              <a:defRPr sz="1300">
                <a:solidFill>
                  <a:srgbClr val="333333"/>
                </a:solidFill>
              </a:defRPr>
            </a:pPr>
            <a:r>
              <a:t>CLIP: Curated 400M</a:t>
            </a:r>
          </a:p>
          <a:p>
            <a:pPr lvl="1">
              <a:spcBef>
                <a:spcPts val="500"/>
              </a:spcBef>
              <a:defRPr sz="1300">
                <a:solidFill>
                  <a:srgbClr val="333333"/>
                </a:solidFill>
              </a:defRPr>
            </a:pPr>
            <a:r>
              <a:t>ALIGN: Noisy 1.8B</a:t>
            </a:r>
          </a:p>
          <a:p>
            <a:pPr>
              <a:spcBef>
                <a:spcPts val="500"/>
              </a:spcBef>
              <a:defRPr sz="1500">
                <a:solidFill>
                  <a:srgbClr val="333333"/>
                </a:solidFill>
              </a:defRPr>
            </a:pPr>
            <a:r>
              <a:t>Diversity crucial for generalization</a:t>
            </a:r>
          </a:p>
        </p:txBody>
      </p:sp>
      <p:pic>
        <p:nvPicPr>
          <p:cNvPr id="4" name="Picture 3" descr="image.png"/>
          <p:cNvPicPr>
            <a:picLocks noChangeAspect="1"/>
          </p:cNvPicPr>
          <p:nvPr/>
        </p:nvPicPr>
        <p:blipFill>
          <a:blip r:embed="rId2"/>
          <a:stretch>
            <a:fillRect/>
          </a:stretch>
        </p:blipFill>
        <p:spPr>
          <a:xfrm>
            <a:off x="5029200" y="1371600"/>
            <a:ext cx="3840480" cy="2122371"/>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Key Datasets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Image-Text:</a:t>
            </a:r>
          </a:p>
          <a:p>
            <a:pPr lvl="1">
              <a:spcBef>
                <a:spcPts val="500"/>
              </a:spcBef>
              <a:defRPr sz="1300">
                <a:solidFill>
                  <a:srgbClr val="333333"/>
                </a:solidFill>
              </a:defRPr>
            </a:pPr>
            <a:r>
              <a:t>COCO: 330K images with captions</a:t>
            </a:r>
          </a:p>
          <a:p>
            <a:pPr lvl="1">
              <a:spcBef>
                <a:spcPts val="500"/>
              </a:spcBef>
              <a:defRPr sz="1300">
                <a:solidFill>
                  <a:srgbClr val="333333"/>
                </a:solidFill>
              </a:defRPr>
            </a:pPr>
            <a:r>
              <a:t>Visual Genome: 108K dense annotations</a:t>
            </a:r>
          </a:p>
          <a:p>
            <a:pPr lvl="1">
              <a:spcBef>
                <a:spcPts val="500"/>
              </a:spcBef>
              <a:defRPr sz="1300">
                <a:solidFill>
                  <a:srgbClr val="333333"/>
                </a:solidFill>
              </a:defRPr>
            </a:pPr>
            <a:r>
              <a:t>Conceptual Captions: 3.3M pairs</a:t>
            </a:r>
          </a:p>
          <a:p>
            <a:pPr lvl="1">
              <a:spcBef>
                <a:spcPts val="500"/>
              </a:spcBef>
              <a:defRPr sz="1300">
                <a:solidFill>
                  <a:srgbClr val="333333"/>
                </a:solidFill>
              </a:defRPr>
            </a:pPr>
            <a:r>
              <a:t>LAION-400M/5B: Large-scale web</a:t>
            </a:r>
          </a:p>
          <a:p>
            <a:pPr>
              <a:spcBef>
                <a:spcPts val="500"/>
              </a:spcBef>
              <a:defRPr sz="1500">
                <a:solidFill>
                  <a:srgbClr val="333333"/>
                </a:solidFill>
              </a:defRPr>
            </a:pPr>
            <a:r>
              <a:t>VQA:</a:t>
            </a:r>
          </a:p>
          <a:p>
            <a:pPr lvl="1">
              <a:spcBef>
                <a:spcPts val="500"/>
              </a:spcBef>
              <a:defRPr sz="1300">
                <a:solidFill>
                  <a:srgbClr val="333333"/>
                </a:solidFill>
              </a:defRPr>
            </a:pPr>
            <a:r>
              <a:t>VQAv2: 1.1M questions</a:t>
            </a:r>
          </a:p>
          <a:p>
            <a:pPr lvl="1">
              <a:spcBef>
                <a:spcPts val="500"/>
              </a:spcBef>
              <a:defRPr sz="1300">
                <a:solidFill>
                  <a:srgbClr val="333333"/>
                </a:solidFill>
              </a:defRPr>
            </a:pPr>
            <a:r>
              <a:t>GQA: 22M questions with graphs</a:t>
            </a:r>
          </a:p>
          <a:p>
            <a:pPr>
              <a:spcBef>
                <a:spcPts val="500"/>
              </a:spcBef>
              <a:defRPr sz="1500">
                <a:solidFill>
                  <a:srgbClr val="333333"/>
                </a:solidFill>
              </a:defRPr>
            </a:pPr>
            <a:r>
              <a:t>Video: WebVid, HowTo100M, YT-Temporal</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Pre-training Objectives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1. Contrastive Learning:</a:t>
            </a:r>
          </a:p>
          <a:p>
            <a:pPr lvl="1">
              <a:spcBef>
                <a:spcPts val="500"/>
              </a:spcBef>
              <a:defRPr sz="1300">
                <a:solidFill>
                  <a:srgbClr val="333333"/>
                </a:solidFill>
              </a:defRPr>
            </a:pPr>
            <a:r>
              <a:t>Align positive pairs, separate negatives</a:t>
            </a:r>
          </a:p>
          <a:p>
            <a:pPr lvl="1">
              <a:spcBef>
                <a:spcPts val="500"/>
              </a:spcBef>
              <a:defRPr sz="1300">
                <a:solidFill>
                  <a:srgbClr val="333333"/>
                </a:solidFill>
              </a:defRPr>
            </a:pPr>
            <a:r>
              <a:t>InfoNCE loss</a:t>
            </a:r>
          </a:p>
          <a:p>
            <a:pPr>
              <a:spcBef>
                <a:spcPts val="500"/>
              </a:spcBef>
              <a:defRPr sz="1500">
                <a:solidFill>
                  <a:srgbClr val="333333"/>
                </a:solidFill>
              </a:defRPr>
            </a:pPr>
            <a:r>
              <a:t>2. Masked Language/Image Modeling:</a:t>
            </a:r>
          </a:p>
          <a:p>
            <a:pPr lvl="1">
              <a:spcBef>
                <a:spcPts val="500"/>
              </a:spcBef>
              <a:defRPr sz="1300">
                <a:solidFill>
                  <a:srgbClr val="333333"/>
                </a:solidFill>
              </a:defRPr>
            </a:pPr>
            <a:r>
              <a:t>Mask tokens/patches, predict them</a:t>
            </a:r>
          </a:p>
          <a:p>
            <a:pPr lvl="1">
              <a:spcBef>
                <a:spcPts val="500"/>
              </a:spcBef>
              <a:defRPr sz="1300">
                <a:solidFill>
                  <a:srgbClr val="333333"/>
                </a:solidFill>
              </a:defRPr>
            </a:pPr>
            <a:r>
              <a:t>Learn contextualized representations</a:t>
            </a:r>
          </a:p>
          <a:p>
            <a:pPr>
              <a:spcBef>
                <a:spcPts val="500"/>
              </a:spcBef>
              <a:defRPr sz="1500">
                <a:solidFill>
                  <a:srgbClr val="333333"/>
                </a:solidFill>
              </a:defRPr>
            </a:pPr>
            <a:r>
              <a:t>3. Image-Text Matching:</a:t>
            </a:r>
          </a:p>
          <a:p>
            <a:pPr lvl="1">
              <a:spcBef>
                <a:spcPts val="500"/>
              </a:spcBef>
              <a:defRPr sz="1300">
                <a:solidFill>
                  <a:srgbClr val="333333"/>
                </a:solidFill>
              </a:defRPr>
            </a:pPr>
            <a:r>
              <a:t>Binary: match or not</a:t>
            </a:r>
          </a:p>
          <a:p>
            <a:pPr>
              <a:spcBef>
                <a:spcPts val="500"/>
              </a:spcBef>
              <a:defRPr sz="1500">
                <a:solidFill>
                  <a:srgbClr val="333333"/>
                </a:solidFill>
              </a:defRPr>
            </a:pPr>
            <a:r>
              <a:t>4. Generative objectives:</a:t>
            </a:r>
          </a:p>
          <a:p>
            <a:pPr lvl="1">
              <a:spcBef>
                <a:spcPts val="500"/>
              </a:spcBef>
              <a:defRPr sz="1300">
                <a:solidFill>
                  <a:srgbClr val="333333"/>
                </a:solidFill>
              </a:defRPr>
            </a:pPr>
            <a:r>
              <a:t>Caption/image generation</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Contrastive Learning</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Core idea: Similar items close, dissimilar far</a:t>
            </a:r>
          </a:p>
          <a:p>
            <a:pPr>
              <a:spcBef>
                <a:spcPts val="500"/>
              </a:spcBef>
              <a:defRPr sz="1500">
                <a:solidFill>
                  <a:srgbClr val="333333"/>
                </a:solidFill>
              </a:defRPr>
            </a:pPr>
            <a:r>
              <a:t>For multimodal: Match corresponding modalities</a:t>
            </a:r>
          </a:p>
          <a:p>
            <a:pPr>
              <a:spcBef>
                <a:spcPts val="500"/>
              </a:spcBef>
              <a:defRPr sz="1500">
                <a:solidFill>
                  <a:srgbClr val="333333"/>
                </a:solidFill>
              </a:defRPr>
            </a:pPr>
            <a:r>
              <a:t>Positive pairs: (image, caption) from same example</a:t>
            </a:r>
          </a:p>
          <a:p>
            <a:pPr>
              <a:spcBef>
                <a:spcPts val="500"/>
              </a:spcBef>
              <a:defRPr sz="1500">
                <a:solidFill>
                  <a:srgbClr val="333333"/>
                </a:solidFill>
              </a:defRPr>
            </a:pPr>
            <a:r>
              <a:t>Negative pairs: All other combinations</a:t>
            </a:r>
          </a:p>
          <a:p>
            <a:pPr>
              <a:spcBef>
                <a:spcPts val="500"/>
              </a:spcBef>
              <a:defRPr sz="1500">
                <a:solidFill>
                  <a:srgbClr val="333333"/>
                </a:solidFill>
              </a:defRPr>
            </a:pPr>
            <a:r>
              <a:t>Loss function: InfoNCE</a:t>
            </a:r>
          </a:p>
          <a:p>
            <a:pPr lvl="1">
              <a:spcBef>
                <a:spcPts val="500"/>
              </a:spcBef>
              <a:defRPr sz="1300">
                <a:solidFill>
                  <a:srgbClr val="333333"/>
                </a:solidFill>
              </a:defRPr>
            </a:pPr>
            <a:r>
              <a:t>Numerator: Similarity of positive</a:t>
            </a:r>
          </a:p>
          <a:p>
            <a:pPr lvl="1">
              <a:spcBef>
                <a:spcPts val="500"/>
              </a:spcBef>
              <a:defRPr sz="1300">
                <a:solidFill>
                  <a:srgbClr val="333333"/>
                </a:solidFill>
              </a:defRPr>
            </a:pPr>
            <a:r>
              <a:t>Denominator: Sum of all similarities</a:t>
            </a:r>
          </a:p>
          <a:p>
            <a:pPr>
              <a:spcBef>
                <a:spcPts val="500"/>
              </a:spcBef>
              <a:defRPr sz="1500">
                <a:solidFill>
                  <a:srgbClr val="333333"/>
                </a:solidFill>
              </a:defRPr>
            </a:pPr>
            <a:r>
              <a:t>Temperature scaling: Control sharpness</a:t>
            </a:r>
          </a:p>
          <a:p>
            <a:pPr>
              <a:spcBef>
                <a:spcPts val="500"/>
              </a:spcBef>
              <a:defRPr sz="1500">
                <a:solidFill>
                  <a:srgbClr val="333333"/>
                </a:solidFill>
              </a:defRPr>
            </a:pPr>
            <a:r>
              <a:t>Effective for aligned embeddings</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Masked Language/Image Modeling</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Masked Language Modeling (MLM):</a:t>
            </a:r>
          </a:p>
          <a:p>
            <a:pPr lvl="1">
              <a:spcBef>
                <a:spcPts val="500"/>
              </a:spcBef>
              <a:defRPr sz="1300">
                <a:solidFill>
                  <a:srgbClr val="333333"/>
                </a:solidFill>
              </a:defRPr>
            </a:pPr>
            <a:r>
              <a:t>Mask random tokens in text</a:t>
            </a:r>
          </a:p>
          <a:p>
            <a:pPr lvl="1">
              <a:spcBef>
                <a:spcPts val="500"/>
              </a:spcBef>
              <a:defRPr sz="1300">
                <a:solidFill>
                  <a:srgbClr val="333333"/>
                </a:solidFill>
              </a:defRPr>
            </a:pPr>
            <a:r>
              <a:t>Predict from context</a:t>
            </a:r>
          </a:p>
          <a:p>
            <a:pPr lvl="1">
              <a:spcBef>
                <a:spcPts val="500"/>
              </a:spcBef>
              <a:defRPr sz="1300">
                <a:solidFill>
                  <a:srgbClr val="333333"/>
                </a:solidFill>
              </a:defRPr>
            </a:pPr>
            <a:r>
              <a:t>Used in BERT, VilBERT</a:t>
            </a:r>
          </a:p>
          <a:p>
            <a:pPr>
              <a:spcBef>
                <a:spcPts val="500"/>
              </a:spcBef>
              <a:defRPr sz="1500">
                <a:solidFill>
                  <a:srgbClr val="333333"/>
                </a:solidFill>
              </a:defRPr>
            </a:pPr>
            <a:r>
              <a:t>Masked Image Modeling (MIM):</a:t>
            </a:r>
          </a:p>
          <a:p>
            <a:pPr lvl="1">
              <a:spcBef>
                <a:spcPts val="500"/>
              </a:spcBef>
              <a:defRPr sz="1300">
                <a:solidFill>
                  <a:srgbClr val="333333"/>
                </a:solidFill>
              </a:defRPr>
            </a:pPr>
            <a:r>
              <a:t>Mask random patches</a:t>
            </a:r>
          </a:p>
          <a:p>
            <a:pPr lvl="1">
              <a:spcBef>
                <a:spcPts val="500"/>
              </a:spcBef>
              <a:defRPr sz="1300">
                <a:solidFill>
                  <a:srgbClr val="333333"/>
                </a:solidFill>
              </a:defRPr>
            </a:pPr>
            <a:r>
              <a:t>Reconstruct patches</a:t>
            </a:r>
          </a:p>
          <a:p>
            <a:pPr lvl="1">
              <a:spcBef>
                <a:spcPts val="500"/>
              </a:spcBef>
              <a:defRPr sz="1300">
                <a:solidFill>
                  <a:srgbClr val="333333"/>
                </a:solidFill>
              </a:defRPr>
            </a:pPr>
            <a:r>
              <a:t>Used in MAE, SimMIM</a:t>
            </a:r>
          </a:p>
          <a:p>
            <a:pPr>
              <a:spcBef>
                <a:spcPts val="500"/>
              </a:spcBef>
              <a:defRPr sz="1500">
                <a:solidFill>
                  <a:srgbClr val="333333"/>
                </a:solidFill>
              </a:defRPr>
            </a:pPr>
            <a:r>
              <a:t>Multimodal: Mask in both</a:t>
            </a:r>
          </a:p>
          <a:p>
            <a:pPr>
              <a:spcBef>
                <a:spcPts val="500"/>
              </a:spcBef>
              <a:defRPr sz="1500">
                <a:solidFill>
                  <a:srgbClr val="333333"/>
                </a:solidFill>
              </a:defRPr>
            </a:pPr>
            <a:r>
              <a:t>Learn robust cross-modal representations</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Image-Text Matching (ITM)</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Binary classification task</a:t>
            </a:r>
          </a:p>
          <a:p>
            <a:pPr>
              <a:spcBef>
                <a:spcPts val="500"/>
              </a:spcBef>
              <a:defRPr sz="1500">
                <a:solidFill>
                  <a:srgbClr val="333333"/>
                </a:solidFill>
              </a:defRPr>
            </a:pPr>
            <a:r>
              <a:t>Input: Image and text pair</a:t>
            </a:r>
          </a:p>
          <a:p>
            <a:pPr>
              <a:spcBef>
                <a:spcPts val="500"/>
              </a:spcBef>
              <a:defRPr sz="1500">
                <a:solidFill>
                  <a:srgbClr val="333333"/>
                </a:solidFill>
              </a:defRPr>
            </a:pPr>
            <a:r>
              <a:t>Output: Match (1) or not (0)</a:t>
            </a:r>
          </a:p>
          <a:p>
            <a:pPr>
              <a:spcBef>
                <a:spcPts val="500"/>
              </a:spcBef>
              <a:defRPr sz="1500">
                <a:solidFill>
                  <a:srgbClr val="333333"/>
                </a:solidFill>
              </a:defRPr>
            </a:pPr>
            <a:r>
              <a:t>Requires cross-modal interaction</a:t>
            </a:r>
          </a:p>
          <a:p>
            <a:pPr lvl="1">
              <a:spcBef>
                <a:spcPts val="500"/>
              </a:spcBef>
              <a:defRPr sz="1300">
                <a:solidFill>
                  <a:srgbClr val="333333"/>
                </a:solidFill>
              </a:defRPr>
            </a:pPr>
            <a:r>
              <a:t>Usually through cross-attention</a:t>
            </a:r>
          </a:p>
          <a:p>
            <a:pPr>
              <a:spcBef>
                <a:spcPts val="500"/>
              </a:spcBef>
              <a:defRPr sz="1500">
                <a:solidFill>
                  <a:srgbClr val="333333"/>
                </a:solidFill>
              </a:defRPr>
            </a:pPr>
            <a:r>
              <a:t>Negative sampling strategies:</a:t>
            </a:r>
          </a:p>
          <a:p>
            <a:pPr lvl="1">
              <a:spcBef>
                <a:spcPts val="500"/>
              </a:spcBef>
              <a:defRPr sz="1300">
                <a:solidFill>
                  <a:srgbClr val="333333"/>
                </a:solidFill>
              </a:defRPr>
            </a:pPr>
            <a:r>
              <a:t>Random negatives from batch</a:t>
            </a:r>
          </a:p>
          <a:p>
            <a:pPr lvl="1">
              <a:spcBef>
                <a:spcPts val="500"/>
              </a:spcBef>
              <a:defRPr sz="1300">
                <a:solidFill>
                  <a:srgbClr val="333333"/>
                </a:solidFill>
              </a:defRPr>
            </a:pPr>
            <a:r>
              <a:t>Hard negatives: Similar but wrong</a:t>
            </a:r>
          </a:p>
          <a:p>
            <a:pPr>
              <a:spcBef>
                <a:spcPts val="500"/>
              </a:spcBef>
              <a:defRPr sz="1500">
                <a:solidFill>
                  <a:srgbClr val="333333"/>
                </a:solidFill>
              </a:defRPr>
            </a:pPr>
            <a:r>
              <a:t>Used alongside contrastive learning</a:t>
            </a:r>
          </a:p>
          <a:p>
            <a:pPr>
              <a:spcBef>
                <a:spcPts val="500"/>
              </a:spcBef>
              <a:defRPr sz="1500">
                <a:solidFill>
                  <a:srgbClr val="333333"/>
                </a:solidFill>
              </a:defRPr>
            </a:pPr>
            <a:r>
              <a:t>Improves fine-grained alignment</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Training Stability</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Challenges:</a:t>
            </a:r>
          </a:p>
          <a:p>
            <a:pPr lvl="1">
              <a:spcBef>
                <a:spcPts val="500"/>
              </a:spcBef>
              <a:defRPr sz="1300">
                <a:solidFill>
                  <a:srgbClr val="333333"/>
                </a:solidFill>
              </a:defRPr>
            </a:pPr>
            <a:r>
              <a:t>Large batch sizes needed</a:t>
            </a:r>
          </a:p>
          <a:p>
            <a:pPr lvl="1">
              <a:spcBef>
                <a:spcPts val="500"/>
              </a:spcBef>
              <a:defRPr sz="1300">
                <a:solidFill>
                  <a:srgbClr val="333333"/>
                </a:solidFill>
              </a:defRPr>
            </a:pPr>
            <a:r>
              <a:t>Gradient explosion/vanishing</a:t>
            </a:r>
          </a:p>
          <a:p>
            <a:pPr lvl="1">
              <a:spcBef>
                <a:spcPts val="500"/>
              </a:spcBef>
              <a:defRPr sz="1300">
                <a:solidFill>
                  <a:srgbClr val="333333"/>
                </a:solidFill>
              </a:defRPr>
            </a:pPr>
            <a:r>
              <a:t>Modality imbalance</a:t>
            </a:r>
          </a:p>
          <a:p>
            <a:pPr>
              <a:spcBef>
                <a:spcPts val="500"/>
              </a:spcBef>
              <a:defRPr sz="1500">
                <a:solidFill>
                  <a:srgbClr val="333333"/>
                </a:solidFill>
              </a:defRPr>
            </a:pPr>
            <a:r>
              <a:t>Solutions:</a:t>
            </a:r>
          </a:p>
          <a:p>
            <a:pPr lvl="1">
              <a:spcBef>
                <a:spcPts val="500"/>
              </a:spcBef>
              <a:defRPr sz="1300">
                <a:solidFill>
                  <a:srgbClr val="333333"/>
                </a:solidFill>
              </a:defRPr>
            </a:pPr>
            <a:r>
              <a:t>Gradient clipping</a:t>
            </a:r>
          </a:p>
          <a:p>
            <a:pPr lvl="1">
              <a:spcBef>
                <a:spcPts val="500"/>
              </a:spcBef>
              <a:defRPr sz="1300">
                <a:solidFill>
                  <a:srgbClr val="333333"/>
                </a:solidFill>
              </a:defRPr>
            </a:pPr>
            <a:r>
              <a:t>Layer normalization</a:t>
            </a:r>
          </a:p>
          <a:p>
            <a:pPr lvl="1">
              <a:spcBef>
                <a:spcPts val="500"/>
              </a:spcBef>
              <a:defRPr sz="1300">
                <a:solidFill>
                  <a:srgbClr val="333333"/>
                </a:solidFill>
              </a:defRPr>
            </a:pPr>
            <a:r>
              <a:t>Warmup learning rate schedule</a:t>
            </a:r>
          </a:p>
          <a:p>
            <a:pPr lvl="1">
              <a:spcBef>
                <a:spcPts val="500"/>
              </a:spcBef>
              <a:defRPr sz="1300">
                <a:solidFill>
                  <a:srgbClr val="333333"/>
                </a:solidFill>
              </a:defRPr>
            </a:pPr>
            <a:r>
              <a:t>Mixed precision (FP16/BF16)</a:t>
            </a:r>
          </a:p>
          <a:p>
            <a:pPr lvl="1">
              <a:spcBef>
                <a:spcPts val="500"/>
              </a:spcBef>
              <a:defRPr sz="1300">
                <a:solidFill>
                  <a:srgbClr val="333333"/>
                </a:solidFill>
              </a:defRPr>
            </a:pPr>
            <a:r>
              <a:t>Careful initialization</a:t>
            </a:r>
          </a:p>
          <a:p>
            <a:pPr>
              <a:spcBef>
                <a:spcPts val="500"/>
              </a:spcBef>
              <a:defRPr sz="1500">
                <a:solidFill>
                  <a:srgbClr val="333333"/>
                </a:solidFill>
              </a:defRPr>
            </a:pPr>
            <a:r>
              <a:t>Monitor: Loss curves, gradient norms</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Computational Requirements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Training large models is expensive</a:t>
            </a:r>
          </a:p>
          <a:p>
            <a:pPr>
              <a:spcBef>
                <a:spcPts val="500"/>
              </a:spcBef>
              <a:defRPr sz="1500">
                <a:solidFill>
                  <a:srgbClr val="333333"/>
                </a:solidFill>
              </a:defRPr>
            </a:pPr>
            <a:r>
              <a:t>Examples:</a:t>
            </a:r>
          </a:p>
          <a:p>
            <a:pPr lvl="1">
              <a:spcBef>
                <a:spcPts val="500"/>
              </a:spcBef>
              <a:defRPr sz="1300">
                <a:solidFill>
                  <a:srgbClr val="333333"/>
                </a:solidFill>
              </a:defRPr>
            </a:pPr>
            <a:r>
              <a:t>CLIP: 592 V100 GPUs, 12 days</a:t>
            </a:r>
          </a:p>
          <a:p>
            <a:pPr lvl="1">
              <a:spcBef>
                <a:spcPts val="500"/>
              </a:spcBef>
              <a:defRPr sz="1300">
                <a:solidFill>
                  <a:srgbClr val="333333"/>
                </a:solidFill>
              </a:defRPr>
            </a:pPr>
            <a:r>
              <a:t>Flamingo: TPUv4 pods, weeks</a:t>
            </a:r>
          </a:p>
          <a:p>
            <a:pPr lvl="1">
              <a:spcBef>
                <a:spcPts val="500"/>
              </a:spcBef>
              <a:defRPr sz="1300">
                <a:solidFill>
                  <a:srgbClr val="333333"/>
                </a:solidFill>
              </a:defRPr>
            </a:pPr>
            <a:r>
              <a:t>LLaVA: 8 A100 GPUs, ~1 day</a:t>
            </a:r>
          </a:p>
          <a:p>
            <a:pPr>
              <a:spcBef>
                <a:spcPts val="500"/>
              </a:spcBef>
              <a:defRPr sz="1500">
                <a:solidFill>
                  <a:srgbClr val="333333"/>
                </a:solidFill>
              </a:defRPr>
            </a:pPr>
            <a:r>
              <a:t>Factors: Model size, batch, data, resolution</a:t>
            </a:r>
          </a:p>
          <a:p>
            <a:pPr>
              <a:spcBef>
                <a:spcPts val="500"/>
              </a:spcBef>
              <a:defRPr sz="1500">
                <a:solidFill>
                  <a:srgbClr val="333333"/>
                </a:solidFill>
              </a:defRPr>
            </a:pPr>
            <a:r>
              <a:t>Cost reduction:</a:t>
            </a:r>
          </a:p>
          <a:p>
            <a:pPr lvl="1">
              <a:spcBef>
                <a:spcPts val="500"/>
              </a:spcBef>
              <a:defRPr sz="1300">
                <a:solidFill>
                  <a:srgbClr val="333333"/>
                </a:solidFill>
              </a:defRPr>
            </a:pPr>
            <a:r>
              <a:t>Freeze components</a:t>
            </a:r>
          </a:p>
          <a:p>
            <a:pPr lvl="1">
              <a:spcBef>
                <a:spcPts val="500"/>
              </a:spcBef>
              <a:defRPr sz="1300">
                <a:solidFill>
                  <a:srgbClr val="333333"/>
                </a:solidFill>
              </a:defRPr>
            </a:pPr>
            <a:r>
              <a:t>Lower resolution in pre-training</a:t>
            </a:r>
          </a:p>
          <a:p>
            <a:pPr lvl="1">
              <a:spcBef>
                <a:spcPts val="500"/>
              </a:spcBef>
              <a:defRPr sz="1300">
                <a:solidFill>
                  <a:srgbClr val="333333"/>
                </a:solidFill>
              </a:defRPr>
            </a:pPr>
            <a:r>
              <a:t>Use smaller models for research</a:t>
            </a:r>
          </a:p>
        </p:txBody>
      </p:sp>
      <p:pic>
        <p:nvPicPr>
          <p:cNvPr id="4" name="Picture 3" descr="image.png"/>
          <p:cNvPicPr>
            <a:picLocks noChangeAspect="1"/>
          </p:cNvPicPr>
          <p:nvPr/>
        </p:nvPicPr>
        <p:blipFill>
          <a:blip r:embed="rId2"/>
          <a:stretch>
            <a:fillRect/>
          </a:stretch>
        </p:blipFill>
        <p:spPr>
          <a:xfrm>
            <a:off x="5029200" y="1371600"/>
            <a:ext cx="3840480" cy="2126367"/>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Distributed Training</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Essential for large-scale training</a:t>
            </a:r>
          </a:p>
          <a:p>
            <a:pPr>
              <a:spcBef>
                <a:spcPts val="500"/>
              </a:spcBef>
              <a:defRPr sz="1500">
                <a:solidFill>
                  <a:srgbClr val="333333"/>
                </a:solidFill>
              </a:defRPr>
            </a:pPr>
            <a:r>
              <a:t>Strategies:</a:t>
            </a:r>
          </a:p>
          <a:p>
            <a:pPr lvl="1">
              <a:spcBef>
                <a:spcPts val="500"/>
              </a:spcBef>
              <a:defRPr sz="1300">
                <a:solidFill>
                  <a:srgbClr val="333333"/>
                </a:solidFill>
              </a:defRPr>
            </a:pPr>
            <a:r>
              <a:t>Data parallelism: Split data across GPUs</a:t>
            </a:r>
          </a:p>
          <a:p>
            <a:pPr lvl="1">
              <a:spcBef>
                <a:spcPts val="500"/>
              </a:spcBef>
              <a:defRPr sz="1300">
                <a:solidFill>
                  <a:srgbClr val="333333"/>
                </a:solidFill>
              </a:defRPr>
            </a:pPr>
            <a:r>
              <a:t>Model parallelism: Split model across GPUs</a:t>
            </a:r>
          </a:p>
          <a:p>
            <a:pPr lvl="1">
              <a:spcBef>
                <a:spcPts val="500"/>
              </a:spcBef>
              <a:defRPr sz="1300">
                <a:solidFill>
                  <a:srgbClr val="333333"/>
                </a:solidFill>
              </a:defRPr>
            </a:pPr>
            <a:r>
              <a:t>Pipeline parallelism: Split layers</a:t>
            </a:r>
          </a:p>
          <a:p>
            <a:pPr lvl="1">
              <a:spcBef>
                <a:spcPts val="500"/>
              </a:spcBef>
              <a:defRPr sz="1300">
                <a:solidFill>
                  <a:srgbClr val="333333"/>
                </a:solidFill>
              </a:defRPr>
            </a:pPr>
            <a:r>
              <a:t>Tensor parallelism: Split tensors</a:t>
            </a:r>
          </a:p>
          <a:p>
            <a:pPr>
              <a:spcBef>
                <a:spcPts val="500"/>
              </a:spcBef>
              <a:defRPr sz="1500">
                <a:solidFill>
                  <a:srgbClr val="333333"/>
                </a:solidFill>
              </a:defRPr>
            </a:pPr>
            <a:r>
              <a:t>Frameworks:</a:t>
            </a:r>
          </a:p>
          <a:p>
            <a:pPr lvl="1">
              <a:spcBef>
                <a:spcPts val="500"/>
              </a:spcBef>
              <a:defRPr sz="1300">
                <a:solidFill>
                  <a:srgbClr val="333333"/>
                </a:solidFill>
              </a:defRPr>
            </a:pPr>
            <a:r>
              <a:t>PyTorch DDP, FSDP</a:t>
            </a:r>
          </a:p>
          <a:p>
            <a:pPr lvl="1">
              <a:spcBef>
                <a:spcPts val="500"/>
              </a:spcBef>
              <a:defRPr sz="1300">
                <a:solidFill>
                  <a:srgbClr val="333333"/>
                </a:solidFill>
              </a:defRPr>
            </a:pPr>
            <a:r>
              <a:t>DeepSpeed, Megatron-LM</a:t>
            </a:r>
          </a:p>
          <a:p>
            <a:pPr>
              <a:spcBef>
                <a:spcPts val="500"/>
              </a:spcBef>
              <a:defRPr sz="1500">
                <a:solidFill>
                  <a:srgbClr val="333333"/>
                </a:solidFill>
              </a:defRPr>
            </a:pPr>
            <a:r>
              <a:t>Communication overhead: Critical bottleneck</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Training Pipeline</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1. Data preparation:</a:t>
            </a:r>
          </a:p>
          <a:p>
            <a:pPr lvl="1">
              <a:spcBef>
                <a:spcPts val="500"/>
              </a:spcBef>
              <a:defRPr sz="1300">
                <a:solidFill>
                  <a:srgbClr val="333333"/>
                </a:solidFill>
              </a:defRPr>
            </a:pPr>
            <a:r>
              <a:t>Collect and clean data</a:t>
            </a:r>
          </a:p>
          <a:p>
            <a:pPr lvl="1">
              <a:spcBef>
                <a:spcPts val="500"/>
              </a:spcBef>
              <a:defRPr sz="1300">
                <a:solidFill>
                  <a:srgbClr val="333333"/>
                </a:solidFill>
              </a:defRPr>
            </a:pPr>
            <a:r>
              <a:t>Create train/val/test splits</a:t>
            </a:r>
          </a:p>
          <a:p>
            <a:pPr>
              <a:spcBef>
                <a:spcPts val="500"/>
              </a:spcBef>
              <a:defRPr sz="1500">
                <a:solidFill>
                  <a:srgbClr val="333333"/>
                </a:solidFill>
              </a:defRPr>
            </a:pPr>
            <a:r>
              <a:t>2. Preprocessing:</a:t>
            </a:r>
          </a:p>
          <a:p>
            <a:pPr lvl="1">
              <a:spcBef>
                <a:spcPts val="500"/>
              </a:spcBef>
              <a:defRPr sz="1300">
                <a:solidFill>
                  <a:srgbClr val="333333"/>
                </a:solidFill>
              </a:defRPr>
            </a:pPr>
            <a:r>
              <a:t>Tokenization, resizing</a:t>
            </a:r>
          </a:p>
          <a:p>
            <a:pPr lvl="1">
              <a:spcBef>
                <a:spcPts val="500"/>
              </a:spcBef>
              <a:defRPr sz="1300">
                <a:solidFill>
                  <a:srgbClr val="333333"/>
                </a:solidFill>
              </a:defRPr>
            </a:pPr>
            <a:r>
              <a:t>Augmentation strategies</a:t>
            </a:r>
          </a:p>
          <a:p>
            <a:pPr>
              <a:spcBef>
                <a:spcPts val="500"/>
              </a:spcBef>
              <a:defRPr sz="1500">
                <a:solidFill>
                  <a:srgbClr val="333333"/>
                </a:solidFill>
              </a:defRPr>
            </a:pPr>
            <a:r>
              <a:t>3. Model initialization:</a:t>
            </a:r>
          </a:p>
          <a:p>
            <a:pPr lvl="1">
              <a:spcBef>
                <a:spcPts val="500"/>
              </a:spcBef>
              <a:defRPr sz="1300">
                <a:solidFill>
                  <a:srgbClr val="333333"/>
                </a:solidFill>
              </a:defRPr>
            </a:pPr>
            <a:r>
              <a:t>Load pre-trained weights</a:t>
            </a:r>
          </a:p>
          <a:p>
            <a:pPr>
              <a:spcBef>
                <a:spcPts val="500"/>
              </a:spcBef>
              <a:defRPr sz="1500">
                <a:solidFill>
                  <a:srgbClr val="333333"/>
                </a:solidFill>
              </a:defRPr>
            </a:pPr>
            <a:r>
              <a:t>4. Training loop:</a:t>
            </a:r>
          </a:p>
          <a:p>
            <a:pPr lvl="1">
              <a:spcBef>
                <a:spcPts val="500"/>
              </a:spcBef>
              <a:defRPr sz="1300">
                <a:solidFill>
                  <a:srgbClr val="333333"/>
                </a:solidFill>
              </a:defRPr>
            </a:pPr>
            <a:r>
              <a:t>Forward, loss, backward, update</a:t>
            </a:r>
          </a:p>
          <a:p>
            <a:pPr>
              <a:spcBef>
                <a:spcPts val="500"/>
              </a:spcBef>
              <a:defRPr sz="1500">
                <a:solidFill>
                  <a:srgbClr val="333333"/>
                </a:solidFill>
              </a:defRPr>
            </a:pPr>
            <a:r>
              <a:t>5. Evaluation and checkpointing</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Evaluation Metrics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Image-Text Retrieval:</a:t>
            </a:r>
          </a:p>
          <a:p>
            <a:pPr lvl="1">
              <a:spcBef>
                <a:spcPts val="500"/>
              </a:spcBef>
              <a:defRPr sz="1300">
                <a:solidFill>
                  <a:srgbClr val="333333"/>
                </a:solidFill>
              </a:defRPr>
            </a:pPr>
            <a:r>
              <a:t>Recall@K, Mean Rank</a:t>
            </a:r>
          </a:p>
          <a:p>
            <a:pPr>
              <a:spcBef>
                <a:spcPts val="500"/>
              </a:spcBef>
              <a:defRPr sz="1500">
                <a:solidFill>
                  <a:srgbClr val="333333"/>
                </a:solidFill>
              </a:defRPr>
            </a:pPr>
            <a:r>
              <a:t>VQA:</a:t>
            </a:r>
          </a:p>
          <a:p>
            <a:pPr lvl="1">
              <a:spcBef>
                <a:spcPts val="500"/>
              </a:spcBef>
              <a:defRPr sz="1300">
                <a:solidFill>
                  <a:srgbClr val="333333"/>
                </a:solidFill>
              </a:defRPr>
            </a:pPr>
            <a:r>
              <a:t>Accuracy, VQA score</a:t>
            </a:r>
          </a:p>
          <a:p>
            <a:pPr>
              <a:spcBef>
                <a:spcPts val="500"/>
              </a:spcBef>
              <a:defRPr sz="1500">
                <a:solidFill>
                  <a:srgbClr val="333333"/>
                </a:solidFill>
              </a:defRPr>
            </a:pPr>
            <a:r>
              <a:t>Image Captioning:</a:t>
            </a:r>
          </a:p>
          <a:p>
            <a:pPr lvl="1">
              <a:spcBef>
                <a:spcPts val="500"/>
              </a:spcBef>
              <a:defRPr sz="1300">
                <a:solidFill>
                  <a:srgbClr val="333333"/>
                </a:solidFill>
              </a:defRPr>
            </a:pPr>
            <a:r>
              <a:t>BLEU, METEOR, CIDEr, SPICE</a:t>
            </a:r>
          </a:p>
          <a:p>
            <a:pPr>
              <a:spcBef>
                <a:spcPts val="500"/>
              </a:spcBef>
              <a:defRPr sz="1500">
                <a:solidFill>
                  <a:srgbClr val="333333"/>
                </a:solidFill>
              </a:defRPr>
            </a:pPr>
            <a:r>
              <a:t>Zero-shot Classification:</a:t>
            </a:r>
          </a:p>
          <a:p>
            <a:pPr lvl="1">
              <a:spcBef>
                <a:spcPts val="500"/>
              </a:spcBef>
              <a:defRPr sz="1300">
                <a:solidFill>
                  <a:srgbClr val="333333"/>
                </a:solidFill>
              </a:defRPr>
            </a:pPr>
            <a:r>
              <a:t>Top-1/Top-5 accuracy</a:t>
            </a:r>
          </a:p>
          <a:p>
            <a:pPr>
              <a:spcBef>
                <a:spcPts val="500"/>
              </a:spcBef>
              <a:defRPr sz="1500">
                <a:solidFill>
                  <a:srgbClr val="333333"/>
                </a:solidFill>
              </a:defRPr>
            </a:pPr>
            <a:r>
              <a:t>General:</a:t>
            </a:r>
          </a:p>
          <a:p>
            <a:pPr lvl="1">
              <a:spcBef>
                <a:spcPts val="500"/>
              </a:spcBef>
              <a:defRPr sz="1300">
                <a:solidFill>
                  <a:srgbClr val="333333"/>
                </a:solidFill>
              </a:defRPr>
            </a:pPr>
            <a:r>
              <a:t>Cross-modal similarity</a:t>
            </a:r>
          </a:p>
          <a:p>
            <a:pPr lvl="1">
              <a:spcBef>
                <a:spcPts val="500"/>
              </a:spcBef>
              <a:defRPr sz="1300">
                <a:solidFill>
                  <a:srgbClr val="333333"/>
                </a:solidFill>
              </a:defRPr>
            </a:pPr>
            <a:r>
              <a:t>Human evaluation</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Key Benchmarks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Classification: ImageNet, CIFAR</a:t>
            </a:r>
          </a:p>
          <a:p>
            <a:pPr>
              <a:spcBef>
                <a:spcPts val="500"/>
              </a:spcBef>
              <a:defRPr sz="1500">
                <a:solidFill>
                  <a:srgbClr val="333333"/>
                </a:solidFill>
              </a:defRPr>
            </a:pPr>
            <a:r>
              <a:t>VQA: VQAv2, GQA, OK-VQA, VizWiz</a:t>
            </a:r>
          </a:p>
          <a:p>
            <a:pPr>
              <a:spcBef>
                <a:spcPts val="500"/>
              </a:spcBef>
              <a:defRPr sz="1500">
                <a:solidFill>
                  <a:srgbClr val="333333"/>
                </a:solidFill>
              </a:defRPr>
            </a:pPr>
            <a:r>
              <a:t>Captioning: COCO Captions, NoCaps</a:t>
            </a:r>
          </a:p>
          <a:p>
            <a:pPr>
              <a:spcBef>
                <a:spcPts val="500"/>
              </a:spcBef>
              <a:defRPr sz="1500">
                <a:solidFill>
                  <a:srgbClr val="333333"/>
                </a:solidFill>
              </a:defRPr>
            </a:pPr>
            <a:r>
              <a:t>Retrieval: COCO, Flickr30K</a:t>
            </a:r>
          </a:p>
          <a:p>
            <a:pPr>
              <a:spcBef>
                <a:spcPts val="500"/>
              </a:spcBef>
              <a:defRPr sz="1500">
                <a:solidFill>
                  <a:srgbClr val="333333"/>
                </a:solidFill>
              </a:defRPr>
            </a:pPr>
            <a:r>
              <a:t>Reasoning: NLVR2, CLEVR</a:t>
            </a:r>
          </a:p>
          <a:p>
            <a:pPr>
              <a:spcBef>
                <a:spcPts val="500"/>
              </a:spcBef>
              <a:defRPr sz="1500">
                <a:solidFill>
                  <a:srgbClr val="333333"/>
                </a:solidFill>
              </a:defRPr>
            </a:pPr>
            <a:r>
              <a:t>OCR: TextVQA, DocVQA, Infographics</a:t>
            </a:r>
          </a:p>
          <a:p>
            <a:pPr>
              <a:spcBef>
                <a:spcPts val="500"/>
              </a:spcBef>
              <a:defRPr sz="1500">
                <a:solidFill>
                  <a:srgbClr val="333333"/>
                </a:solidFill>
              </a:defRPr>
            </a:pPr>
            <a:r>
              <a:t>Video: MSRVTT, ActivityNet</a:t>
            </a:r>
          </a:p>
          <a:p>
            <a:pPr>
              <a:spcBef>
                <a:spcPts val="500"/>
              </a:spcBef>
              <a:defRPr sz="1500">
                <a:solidFill>
                  <a:srgbClr val="333333"/>
                </a:solidFill>
              </a:defRPr>
            </a:pPr>
            <a:r>
              <a:t>Comprehensive: MMBench, SEED-Bench, MM-Vet</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IV: Fine-tuning Strategies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Fine-tuning Overview</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Most practical approach</a:t>
            </a:r>
          </a:p>
          <a:p>
            <a:pPr>
              <a:spcBef>
                <a:spcPts val="500"/>
              </a:spcBef>
              <a:defRPr sz="1500">
                <a:solidFill>
                  <a:srgbClr val="333333"/>
                </a:solidFill>
              </a:defRPr>
            </a:pPr>
            <a:r>
              <a:t>Start with pre-trained multimodal model</a:t>
            </a:r>
          </a:p>
          <a:p>
            <a:pPr>
              <a:spcBef>
                <a:spcPts val="500"/>
              </a:spcBef>
              <a:defRPr sz="1500">
                <a:solidFill>
                  <a:srgbClr val="333333"/>
                </a:solidFill>
              </a:defRPr>
            </a:pPr>
            <a:r>
              <a:t>Adapt to specific task or domain</a:t>
            </a:r>
          </a:p>
          <a:p>
            <a:pPr>
              <a:spcBef>
                <a:spcPts val="500"/>
              </a:spcBef>
              <a:defRPr sz="1500">
                <a:solidFill>
                  <a:srgbClr val="333333"/>
                </a:solidFill>
              </a:defRPr>
            </a:pPr>
            <a:r>
              <a:t>Advantages:</a:t>
            </a:r>
          </a:p>
          <a:p>
            <a:pPr lvl="1">
              <a:spcBef>
                <a:spcPts val="500"/>
              </a:spcBef>
              <a:defRPr sz="1300">
                <a:solidFill>
                  <a:srgbClr val="333333"/>
                </a:solidFill>
              </a:defRPr>
            </a:pPr>
            <a:r>
              <a:t>Less data required</a:t>
            </a:r>
          </a:p>
          <a:p>
            <a:pPr lvl="1">
              <a:spcBef>
                <a:spcPts val="500"/>
              </a:spcBef>
              <a:defRPr sz="1300">
                <a:solidFill>
                  <a:srgbClr val="333333"/>
                </a:solidFill>
              </a:defRPr>
            </a:pPr>
            <a:r>
              <a:t>Less compute required</a:t>
            </a:r>
          </a:p>
          <a:p>
            <a:pPr lvl="1">
              <a:spcBef>
                <a:spcPts val="500"/>
              </a:spcBef>
              <a:defRPr sz="1300">
                <a:solidFill>
                  <a:srgbClr val="333333"/>
                </a:solidFill>
              </a:defRPr>
            </a:pPr>
            <a:r>
              <a:t>Faster convergence</a:t>
            </a:r>
          </a:p>
          <a:p>
            <a:pPr lvl="1">
              <a:spcBef>
                <a:spcPts val="500"/>
              </a:spcBef>
              <a:defRPr sz="1300">
                <a:solidFill>
                  <a:srgbClr val="333333"/>
                </a:solidFill>
              </a:defRPr>
            </a:pPr>
            <a:r>
              <a:t>Better performance</a:t>
            </a:r>
          </a:p>
          <a:p>
            <a:pPr>
              <a:spcBef>
                <a:spcPts val="500"/>
              </a:spcBef>
              <a:defRPr sz="1500">
                <a:solidFill>
                  <a:srgbClr val="333333"/>
                </a:solidFill>
              </a:defRPr>
            </a:pPr>
            <a:r>
              <a:t>Types: Full vs. parameter-efficient</a:t>
            </a:r>
          </a:p>
        </p:txBody>
      </p:sp>
      <p:pic>
        <p:nvPicPr>
          <p:cNvPr id="4" name="Picture 3" descr="image.png"/>
          <p:cNvPicPr>
            <a:picLocks noChangeAspect="1"/>
          </p:cNvPicPr>
          <p:nvPr/>
        </p:nvPicPr>
        <p:blipFill>
          <a:blip r:embed="rId2"/>
          <a:stretch>
            <a:fillRect/>
          </a:stretch>
        </p:blipFill>
        <p:spPr>
          <a:xfrm>
            <a:off x="5029200" y="1371600"/>
            <a:ext cx="3840480" cy="2122371"/>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Transfer Learning</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Leverage knowledge from pre-training</a:t>
            </a:r>
          </a:p>
          <a:p>
            <a:pPr>
              <a:spcBef>
                <a:spcPts val="500"/>
              </a:spcBef>
              <a:defRPr sz="1500">
                <a:solidFill>
                  <a:srgbClr val="333333"/>
                </a:solidFill>
              </a:defRPr>
            </a:pPr>
            <a:r>
              <a:t>Pre-trained model already understands:</a:t>
            </a:r>
          </a:p>
          <a:p>
            <a:pPr lvl="1">
              <a:spcBef>
                <a:spcPts val="500"/>
              </a:spcBef>
              <a:defRPr sz="1300">
                <a:solidFill>
                  <a:srgbClr val="333333"/>
                </a:solidFill>
              </a:defRPr>
            </a:pPr>
            <a:r>
              <a:t>Visual concepts</a:t>
            </a:r>
          </a:p>
          <a:p>
            <a:pPr lvl="1">
              <a:spcBef>
                <a:spcPts val="500"/>
              </a:spcBef>
              <a:defRPr sz="1300">
                <a:solidFill>
                  <a:srgbClr val="333333"/>
                </a:solidFill>
              </a:defRPr>
            </a:pPr>
            <a:r>
              <a:t>Language semantics</a:t>
            </a:r>
          </a:p>
          <a:p>
            <a:pPr lvl="1">
              <a:spcBef>
                <a:spcPts val="500"/>
              </a:spcBef>
              <a:defRPr sz="1300">
                <a:solidFill>
                  <a:srgbClr val="333333"/>
                </a:solidFill>
              </a:defRPr>
            </a:pPr>
            <a:r>
              <a:t>Cross-modal alignment</a:t>
            </a:r>
          </a:p>
          <a:p>
            <a:pPr>
              <a:spcBef>
                <a:spcPts val="500"/>
              </a:spcBef>
              <a:defRPr sz="1500">
                <a:solidFill>
                  <a:srgbClr val="333333"/>
                </a:solidFill>
              </a:defRPr>
            </a:pPr>
            <a:r>
              <a:t>Fine-tuning teaches:</a:t>
            </a:r>
          </a:p>
          <a:p>
            <a:pPr lvl="1">
              <a:spcBef>
                <a:spcPts val="500"/>
              </a:spcBef>
              <a:defRPr sz="1300">
                <a:solidFill>
                  <a:srgbClr val="333333"/>
                </a:solidFill>
              </a:defRPr>
            </a:pPr>
            <a:r>
              <a:t>Task-specific patterns</a:t>
            </a:r>
          </a:p>
          <a:p>
            <a:pPr lvl="1">
              <a:spcBef>
                <a:spcPts val="500"/>
              </a:spcBef>
              <a:defRPr sz="1300">
                <a:solidFill>
                  <a:srgbClr val="333333"/>
                </a:solidFill>
              </a:defRPr>
            </a:pPr>
            <a:r>
              <a:t>Domain-specific knowledge</a:t>
            </a:r>
          </a:p>
          <a:p>
            <a:pPr lvl="1">
              <a:spcBef>
                <a:spcPts val="500"/>
              </a:spcBef>
              <a:defRPr sz="1300">
                <a:solidFill>
                  <a:srgbClr val="333333"/>
                </a:solidFill>
              </a:defRPr>
            </a:pPr>
            <a:r>
              <a:t>Output format requirements</a:t>
            </a:r>
          </a:p>
          <a:p>
            <a:pPr>
              <a:spcBef>
                <a:spcPts val="500"/>
              </a:spcBef>
              <a:defRPr sz="1500">
                <a:solidFill>
                  <a:srgbClr val="333333"/>
                </a:solidFill>
              </a:defRPr>
            </a:pPr>
            <a:r>
              <a:t>Critical: Choose appropriate base model</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Parameter-Efficient Fine-tuning (PEFT)</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Goal: Fine-tune with minimal parameters</a:t>
            </a:r>
          </a:p>
          <a:p>
            <a:pPr>
              <a:spcBef>
                <a:spcPts val="500"/>
              </a:spcBef>
              <a:defRPr sz="1500">
                <a:solidFill>
                  <a:srgbClr val="333333"/>
                </a:solidFill>
              </a:defRPr>
            </a:pPr>
            <a:r>
              <a:t>Why PEFT?</a:t>
            </a:r>
          </a:p>
          <a:p>
            <a:pPr lvl="1">
              <a:spcBef>
                <a:spcPts val="500"/>
              </a:spcBef>
              <a:defRPr sz="1300">
                <a:solidFill>
                  <a:srgbClr val="333333"/>
                </a:solidFill>
              </a:defRPr>
            </a:pPr>
            <a:r>
              <a:t>Large models too expensive</a:t>
            </a:r>
          </a:p>
          <a:p>
            <a:pPr lvl="1">
              <a:spcBef>
                <a:spcPts val="500"/>
              </a:spcBef>
              <a:defRPr sz="1300">
                <a:solidFill>
                  <a:srgbClr val="333333"/>
                </a:solidFill>
              </a:defRPr>
            </a:pPr>
            <a:r>
              <a:t>Reduced memory</a:t>
            </a:r>
          </a:p>
          <a:p>
            <a:pPr lvl="1">
              <a:spcBef>
                <a:spcPts val="500"/>
              </a:spcBef>
              <a:defRPr sz="1300">
                <a:solidFill>
                  <a:srgbClr val="333333"/>
                </a:solidFill>
              </a:defRPr>
            </a:pPr>
            <a:r>
              <a:t>Faster training</a:t>
            </a:r>
          </a:p>
          <a:p>
            <a:pPr lvl="1">
              <a:spcBef>
                <a:spcPts val="500"/>
              </a:spcBef>
              <a:defRPr sz="1300">
                <a:solidFill>
                  <a:srgbClr val="333333"/>
                </a:solidFill>
              </a:defRPr>
            </a:pPr>
            <a:r>
              <a:t>Easy deployment (store adapters)</a:t>
            </a:r>
          </a:p>
          <a:p>
            <a:pPr>
              <a:spcBef>
                <a:spcPts val="500"/>
              </a:spcBef>
              <a:defRPr sz="1500">
                <a:solidFill>
                  <a:srgbClr val="333333"/>
                </a:solidFill>
              </a:defRPr>
            </a:pPr>
            <a:r>
              <a:t>Methods:</a:t>
            </a:r>
          </a:p>
          <a:p>
            <a:pPr lvl="1">
              <a:spcBef>
                <a:spcPts val="500"/>
              </a:spcBef>
              <a:defRPr sz="1300">
                <a:solidFill>
                  <a:srgbClr val="333333"/>
                </a:solidFill>
              </a:defRPr>
            </a:pPr>
            <a:r>
              <a:t>LoRA, Adapters, Prompt tuning</a:t>
            </a:r>
          </a:p>
          <a:p>
            <a:pPr>
              <a:spcBef>
                <a:spcPts val="500"/>
              </a:spcBef>
              <a:defRPr sz="1500">
                <a:solidFill>
                  <a:srgbClr val="333333"/>
                </a:solidFill>
              </a:defRPr>
            </a:pPr>
            <a:r>
              <a:t>Often achieves comparable performance</a:t>
            </a:r>
          </a:p>
        </p:txBody>
      </p:sp>
      <p:pic>
        <p:nvPicPr>
          <p:cNvPr id="4" name="Picture 3" descr="image.png"/>
          <p:cNvPicPr>
            <a:picLocks noChangeAspect="1"/>
          </p:cNvPicPr>
          <p:nvPr/>
        </p:nvPicPr>
        <p:blipFill>
          <a:blip r:embed="rId2"/>
          <a:stretch>
            <a:fillRect/>
          </a:stretch>
        </p:blipFill>
        <p:spPr>
          <a:xfrm>
            <a:off x="5029200" y="1371600"/>
            <a:ext cx="3840480" cy="2120378"/>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LoRA: Low-Rank Adaptation</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Learn low-rank updates to weights</a:t>
            </a:r>
          </a:p>
          <a:p>
            <a:pPr>
              <a:spcBef>
                <a:spcPts val="500"/>
              </a:spcBef>
              <a:defRPr sz="1500">
                <a:solidFill>
                  <a:srgbClr val="333333"/>
                </a:solidFill>
              </a:defRPr>
            </a:pPr>
            <a:r>
              <a:t>W_new = W_frozen + B × A</a:t>
            </a:r>
          </a:p>
          <a:p>
            <a:pPr lvl="1">
              <a:spcBef>
                <a:spcPts val="500"/>
              </a:spcBef>
              <a:defRPr sz="1300">
                <a:solidFill>
                  <a:srgbClr val="333333"/>
                </a:solidFill>
              </a:defRPr>
            </a:pPr>
            <a:r>
              <a:t>W_frozen: Original weights</a:t>
            </a:r>
          </a:p>
          <a:p>
            <a:pPr lvl="1">
              <a:spcBef>
                <a:spcPts val="500"/>
              </a:spcBef>
              <a:defRPr sz="1300">
                <a:solidFill>
                  <a:srgbClr val="333333"/>
                </a:solidFill>
              </a:defRPr>
            </a:pPr>
            <a:r>
              <a:t>B, A: Low-rank matrices (rank r)</a:t>
            </a:r>
          </a:p>
          <a:p>
            <a:pPr>
              <a:spcBef>
                <a:spcPts val="500"/>
              </a:spcBef>
              <a:defRPr sz="1500">
                <a:solidFill>
                  <a:srgbClr val="333333"/>
                </a:solidFill>
              </a:defRPr>
            </a:pPr>
            <a:r>
              <a:t>Only train B and A (1-2% of parameters)</a:t>
            </a:r>
          </a:p>
          <a:p>
            <a:pPr>
              <a:spcBef>
                <a:spcPts val="500"/>
              </a:spcBef>
              <a:defRPr sz="1500">
                <a:solidFill>
                  <a:srgbClr val="333333"/>
                </a:solidFill>
              </a:defRPr>
            </a:pPr>
            <a:r>
              <a:t>Apply to:</a:t>
            </a:r>
          </a:p>
          <a:p>
            <a:pPr lvl="1">
              <a:spcBef>
                <a:spcPts val="500"/>
              </a:spcBef>
              <a:defRPr sz="1300">
                <a:solidFill>
                  <a:srgbClr val="333333"/>
                </a:solidFill>
              </a:defRPr>
            </a:pPr>
            <a:r>
              <a:t>Attention projections (Q, K, V)</a:t>
            </a:r>
          </a:p>
          <a:p>
            <a:pPr lvl="1">
              <a:spcBef>
                <a:spcPts val="500"/>
              </a:spcBef>
              <a:defRPr sz="1300">
                <a:solidFill>
                  <a:srgbClr val="333333"/>
                </a:solidFill>
              </a:defRPr>
            </a:pPr>
            <a:r>
              <a:t>Feed-forward layers</a:t>
            </a:r>
          </a:p>
          <a:p>
            <a:pPr>
              <a:spcBef>
                <a:spcPts val="500"/>
              </a:spcBef>
              <a:defRPr sz="1500">
                <a:solidFill>
                  <a:srgbClr val="333333"/>
                </a:solidFill>
              </a:defRPr>
            </a:pPr>
            <a:r>
              <a:t>Works well for LLM in VLMs</a:t>
            </a:r>
          </a:p>
          <a:p>
            <a:pPr>
              <a:spcBef>
                <a:spcPts val="500"/>
              </a:spcBef>
              <a:defRPr sz="1500">
                <a:solidFill>
                  <a:srgbClr val="333333"/>
                </a:solidFill>
              </a:defRPr>
            </a:pPr>
            <a:r>
              <a:t>Implementation: PEFT library</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Adapter Modules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Small bottleneck layers inserted in network</a:t>
            </a:r>
          </a:p>
          <a:p>
            <a:pPr>
              <a:spcBef>
                <a:spcPts val="500"/>
              </a:spcBef>
              <a:defRPr sz="1500">
                <a:solidFill>
                  <a:srgbClr val="333333"/>
                </a:solidFill>
              </a:defRPr>
            </a:pPr>
            <a:r>
              <a:t>Structure:</a:t>
            </a:r>
          </a:p>
          <a:p>
            <a:pPr lvl="1">
              <a:spcBef>
                <a:spcPts val="500"/>
              </a:spcBef>
              <a:defRPr sz="1300">
                <a:solidFill>
                  <a:srgbClr val="333333"/>
                </a:solidFill>
              </a:defRPr>
            </a:pPr>
            <a:r>
              <a:t>Down-projection: d → r</a:t>
            </a:r>
          </a:p>
          <a:p>
            <a:pPr lvl="1">
              <a:spcBef>
                <a:spcPts val="500"/>
              </a:spcBef>
              <a:defRPr sz="1300">
                <a:solidFill>
                  <a:srgbClr val="333333"/>
                </a:solidFill>
              </a:defRPr>
            </a:pPr>
            <a:r>
              <a:t>Non-linearity</a:t>
            </a:r>
          </a:p>
          <a:p>
            <a:pPr lvl="1">
              <a:spcBef>
                <a:spcPts val="500"/>
              </a:spcBef>
              <a:defRPr sz="1300">
                <a:solidFill>
                  <a:srgbClr val="333333"/>
                </a:solidFill>
              </a:defRPr>
            </a:pPr>
            <a:r>
              <a:t>Up-projection: r → d</a:t>
            </a:r>
          </a:p>
          <a:p>
            <a:pPr lvl="1">
              <a:spcBef>
                <a:spcPts val="500"/>
              </a:spcBef>
              <a:defRPr sz="1300">
                <a:solidFill>
                  <a:srgbClr val="333333"/>
                </a:solidFill>
              </a:defRPr>
            </a:pPr>
            <a:r>
              <a:t>Residual connection</a:t>
            </a:r>
          </a:p>
          <a:p>
            <a:pPr>
              <a:spcBef>
                <a:spcPts val="500"/>
              </a:spcBef>
              <a:defRPr sz="1500">
                <a:solidFill>
                  <a:srgbClr val="333333"/>
                </a:solidFill>
              </a:defRPr>
            </a:pPr>
            <a:r>
              <a:t>Inserted after attention and FFN</a:t>
            </a:r>
          </a:p>
          <a:p>
            <a:pPr>
              <a:spcBef>
                <a:spcPts val="500"/>
              </a:spcBef>
              <a:defRPr sz="1500">
                <a:solidFill>
                  <a:srgbClr val="333333"/>
                </a:solidFill>
              </a:defRPr>
            </a:pPr>
            <a:r>
              <a:t>Only adapters trained</a:t>
            </a:r>
          </a:p>
          <a:p>
            <a:pPr>
              <a:spcBef>
                <a:spcPts val="500"/>
              </a:spcBef>
              <a:defRPr sz="1500">
                <a:solidFill>
                  <a:srgbClr val="333333"/>
                </a:solidFill>
              </a:defRPr>
            </a:pPr>
            <a:r>
              <a:t>Slightly more parameters than LoRA</a:t>
            </a:r>
          </a:p>
          <a:p>
            <a:pPr>
              <a:spcBef>
                <a:spcPts val="500"/>
              </a:spcBef>
              <a:defRPr sz="1500">
                <a:solidFill>
                  <a:srgbClr val="333333"/>
                </a:solidFill>
              </a:defRPr>
            </a:pPr>
            <a:r>
              <a:t>Good for vision encoders</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Prompt Tuning</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Learn soft prompts: Continuous embeddings</a:t>
            </a:r>
          </a:p>
          <a:p>
            <a:pPr>
              <a:spcBef>
                <a:spcPts val="500"/>
              </a:spcBef>
              <a:defRPr sz="1500">
                <a:solidFill>
                  <a:srgbClr val="333333"/>
                </a:solidFill>
              </a:defRPr>
            </a:pPr>
            <a:r>
              <a:t>Prepend learnable tokens to input</a:t>
            </a:r>
          </a:p>
          <a:p>
            <a:pPr>
              <a:spcBef>
                <a:spcPts val="500"/>
              </a:spcBef>
              <a:defRPr sz="1500">
                <a:solidFill>
                  <a:srgbClr val="333333"/>
                </a:solidFill>
              </a:defRPr>
            </a:pPr>
            <a:r>
              <a:t>Visual prompt tuning:</a:t>
            </a:r>
          </a:p>
          <a:p>
            <a:pPr lvl="1">
              <a:spcBef>
                <a:spcPts val="500"/>
              </a:spcBef>
              <a:defRPr sz="1300">
                <a:solidFill>
                  <a:srgbClr val="333333"/>
                </a:solidFill>
              </a:defRPr>
            </a:pPr>
            <a:r>
              <a:t>Learn perturbations to input image</a:t>
            </a:r>
          </a:p>
          <a:p>
            <a:pPr lvl="1">
              <a:spcBef>
                <a:spcPts val="500"/>
              </a:spcBef>
              <a:defRPr sz="1300">
                <a:solidFill>
                  <a:srgbClr val="333333"/>
                </a:solidFill>
              </a:defRPr>
            </a:pPr>
            <a:r>
              <a:t>Or learn visual prefix tokens</a:t>
            </a:r>
          </a:p>
          <a:p>
            <a:pPr>
              <a:spcBef>
                <a:spcPts val="500"/>
              </a:spcBef>
              <a:defRPr sz="1500">
                <a:solidFill>
                  <a:srgbClr val="333333"/>
                </a:solidFill>
              </a:defRPr>
            </a:pPr>
            <a:r>
              <a:t>Text prompt tuning:</a:t>
            </a:r>
          </a:p>
          <a:p>
            <a:pPr lvl="1">
              <a:spcBef>
                <a:spcPts val="500"/>
              </a:spcBef>
              <a:defRPr sz="1300">
                <a:solidFill>
                  <a:srgbClr val="333333"/>
                </a:solidFill>
              </a:defRPr>
            </a:pPr>
            <a:r>
              <a:t>Learn continuous prompt embeddings</a:t>
            </a:r>
          </a:p>
          <a:p>
            <a:pPr>
              <a:spcBef>
                <a:spcPts val="500"/>
              </a:spcBef>
              <a:defRPr sz="1500">
                <a:solidFill>
                  <a:srgbClr val="333333"/>
                </a:solidFill>
              </a:defRPr>
            </a:pPr>
            <a:r>
              <a:t>Extremely parameter-efficient</a:t>
            </a:r>
          </a:p>
          <a:p>
            <a:pPr>
              <a:spcBef>
                <a:spcPts val="500"/>
              </a:spcBef>
              <a:defRPr sz="1500">
                <a:solidFill>
                  <a:srgbClr val="333333"/>
                </a:solidFill>
              </a:defRPr>
            </a:pPr>
            <a:r>
              <a:t>Challenges: More careful tuning needed</a:t>
            </a:r>
          </a:p>
          <a:p>
            <a:pPr>
              <a:spcBef>
                <a:spcPts val="500"/>
              </a:spcBef>
              <a:defRPr sz="1500">
                <a:solidFill>
                  <a:srgbClr val="333333"/>
                </a:solidFill>
              </a:defRPr>
            </a:pPr>
            <a:r>
              <a:t>Good for: Few-shot learning</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Instruction Tuning</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Fine-tune on instruction-following data</a:t>
            </a:r>
          </a:p>
          <a:p>
            <a:pPr>
              <a:spcBef>
                <a:spcPts val="500"/>
              </a:spcBef>
              <a:defRPr sz="1500">
                <a:solidFill>
                  <a:srgbClr val="333333"/>
                </a:solidFill>
              </a:defRPr>
            </a:pPr>
            <a:r>
              <a:t>Format: (Instruction, Input, Output)</a:t>
            </a:r>
          </a:p>
          <a:p>
            <a:pPr>
              <a:spcBef>
                <a:spcPts val="500"/>
              </a:spcBef>
              <a:defRPr sz="1500">
                <a:solidFill>
                  <a:srgbClr val="333333"/>
                </a:solidFill>
              </a:defRPr>
            </a:pPr>
            <a:r>
              <a:t>Example:</a:t>
            </a:r>
          </a:p>
          <a:p>
            <a:pPr lvl="1">
              <a:spcBef>
                <a:spcPts val="500"/>
              </a:spcBef>
              <a:defRPr sz="1300">
                <a:solidFill>
                  <a:srgbClr val="333333"/>
                </a:solidFill>
              </a:defRPr>
            </a:pPr>
            <a:r>
              <a:t>Instruction: 'Describe the image'</a:t>
            </a:r>
          </a:p>
          <a:p>
            <a:pPr lvl="1">
              <a:spcBef>
                <a:spcPts val="500"/>
              </a:spcBef>
              <a:defRPr sz="1300">
                <a:solidFill>
                  <a:srgbClr val="333333"/>
                </a:solidFill>
              </a:defRPr>
            </a:pPr>
            <a:r>
              <a:t>Input: [Image]</a:t>
            </a:r>
          </a:p>
          <a:p>
            <a:pPr lvl="1">
              <a:spcBef>
                <a:spcPts val="500"/>
              </a:spcBef>
              <a:defRPr sz="1300">
                <a:solidFill>
                  <a:srgbClr val="333333"/>
                </a:solidFill>
              </a:defRPr>
            </a:pPr>
            <a:r>
              <a:t>Output: 'A photo of...'</a:t>
            </a:r>
          </a:p>
          <a:p>
            <a:pPr>
              <a:spcBef>
                <a:spcPts val="500"/>
              </a:spcBef>
              <a:defRPr sz="1500">
                <a:solidFill>
                  <a:srgbClr val="333333"/>
                </a:solidFill>
              </a:defRPr>
            </a:pPr>
            <a:r>
              <a:t>Benefits:</a:t>
            </a:r>
          </a:p>
          <a:p>
            <a:pPr lvl="1">
              <a:spcBef>
                <a:spcPts val="500"/>
              </a:spcBef>
              <a:defRPr sz="1300">
                <a:solidFill>
                  <a:srgbClr val="333333"/>
                </a:solidFill>
              </a:defRPr>
            </a:pPr>
            <a:r>
              <a:t>Better instruction following</a:t>
            </a:r>
          </a:p>
          <a:p>
            <a:pPr lvl="1">
              <a:spcBef>
                <a:spcPts val="500"/>
              </a:spcBef>
              <a:defRPr sz="1300">
                <a:solidFill>
                  <a:srgbClr val="333333"/>
                </a:solidFill>
              </a:defRPr>
            </a:pPr>
            <a:r>
              <a:t>More natural interactions</a:t>
            </a:r>
          </a:p>
          <a:p>
            <a:pPr lvl="1">
              <a:spcBef>
                <a:spcPts val="500"/>
              </a:spcBef>
              <a:defRPr sz="1300">
                <a:solidFill>
                  <a:srgbClr val="333333"/>
                </a:solidFill>
              </a:defRPr>
            </a:pPr>
            <a:r>
              <a:t>Improved zero-shot generalization</a:t>
            </a:r>
          </a:p>
          <a:p>
            <a:pPr>
              <a:spcBef>
                <a:spcPts val="500"/>
              </a:spcBef>
              <a:defRPr sz="1500">
                <a:solidFill>
                  <a:srgbClr val="333333"/>
                </a:solidFill>
              </a:defRPr>
            </a:pPr>
            <a:r>
              <a:t>Used in: LLaVA, InstructBLIP, Otter</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Task-Specific Fine-tuning</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Adapt to specific downstream tasks</a:t>
            </a:r>
          </a:p>
          <a:p>
            <a:pPr>
              <a:spcBef>
                <a:spcPts val="500"/>
              </a:spcBef>
              <a:defRPr sz="1500">
                <a:solidFill>
                  <a:srgbClr val="333333"/>
                </a:solidFill>
              </a:defRPr>
            </a:pPr>
            <a:r>
              <a:t>Examples:</a:t>
            </a:r>
          </a:p>
          <a:p>
            <a:pPr lvl="1">
              <a:spcBef>
                <a:spcPts val="500"/>
              </a:spcBef>
              <a:defRPr sz="1300">
                <a:solidFill>
                  <a:srgbClr val="333333"/>
                </a:solidFill>
              </a:defRPr>
            </a:pPr>
            <a:r>
              <a:t>VQA: Fine-tune on VQAv2</a:t>
            </a:r>
          </a:p>
          <a:p>
            <a:pPr lvl="1">
              <a:spcBef>
                <a:spcPts val="500"/>
              </a:spcBef>
              <a:defRPr sz="1300">
                <a:solidFill>
                  <a:srgbClr val="333333"/>
                </a:solidFill>
              </a:defRPr>
            </a:pPr>
            <a:r>
              <a:t>Captioning: Fine-tune on COCO</a:t>
            </a:r>
          </a:p>
          <a:p>
            <a:pPr lvl="1">
              <a:spcBef>
                <a:spcPts val="500"/>
              </a:spcBef>
              <a:defRPr sz="1300">
                <a:solidFill>
                  <a:srgbClr val="333333"/>
                </a:solidFill>
              </a:defRPr>
            </a:pPr>
            <a:r>
              <a:t>Medical: Fine-tune on medical data</a:t>
            </a:r>
          </a:p>
          <a:p>
            <a:pPr>
              <a:spcBef>
                <a:spcPts val="500"/>
              </a:spcBef>
              <a:defRPr sz="1500">
                <a:solidFill>
                  <a:srgbClr val="333333"/>
                </a:solidFill>
              </a:defRPr>
            </a:pPr>
            <a:r>
              <a:t>Task-specific head may be added</a:t>
            </a:r>
          </a:p>
          <a:p>
            <a:pPr>
              <a:spcBef>
                <a:spcPts val="500"/>
              </a:spcBef>
              <a:defRPr sz="1500">
                <a:solidFill>
                  <a:srgbClr val="333333"/>
                </a:solidFill>
              </a:defRPr>
            </a:pPr>
            <a:r>
              <a:t>Data: 1K-100K task examples</a:t>
            </a:r>
          </a:p>
          <a:p>
            <a:pPr>
              <a:spcBef>
                <a:spcPts val="500"/>
              </a:spcBef>
              <a:defRPr sz="1500">
                <a:solidFill>
                  <a:srgbClr val="333333"/>
                </a:solidFill>
              </a:defRPr>
            </a:pPr>
            <a:r>
              <a:t>Often use full fine-tuning or LoRA</a:t>
            </a:r>
          </a:p>
          <a:p>
            <a:pPr>
              <a:spcBef>
                <a:spcPts val="500"/>
              </a:spcBef>
              <a:defRPr sz="1500">
                <a:solidFill>
                  <a:srgbClr val="333333"/>
                </a:solidFill>
              </a:defRPr>
            </a:pPr>
            <a:r>
              <a:t>Evaluation on task benchmark</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Domain Adaptation</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Adapt to specific domain:</a:t>
            </a:r>
          </a:p>
          <a:p>
            <a:pPr lvl="1">
              <a:spcBef>
                <a:spcPts val="500"/>
              </a:spcBef>
              <a:defRPr sz="1300">
                <a:solidFill>
                  <a:srgbClr val="333333"/>
                </a:solidFill>
              </a:defRPr>
            </a:pPr>
            <a:r>
              <a:t>Medical images and reports</a:t>
            </a:r>
          </a:p>
          <a:p>
            <a:pPr lvl="1">
              <a:spcBef>
                <a:spcPts val="500"/>
              </a:spcBef>
              <a:defRPr sz="1300">
                <a:solidFill>
                  <a:srgbClr val="333333"/>
                </a:solidFill>
              </a:defRPr>
            </a:pPr>
            <a:r>
              <a:t>Scientific figures and papers</a:t>
            </a:r>
          </a:p>
          <a:p>
            <a:pPr lvl="1">
              <a:spcBef>
                <a:spcPts val="500"/>
              </a:spcBef>
              <a:defRPr sz="1300">
                <a:solidFill>
                  <a:srgbClr val="333333"/>
                </a:solidFill>
              </a:defRPr>
            </a:pPr>
            <a:r>
              <a:t>E-commerce products</a:t>
            </a:r>
          </a:p>
          <a:p>
            <a:pPr lvl="1">
              <a:spcBef>
                <a:spcPts val="500"/>
              </a:spcBef>
              <a:defRPr sz="1300">
                <a:solidFill>
                  <a:srgbClr val="333333"/>
                </a:solidFill>
              </a:defRPr>
            </a:pPr>
            <a:r>
              <a:t>Remote sensing imagery</a:t>
            </a:r>
          </a:p>
          <a:p>
            <a:pPr>
              <a:spcBef>
                <a:spcPts val="500"/>
              </a:spcBef>
              <a:defRPr sz="1500">
                <a:solidFill>
                  <a:srgbClr val="333333"/>
                </a:solidFill>
              </a:defRPr>
            </a:pPr>
            <a:r>
              <a:t>Challenges:</a:t>
            </a:r>
          </a:p>
          <a:p>
            <a:pPr lvl="1">
              <a:spcBef>
                <a:spcPts val="500"/>
              </a:spcBef>
              <a:defRPr sz="1300">
                <a:solidFill>
                  <a:srgbClr val="333333"/>
                </a:solidFill>
              </a:defRPr>
            </a:pPr>
            <a:r>
              <a:t>Domain shift from pre-training</a:t>
            </a:r>
          </a:p>
          <a:p>
            <a:pPr lvl="1">
              <a:spcBef>
                <a:spcPts val="500"/>
              </a:spcBef>
              <a:defRPr sz="1300">
                <a:solidFill>
                  <a:srgbClr val="333333"/>
                </a:solidFill>
              </a:defRPr>
            </a:pPr>
            <a:r>
              <a:t>Specialized terminology</a:t>
            </a:r>
          </a:p>
          <a:p>
            <a:pPr>
              <a:spcBef>
                <a:spcPts val="500"/>
              </a:spcBef>
              <a:defRPr sz="1500">
                <a:solidFill>
                  <a:srgbClr val="333333"/>
                </a:solidFill>
              </a:defRPr>
            </a:pPr>
            <a:r>
              <a:t>Solutions:</a:t>
            </a:r>
          </a:p>
          <a:p>
            <a:pPr lvl="1">
              <a:spcBef>
                <a:spcPts val="500"/>
              </a:spcBef>
              <a:defRPr sz="1300">
                <a:solidFill>
                  <a:srgbClr val="333333"/>
                </a:solidFill>
              </a:defRPr>
            </a:pPr>
            <a:r>
              <a:t>Continue pre-training on domain data</a:t>
            </a:r>
          </a:p>
          <a:p>
            <a:pPr lvl="1">
              <a:spcBef>
                <a:spcPts val="500"/>
              </a:spcBef>
              <a:defRPr sz="1300">
                <a:solidFill>
                  <a:srgbClr val="333333"/>
                </a:solidFill>
              </a:defRPr>
            </a:pPr>
            <a:r>
              <a:t>Task-specific fine-tuning</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Fine-tuning Best Practices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1. Start with appropriate pre-trained model</a:t>
            </a:r>
          </a:p>
          <a:p>
            <a:pPr>
              <a:spcBef>
                <a:spcPts val="500"/>
              </a:spcBef>
              <a:defRPr sz="1500">
                <a:solidFill>
                  <a:srgbClr val="333333"/>
                </a:solidFill>
              </a:defRPr>
            </a:pPr>
            <a:r>
              <a:t>2. Use lower learning rate than pre-training</a:t>
            </a:r>
          </a:p>
          <a:p>
            <a:pPr>
              <a:spcBef>
                <a:spcPts val="500"/>
              </a:spcBef>
              <a:defRPr sz="1500">
                <a:solidFill>
                  <a:srgbClr val="333333"/>
                </a:solidFill>
              </a:defRPr>
            </a:pPr>
            <a:r>
              <a:t>3. Freeze vision encoder initially if needed</a:t>
            </a:r>
          </a:p>
          <a:p>
            <a:pPr>
              <a:spcBef>
                <a:spcPts val="500"/>
              </a:spcBef>
              <a:defRPr sz="1500">
                <a:solidFill>
                  <a:srgbClr val="333333"/>
                </a:solidFill>
              </a:defRPr>
            </a:pPr>
            <a:r>
              <a:t>4. Use LoRA for large models</a:t>
            </a:r>
          </a:p>
          <a:p>
            <a:pPr>
              <a:spcBef>
                <a:spcPts val="500"/>
              </a:spcBef>
              <a:defRPr sz="1500">
                <a:solidFill>
                  <a:srgbClr val="333333"/>
                </a:solidFill>
              </a:defRPr>
            </a:pPr>
            <a:r>
              <a:t>5. Monitor validation performance</a:t>
            </a:r>
          </a:p>
          <a:p>
            <a:pPr>
              <a:spcBef>
                <a:spcPts val="500"/>
              </a:spcBef>
              <a:defRPr sz="1500">
                <a:solidFill>
                  <a:srgbClr val="333333"/>
                </a:solidFill>
              </a:defRPr>
            </a:pPr>
            <a:r>
              <a:t>6. Prevent overfitting:</a:t>
            </a:r>
          </a:p>
          <a:p>
            <a:pPr lvl="1">
              <a:spcBef>
                <a:spcPts val="500"/>
              </a:spcBef>
              <a:defRPr sz="1300">
                <a:solidFill>
                  <a:srgbClr val="333333"/>
                </a:solidFill>
              </a:defRPr>
            </a:pPr>
            <a:r>
              <a:t>Early stopping, regularization</a:t>
            </a:r>
          </a:p>
          <a:p>
            <a:pPr>
              <a:spcBef>
                <a:spcPts val="500"/>
              </a:spcBef>
              <a:defRPr sz="1500">
                <a:solidFill>
                  <a:srgbClr val="333333"/>
                </a:solidFill>
              </a:defRPr>
            </a:pPr>
            <a:r>
              <a:t>7. Data augmentation for small datasets</a:t>
            </a:r>
          </a:p>
          <a:p>
            <a:pPr>
              <a:spcBef>
                <a:spcPts val="500"/>
              </a:spcBef>
              <a:defRPr sz="1500">
                <a:solidFill>
                  <a:srgbClr val="333333"/>
                </a:solidFill>
              </a:defRPr>
            </a:pPr>
            <a:r>
              <a:t>8. Gradient accumulation for larger batches</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 Implementation &amp; Applications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Implementation Frameworks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HuggingFace Transformers:</a:t>
            </a:r>
          </a:p>
          <a:p>
            <a:pPr lvl="1">
              <a:spcBef>
                <a:spcPts val="500"/>
              </a:spcBef>
              <a:defRPr sz="1300">
                <a:solidFill>
                  <a:srgbClr val="333333"/>
                </a:solidFill>
              </a:defRPr>
            </a:pPr>
            <a:r>
              <a:t>Pre-trained models: CLIP, BLIP, LLaVA</a:t>
            </a:r>
          </a:p>
          <a:p>
            <a:pPr lvl="1">
              <a:spcBef>
                <a:spcPts val="500"/>
              </a:spcBef>
              <a:defRPr sz="1300">
                <a:solidFill>
                  <a:srgbClr val="333333"/>
                </a:solidFill>
              </a:defRPr>
            </a:pPr>
            <a:r>
              <a:t>Easy fine-tuning with Trainer API</a:t>
            </a:r>
          </a:p>
          <a:p>
            <a:pPr lvl="1">
              <a:spcBef>
                <a:spcPts val="500"/>
              </a:spcBef>
              <a:defRPr sz="1300">
                <a:solidFill>
                  <a:srgbClr val="333333"/>
                </a:solidFill>
              </a:defRPr>
            </a:pPr>
            <a:r>
              <a:t>PEFT library for LoRA</a:t>
            </a:r>
          </a:p>
          <a:p>
            <a:pPr>
              <a:spcBef>
                <a:spcPts val="500"/>
              </a:spcBef>
              <a:defRPr sz="1500">
                <a:solidFill>
                  <a:srgbClr val="333333"/>
                </a:solidFill>
              </a:defRPr>
            </a:pPr>
            <a:r>
              <a:t>PyTorch: Low-level flexibility</a:t>
            </a:r>
          </a:p>
          <a:p>
            <a:pPr>
              <a:spcBef>
                <a:spcPts val="500"/>
              </a:spcBef>
              <a:defRPr sz="1500">
                <a:solidFill>
                  <a:srgbClr val="333333"/>
                </a:solidFill>
              </a:defRPr>
            </a:pPr>
            <a:r>
              <a:t>JAX/Flax: XLA compilation, TPU support</a:t>
            </a:r>
          </a:p>
          <a:p>
            <a:pPr>
              <a:spcBef>
                <a:spcPts val="500"/>
              </a:spcBef>
              <a:defRPr sz="1500">
                <a:solidFill>
                  <a:srgbClr val="333333"/>
                </a:solidFill>
              </a:defRPr>
            </a:pPr>
            <a:r>
              <a:t>LangChain: Integration with applications</a:t>
            </a:r>
          </a:p>
          <a:p>
            <a:pPr>
              <a:spcBef>
                <a:spcPts val="500"/>
              </a:spcBef>
              <a:defRPr sz="1500">
                <a:solidFill>
                  <a:srgbClr val="333333"/>
                </a:solidFill>
              </a:defRPr>
            </a:pPr>
            <a:r>
              <a:t>OpenCLIP: Open-source CLIP training</a:t>
            </a:r>
          </a:p>
          <a:p>
            <a:pPr>
              <a:spcBef>
                <a:spcPts val="500"/>
              </a:spcBef>
              <a:defRPr sz="1500">
                <a:solidFill>
                  <a:srgbClr val="333333"/>
                </a:solidFill>
              </a:defRPr>
            </a:pPr>
            <a:r>
              <a:t>LLaVA codebase: Instruction tuning</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Hardware Requirements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GPU memory critical bottleneck</a:t>
            </a:r>
          </a:p>
          <a:p>
            <a:pPr>
              <a:spcBef>
                <a:spcPts val="500"/>
              </a:spcBef>
              <a:defRPr sz="1500">
                <a:solidFill>
                  <a:srgbClr val="333333"/>
                </a:solidFill>
              </a:defRPr>
            </a:pPr>
            <a:r>
              <a:t>Model size considerations:</a:t>
            </a:r>
          </a:p>
          <a:p>
            <a:pPr lvl="1">
              <a:spcBef>
                <a:spcPts val="500"/>
              </a:spcBef>
              <a:defRPr sz="1300">
                <a:solidFill>
                  <a:srgbClr val="333333"/>
                </a:solidFill>
              </a:defRPr>
            </a:pPr>
            <a:r>
              <a:t>CLIP ViT-B: ~400MB, any GPU</a:t>
            </a:r>
          </a:p>
          <a:p>
            <a:pPr lvl="1">
              <a:spcBef>
                <a:spcPts val="500"/>
              </a:spcBef>
              <a:defRPr sz="1300">
                <a:solidFill>
                  <a:srgbClr val="333333"/>
                </a:solidFill>
              </a:defRPr>
            </a:pPr>
            <a:r>
              <a:t>BLIP-2: ~4GB, 16GB+ GPU</a:t>
            </a:r>
          </a:p>
          <a:p>
            <a:pPr lvl="1">
              <a:spcBef>
                <a:spcPts val="500"/>
              </a:spcBef>
              <a:defRPr sz="1300">
                <a:solidFill>
                  <a:srgbClr val="333333"/>
                </a:solidFill>
              </a:defRPr>
            </a:pPr>
            <a:r>
              <a:t>LLaVA-7B: ~14GB, 24GB+ GPU</a:t>
            </a:r>
          </a:p>
          <a:p>
            <a:pPr lvl="1">
              <a:spcBef>
                <a:spcPts val="500"/>
              </a:spcBef>
              <a:defRPr sz="1300">
                <a:solidFill>
                  <a:srgbClr val="333333"/>
                </a:solidFill>
              </a:defRPr>
            </a:pPr>
            <a:r>
              <a:t>LLaVA-13B: ~26GB, 40GB+ GPU</a:t>
            </a:r>
          </a:p>
          <a:p>
            <a:pPr>
              <a:spcBef>
                <a:spcPts val="500"/>
              </a:spcBef>
              <a:defRPr sz="1500">
                <a:solidFill>
                  <a:srgbClr val="333333"/>
                </a:solidFill>
              </a:defRPr>
            </a:pPr>
            <a:r>
              <a:t>Memory reduction:</a:t>
            </a:r>
          </a:p>
          <a:p>
            <a:pPr lvl="1">
              <a:spcBef>
                <a:spcPts val="500"/>
              </a:spcBef>
              <a:defRPr sz="1300">
                <a:solidFill>
                  <a:srgbClr val="333333"/>
                </a:solidFill>
              </a:defRPr>
            </a:pPr>
            <a:r>
              <a:t>8-bit quantization</a:t>
            </a:r>
          </a:p>
          <a:p>
            <a:pPr lvl="1">
              <a:spcBef>
                <a:spcPts val="500"/>
              </a:spcBef>
              <a:defRPr sz="1300">
                <a:solidFill>
                  <a:srgbClr val="333333"/>
                </a:solidFill>
              </a:defRPr>
            </a:pPr>
            <a:r>
              <a:t>LoRA reduces by 2-3x</a:t>
            </a:r>
          </a:p>
          <a:p>
            <a:pPr>
              <a:spcBef>
                <a:spcPts val="500"/>
              </a:spcBef>
              <a:defRPr sz="1500">
                <a:solidFill>
                  <a:srgbClr val="333333"/>
                </a:solidFill>
              </a:defRPr>
            </a:pPr>
            <a:r>
              <a:t>Palmetto: A100 (40/80GB), H100</a:t>
            </a:r>
          </a:p>
        </p:txBody>
      </p:sp>
      <p:pic>
        <p:nvPicPr>
          <p:cNvPr id="4" name="Picture 3" descr="image.png"/>
          <p:cNvPicPr>
            <a:picLocks noChangeAspect="1"/>
          </p:cNvPicPr>
          <p:nvPr/>
        </p:nvPicPr>
        <p:blipFill>
          <a:blip r:embed="rId2"/>
          <a:stretch>
            <a:fillRect/>
          </a:stretch>
        </p:blipFill>
        <p:spPr>
          <a:xfrm>
            <a:off x="5029200" y="1371600"/>
            <a:ext cx="3840480" cy="2118389"/>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Palmetto Cluster Setup</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Clemson's HPC cluster</a:t>
            </a:r>
          </a:p>
          <a:p>
            <a:pPr>
              <a:spcBef>
                <a:spcPts val="500"/>
              </a:spcBef>
              <a:defRPr sz="1500">
                <a:solidFill>
                  <a:srgbClr val="333333"/>
                </a:solidFill>
              </a:defRPr>
            </a:pPr>
            <a:r>
              <a:t>GPU nodes: V100, A100, H100</a:t>
            </a:r>
          </a:p>
          <a:p>
            <a:pPr>
              <a:spcBef>
                <a:spcPts val="500"/>
              </a:spcBef>
              <a:defRPr sz="1500">
                <a:solidFill>
                  <a:srgbClr val="333333"/>
                </a:solidFill>
              </a:defRPr>
            </a:pPr>
            <a:r>
              <a:t>Setup steps:</a:t>
            </a:r>
          </a:p>
          <a:p>
            <a:pPr lvl="1">
              <a:spcBef>
                <a:spcPts val="500"/>
              </a:spcBef>
              <a:defRPr sz="1300">
                <a:solidFill>
                  <a:srgbClr val="333333"/>
                </a:solidFill>
              </a:defRPr>
            </a:pPr>
            <a:r>
              <a:t>1. Request GPU: qsub -I ...</a:t>
            </a:r>
          </a:p>
          <a:p>
            <a:pPr lvl="1">
              <a:spcBef>
                <a:spcPts val="500"/>
              </a:spcBef>
              <a:defRPr sz="1300">
                <a:solidFill>
                  <a:srgbClr val="333333"/>
                </a:solidFill>
              </a:defRPr>
            </a:pPr>
            <a:r>
              <a:t>2. Load modules: CUDA, conda</a:t>
            </a:r>
          </a:p>
          <a:p>
            <a:pPr lvl="1">
              <a:spcBef>
                <a:spcPts val="500"/>
              </a:spcBef>
              <a:defRPr sz="1300">
                <a:solidFill>
                  <a:srgbClr val="333333"/>
                </a:solidFill>
              </a:defRPr>
            </a:pPr>
            <a:r>
              <a:t>3. Create env: conda create -n multimodal</a:t>
            </a:r>
          </a:p>
          <a:p>
            <a:pPr lvl="1">
              <a:spcBef>
                <a:spcPts val="500"/>
              </a:spcBef>
              <a:defRPr sz="1300">
                <a:solidFill>
                  <a:srgbClr val="333333"/>
                </a:solidFill>
              </a:defRPr>
            </a:pPr>
            <a:r>
              <a:t>4. Install: transformers, torch, peft</a:t>
            </a:r>
          </a:p>
          <a:p>
            <a:pPr>
              <a:spcBef>
                <a:spcPts val="500"/>
              </a:spcBef>
              <a:defRPr sz="1500">
                <a:solidFill>
                  <a:srgbClr val="333333"/>
                </a:solidFill>
              </a:defRPr>
            </a:pPr>
            <a:r>
              <a:t>Storage: /scratch for datasets</a:t>
            </a:r>
          </a:p>
          <a:p>
            <a:pPr>
              <a:spcBef>
                <a:spcPts val="500"/>
              </a:spcBef>
              <a:defRPr sz="1500">
                <a:solidFill>
                  <a:srgbClr val="333333"/>
                </a:solidFill>
              </a:defRPr>
            </a:pPr>
            <a:r>
              <a:t>Jupyter via OnDemand</a:t>
            </a:r>
          </a:p>
          <a:p>
            <a:pPr>
              <a:spcBef>
                <a:spcPts val="500"/>
              </a:spcBef>
              <a:defRPr sz="1500">
                <a:solidFill>
                  <a:srgbClr val="333333"/>
                </a:solidFill>
              </a:defRPr>
            </a:pPr>
            <a:r>
              <a:t>See lab notebook for details</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Loading Pre-trained Models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HuggingFace example:</a:t>
            </a:r>
          </a:p>
          <a:p>
            <a:pPr>
              <a:spcBef>
                <a:spcPts val="500"/>
              </a:spcBef>
              <a:defRPr sz="1500">
                <a:solidFill>
                  <a:srgbClr val="333333"/>
                </a:solidFill>
              </a:defRPr>
            </a:pPr>
          </a:p>
          <a:p>
            <a:pPr>
              <a:spcBef>
                <a:spcPts val="500"/>
              </a:spcBef>
              <a:defRPr sz="1500">
                <a:solidFill>
                  <a:srgbClr val="333333"/>
                </a:solidFill>
              </a:defRPr>
            </a:pPr>
            <a:r>
              <a:t>from transformers import CLIPModel, CLIPProcessor</a:t>
            </a:r>
          </a:p>
          <a:p>
            <a:pPr>
              <a:spcBef>
                <a:spcPts val="500"/>
              </a:spcBef>
              <a:defRPr sz="1500">
                <a:solidFill>
                  <a:srgbClr val="333333"/>
                </a:solidFill>
              </a:defRPr>
            </a:pPr>
            <a:r>
              <a:t>model = CLIPModel.from_pretrained(</a:t>
            </a:r>
          </a:p>
          <a:p>
            <a:pPr>
              <a:spcBef>
                <a:spcPts val="500"/>
              </a:spcBef>
              <a:defRPr sz="1500">
                <a:solidFill>
                  <a:srgbClr val="333333"/>
                </a:solidFill>
              </a:defRPr>
            </a:pPr>
            <a:r>
              <a:t>    'openai/clip-vit-base-patch32')</a:t>
            </a:r>
          </a:p>
          <a:p>
            <a:pPr>
              <a:spcBef>
                <a:spcPts val="500"/>
              </a:spcBef>
              <a:defRPr sz="1500">
                <a:solidFill>
                  <a:srgbClr val="333333"/>
                </a:solidFill>
              </a:defRPr>
            </a:pPr>
            <a:r>
              <a:t>processor = CLIPProcessor.from_pretrained(</a:t>
            </a:r>
          </a:p>
          <a:p>
            <a:pPr>
              <a:spcBef>
                <a:spcPts val="500"/>
              </a:spcBef>
              <a:defRPr sz="1500">
                <a:solidFill>
                  <a:srgbClr val="333333"/>
                </a:solidFill>
              </a:defRPr>
            </a:pPr>
            <a:r>
              <a:t>    'openai/clip-vit-base-patch32')</a:t>
            </a:r>
          </a:p>
          <a:p>
            <a:pPr>
              <a:spcBef>
                <a:spcPts val="500"/>
              </a:spcBef>
              <a:defRPr sz="1500">
                <a:solidFill>
                  <a:srgbClr val="333333"/>
                </a:solidFill>
              </a:defRPr>
            </a:pPr>
          </a:p>
          <a:p>
            <a:pPr>
              <a:spcBef>
                <a:spcPts val="500"/>
              </a:spcBef>
              <a:defRPr sz="1500">
                <a:solidFill>
                  <a:srgbClr val="333333"/>
                </a:solidFill>
              </a:defRPr>
            </a:pPr>
            <a:r>
              <a:t>model.to('cuda')</a:t>
            </a:r>
          </a:p>
          <a:p>
            <a:pPr>
              <a:spcBef>
                <a:spcPts val="500"/>
              </a:spcBef>
              <a:defRPr sz="1500">
                <a:solidFill>
                  <a:srgbClr val="333333"/>
                </a:solidFill>
              </a:defRPr>
            </a:pPr>
          </a:p>
          <a:p>
            <a:pPr>
              <a:spcBef>
                <a:spcPts val="500"/>
              </a:spcBef>
              <a:defRPr sz="1500">
                <a:solidFill>
                  <a:srgbClr val="333333"/>
                </a:solidFill>
              </a:defRPr>
            </a:pPr>
            <a:r>
              <a:t>See lab notebook for more examples!</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Inference Example</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CLIP zero-shot classification:</a:t>
            </a:r>
          </a:p>
          <a:p>
            <a:pPr>
              <a:spcBef>
                <a:spcPts val="500"/>
              </a:spcBef>
              <a:defRPr sz="1500">
                <a:solidFill>
                  <a:srgbClr val="333333"/>
                </a:solidFill>
              </a:defRPr>
            </a:pPr>
          </a:p>
          <a:p>
            <a:pPr>
              <a:spcBef>
                <a:spcPts val="500"/>
              </a:spcBef>
              <a:defRPr sz="1500">
                <a:solidFill>
                  <a:srgbClr val="333333"/>
                </a:solidFill>
              </a:defRPr>
            </a:pPr>
            <a:r>
              <a:t>image = Image.open('photo.jpg')</a:t>
            </a:r>
          </a:p>
          <a:p>
            <a:pPr>
              <a:spcBef>
                <a:spcPts val="500"/>
              </a:spcBef>
              <a:defRPr sz="1500">
                <a:solidFill>
                  <a:srgbClr val="333333"/>
                </a:solidFill>
              </a:defRPr>
            </a:pPr>
            <a:r>
              <a:t>text = ['a photo of a cat', 'a photo of a dog']</a:t>
            </a:r>
          </a:p>
          <a:p>
            <a:pPr>
              <a:spcBef>
                <a:spcPts val="500"/>
              </a:spcBef>
              <a:defRPr sz="1500">
                <a:solidFill>
                  <a:srgbClr val="333333"/>
                </a:solidFill>
              </a:defRPr>
            </a:pPr>
          </a:p>
          <a:p>
            <a:pPr>
              <a:spcBef>
                <a:spcPts val="500"/>
              </a:spcBef>
              <a:defRPr sz="1500">
                <a:solidFill>
                  <a:srgbClr val="333333"/>
                </a:solidFill>
              </a:defRPr>
            </a:pPr>
            <a:r>
              <a:t>inputs = processor(text=text, images=image,</a:t>
            </a:r>
          </a:p>
          <a:p>
            <a:pPr>
              <a:spcBef>
                <a:spcPts val="500"/>
              </a:spcBef>
              <a:defRPr sz="1500">
                <a:solidFill>
                  <a:srgbClr val="333333"/>
                </a:solidFill>
              </a:defRPr>
            </a:pPr>
            <a:r>
              <a:t>                   return_tensors='pt')</a:t>
            </a:r>
          </a:p>
          <a:p>
            <a:pPr>
              <a:spcBef>
                <a:spcPts val="500"/>
              </a:spcBef>
              <a:defRPr sz="1500">
                <a:solidFill>
                  <a:srgbClr val="333333"/>
                </a:solidFill>
              </a:defRPr>
            </a:pPr>
            <a:r>
              <a:t>outputs = model(**inputs)</a:t>
            </a:r>
          </a:p>
          <a:p>
            <a:pPr>
              <a:spcBef>
                <a:spcPts val="500"/>
              </a:spcBef>
              <a:defRPr sz="1500">
                <a:solidFill>
                  <a:srgbClr val="333333"/>
                </a:solidFill>
              </a:defRPr>
            </a:pPr>
            <a:r>
              <a:t>probs = outputs.logits_per_image.softmax(dim=1)</a:t>
            </a:r>
          </a:p>
          <a:p>
            <a:pPr>
              <a:spcBef>
                <a:spcPts val="500"/>
              </a:spcBef>
              <a:defRPr sz="1500">
                <a:solidFill>
                  <a:srgbClr val="333333"/>
                </a:solidFill>
              </a:defRPr>
            </a:pPr>
          </a:p>
          <a:p>
            <a:pPr>
              <a:spcBef>
                <a:spcPts val="500"/>
              </a:spcBef>
              <a:defRPr sz="1500">
                <a:solidFill>
                  <a:srgbClr val="333333"/>
                </a:solidFill>
              </a:defRPr>
            </a:pPr>
            <a:r>
              <a:t>See lab for BLIP, LLaVA examples</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Fine-tuning Example</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Using LoRA:</a:t>
            </a:r>
          </a:p>
          <a:p>
            <a:pPr>
              <a:spcBef>
                <a:spcPts val="500"/>
              </a:spcBef>
              <a:defRPr sz="1500">
                <a:solidFill>
                  <a:srgbClr val="333333"/>
                </a:solidFill>
              </a:defRPr>
            </a:pPr>
          </a:p>
          <a:p>
            <a:pPr>
              <a:spcBef>
                <a:spcPts val="500"/>
              </a:spcBef>
              <a:defRPr sz="1500">
                <a:solidFill>
                  <a:srgbClr val="333333"/>
                </a:solidFill>
              </a:defRPr>
            </a:pPr>
            <a:r>
              <a:t>from peft import LoraConfig, get_peft_model</a:t>
            </a:r>
          </a:p>
          <a:p>
            <a:pPr>
              <a:spcBef>
                <a:spcPts val="500"/>
              </a:spcBef>
              <a:defRPr sz="1500">
                <a:solidFill>
                  <a:srgbClr val="333333"/>
                </a:solidFill>
              </a:defRPr>
            </a:pPr>
          </a:p>
          <a:p>
            <a:pPr>
              <a:spcBef>
                <a:spcPts val="500"/>
              </a:spcBef>
              <a:defRPr sz="1500">
                <a:solidFill>
                  <a:srgbClr val="333333"/>
                </a:solidFill>
              </a:defRPr>
            </a:pPr>
            <a:r>
              <a:t>lora_config = LoraConfig(</a:t>
            </a:r>
          </a:p>
          <a:p>
            <a:pPr>
              <a:spcBef>
                <a:spcPts val="500"/>
              </a:spcBef>
              <a:defRPr sz="1500">
                <a:solidFill>
                  <a:srgbClr val="333333"/>
                </a:solidFill>
              </a:defRPr>
            </a:pPr>
            <a:r>
              <a:t>    r=8, lora_alpha=16,</a:t>
            </a:r>
          </a:p>
          <a:p>
            <a:pPr>
              <a:spcBef>
                <a:spcPts val="500"/>
              </a:spcBef>
              <a:defRPr sz="1500">
                <a:solidFill>
                  <a:srgbClr val="333333"/>
                </a:solidFill>
              </a:defRPr>
            </a:pPr>
            <a:r>
              <a:t>    target_modules=['q_proj', 'v_proj'])</a:t>
            </a:r>
          </a:p>
          <a:p>
            <a:pPr>
              <a:spcBef>
                <a:spcPts val="500"/>
              </a:spcBef>
              <a:defRPr sz="1500">
                <a:solidFill>
                  <a:srgbClr val="333333"/>
                </a:solidFill>
              </a:defRPr>
            </a:pPr>
          </a:p>
          <a:p>
            <a:pPr>
              <a:spcBef>
                <a:spcPts val="500"/>
              </a:spcBef>
              <a:defRPr sz="1500">
                <a:solidFill>
                  <a:srgbClr val="333333"/>
                </a:solidFill>
              </a:defRPr>
            </a:pPr>
            <a:r>
              <a:t>model = get_peft_model(model, lora_config)</a:t>
            </a:r>
          </a:p>
          <a:p>
            <a:pPr>
              <a:spcBef>
                <a:spcPts val="500"/>
              </a:spcBef>
              <a:defRPr sz="1500">
                <a:solidFill>
                  <a:srgbClr val="333333"/>
                </a:solidFill>
              </a:defRPr>
            </a:pPr>
          </a:p>
          <a:p>
            <a:pPr>
              <a:spcBef>
                <a:spcPts val="500"/>
              </a:spcBef>
              <a:defRPr sz="1500">
                <a:solidFill>
                  <a:srgbClr val="333333"/>
                </a:solidFill>
              </a:defRPr>
            </a:pPr>
            <a:r>
              <a:t>trainer = Trainer(model, args, dataset)</a:t>
            </a:r>
          </a:p>
          <a:p>
            <a:pPr>
              <a:spcBef>
                <a:spcPts val="500"/>
              </a:spcBef>
              <a:defRPr sz="1500">
                <a:solidFill>
                  <a:srgbClr val="333333"/>
                </a:solidFill>
              </a:defRPr>
            </a:pPr>
            <a:r>
              <a:t>trainer.train()</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Application: Visual Question Answering</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Task: Answer questions about images</a:t>
            </a:r>
          </a:p>
          <a:p>
            <a:pPr>
              <a:spcBef>
                <a:spcPts val="500"/>
              </a:spcBef>
              <a:defRPr sz="1500">
                <a:solidFill>
                  <a:srgbClr val="333333"/>
                </a:solidFill>
              </a:defRPr>
            </a:pPr>
            <a:r>
              <a:t>Input: Image + Question</a:t>
            </a:r>
          </a:p>
          <a:p>
            <a:pPr>
              <a:spcBef>
                <a:spcPts val="500"/>
              </a:spcBef>
              <a:defRPr sz="1500">
                <a:solidFill>
                  <a:srgbClr val="333333"/>
                </a:solidFill>
              </a:defRPr>
            </a:pPr>
            <a:r>
              <a:t>Output: Answer (text)</a:t>
            </a:r>
          </a:p>
          <a:p>
            <a:pPr>
              <a:spcBef>
                <a:spcPts val="500"/>
              </a:spcBef>
              <a:defRPr sz="1500">
                <a:solidFill>
                  <a:srgbClr val="333333"/>
                </a:solidFill>
              </a:defRPr>
            </a:pPr>
            <a:r>
              <a:t>Models: BLIP-2, LLaVA, InstructBLIP</a:t>
            </a:r>
          </a:p>
          <a:p>
            <a:pPr>
              <a:spcBef>
                <a:spcPts val="500"/>
              </a:spcBef>
              <a:defRPr sz="1500">
                <a:solidFill>
                  <a:srgbClr val="333333"/>
                </a:solidFill>
              </a:defRPr>
            </a:pPr>
            <a:r>
              <a:t>Use cases:</a:t>
            </a:r>
          </a:p>
          <a:p>
            <a:pPr lvl="1">
              <a:spcBef>
                <a:spcPts val="500"/>
              </a:spcBef>
              <a:defRPr sz="1300">
                <a:solidFill>
                  <a:srgbClr val="333333"/>
                </a:solidFill>
              </a:defRPr>
            </a:pPr>
            <a:r>
              <a:t>Accessibility for visually impaired</a:t>
            </a:r>
          </a:p>
          <a:p>
            <a:pPr lvl="1">
              <a:spcBef>
                <a:spcPts val="500"/>
              </a:spcBef>
              <a:defRPr sz="1300">
                <a:solidFill>
                  <a:srgbClr val="333333"/>
                </a:solidFill>
              </a:defRPr>
            </a:pPr>
            <a:r>
              <a:t>Content moderation</a:t>
            </a:r>
          </a:p>
          <a:p>
            <a:pPr lvl="1">
              <a:spcBef>
                <a:spcPts val="500"/>
              </a:spcBef>
              <a:defRPr sz="1300">
                <a:solidFill>
                  <a:srgbClr val="333333"/>
                </a:solidFill>
              </a:defRPr>
            </a:pPr>
            <a:r>
              <a:t>Educational tools</a:t>
            </a:r>
          </a:p>
          <a:p>
            <a:pPr lvl="1">
              <a:spcBef>
                <a:spcPts val="500"/>
              </a:spcBef>
              <a:defRPr sz="1300">
                <a:solidFill>
                  <a:srgbClr val="333333"/>
                </a:solidFill>
              </a:defRPr>
            </a:pPr>
            <a:r>
              <a:t>Image search and retrieval</a:t>
            </a:r>
          </a:p>
          <a:p>
            <a:pPr>
              <a:spcBef>
                <a:spcPts val="500"/>
              </a:spcBef>
              <a:defRPr sz="1500">
                <a:solidFill>
                  <a:srgbClr val="333333"/>
                </a:solidFill>
              </a:defRPr>
            </a:pPr>
            <a:r>
              <a:t>Datasets: VQAv2, GQA, OK-VQA</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Application: Image Captioning</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Task: Generate textual descriptions</a:t>
            </a:r>
          </a:p>
          <a:p>
            <a:pPr>
              <a:spcBef>
                <a:spcPts val="500"/>
              </a:spcBef>
              <a:defRPr sz="1500">
                <a:solidFill>
                  <a:srgbClr val="333333"/>
                </a:solidFill>
              </a:defRPr>
            </a:pPr>
            <a:r>
              <a:t>Input: Image</a:t>
            </a:r>
          </a:p>
          <a:p>
            <a:pPr>
              <a:spcBef>
                <a:spcPts val="500"/>
              </a:spcBef>
              <a:defRPr sz="1500">
                <a:solidFill>
                  <a:srgbClr val="333333"/>
                </a:solidFill>
              </a:defRPr>
            </a:pPr>
            <a:r>
              <a:t>Output: Caption (text)</a:t>
            </a:r>
          </a:p>
          <a:p>
            <a:pPr>
              <a:spcBef>
                <a:spcPts val="500"/>
              </a:spcBef>
              <a:defRPr sz="1500">
                <a:solidFill>
                  <a:srgbClr val="333333"/>
                </a:solidFill>
              </a:defRPr>
            </a:pPr>
            <a:r>
              <a:t>Models: BLIP, BLIP-2, GIT</a:t>
            </a:r>
          </a:p>
          <a:p>
            <a:pPr>
              <a:spcBef>
                <a:spcPts val="500"/>
              </a:spcBef>
              <a:defRPr sz="1500">
                <a:solidFill>
                  <a:srgbClr val="333333"/>
                </a:solidFill>
              </a:defRPr>
            </a:pPr>
            <a:r>
              <a:t>Use cases:</a:t>
            </a:r>
          </a:p>
          <a:p>
            <a:pPr lvl="1">
              <a:spcBef>
                <a:spcPts val="500"/>
              </a:spcBef>
              <a:defRPr sz="1300">
                <a:solidFill>
                  <a:srgbClr val="333333"/>
                </a:solidFill>
              </a:defRPr>
            </a:pPr>
            <a:r>
              <a:t>Alt-text for web accessibility</a:t>
            </a:r>
          </a:p>
          <a:p>
            <a:pPr lvl="1">
              <a:spcBef>
                <a:spcPts val="500"/>
              </a:spcBef>
              <a:defRPr sz="1300">
                <a:solidFill>
                  <a:srgbClr val="333333"/>
                </a:solidFill>
              </a:defRPr>
            </a:pPr>
            <a:r>
              <a:t>Photo organization and search</a:t>
            </a:r>
          </a:p>
          <a:p>
            <a:pPr lvl="1">
              <a:spcBef>
                <a:spcPts val="500"/>
              </a:spcBef>
              <a:defRPr sz="1300">
                <a:solidFill>
                  <a:srgbClr val="333333"/>
                </a:solidFill>
              </a:defRPr>
            </a:pPr>
            <a:r>
              <a:t>Social media content</a:t>
            </a:r>
          </a:p>
          <a:p>
            <a:pPr lvl="1">
              <a:spcBef>
                <a:spcPts val="500"/>
              </a:spcBef>
              <a:defRPr sz="1300">
                <a:solidFill>
                  <a:srgbClr val="333333"/>
                </a:solidFill>
              </a:defRPr>
            </a:pPr>
            <a:r>
              <a:t>Medical report generation</a:t>
            </a:r>
          </a:p>
          <a:p>
            <a:pPr>
              <a:spcBef>
                <a:spcPts val="500"/>
              </a:spcBef>
              <a:defRPr sz="1500">
                <a:solidFill>
                  <a:srgbClr val="333333"/>
                </a:solidFill>
              </a:defRPr>
            </a:pPr>
            <a:r>
              <a:t>Evaluation: BLEU, CIDEr, SPICE</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Application: Text-to-Image Generation</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Task: Generate images from text</a:t>
            </a:r>
          </a:p>
          <a:p>
            <a:pPr>
              <a:spcBef>
                <a:spcPts val="500"/>
              </a:spcBef>
              <a:defRPr sz="1500">
                <a:solidFill>
                  <a:srgbClr val="333333"/>
                </a:solidFill>
              </a:defRPr>
            </a:pPr>
            <a:r>
              <a:t>Input: Text prompt</a:t>
            </a:r>
          </a:p>
          <a:p>
            <a:pPr>
              <a:spcBef>
                <a:spcPts val="500"/>
              </a:spcBef>
              <a:defRPr sz="1500">
                <a:solidFill>
                  <a:srgbClr val="333333"/>
                </a:solidFill>
              </a:defRPr>
            </a:pPr>
            <a:r>
              <a:t>Output: Image</a:t>
            </a:r>
          </a:p>
          <a:p>
            <a:pPr>
              <a:spcBef>
                <a:spcPts val="500"/>
              </a:spcBef>
              <a:defRPr sz="1500">
                <a:solidFill>
                  <a:srgbClr val="333333"/>
                </a:solidFill>
              </a:defRPr>
            </a:pPr>
            <a:r>
              <a:t>Models: DALL-E, Stable Diffusion, Imagen</a:t>
            </a:r>
          </a:p>
          <a:p>
            <a:pPr>
              <a:spcBef>
                <a:spcPts val="500"/>
              </a:spcBef>
              <a:defRPr sz="1500">
                <a:solidFill>
                  <a:srgbClr val="333333"/>
                </a:solidFill>
              </a:defRPr>
            </a:pPr>
            <a:r>
              <a:t>Architecture: Diffusion + text conditioning</a:t>
            </a:r>
          </a:p>
          <a:p>
            <a:pPr lvl="1">
              <a:spcBef>
                <a:spcPts val="500"/>
              </a:spcBef>
              <a:defRPr sz="1300">
                <a:solidFill>
                  <a:srgbClr val="333333"/>
                </a:solidFill>
              </a:defRPr>
            </a:pPr>
            <a:r>
              <a:t>Text encoder: CLIP or T5</a:t>
            </a:r>
          </a:p>
          <a:p>
            <a:pPr lvl="1">
              <a:spcBef>
                <a:spcPts val="500"/>
              </a:spcBef>
              <a:defRPr sz="1300">
                <a:solidFill>
                  <a:srgbClr val="333333"/>
                </a:solidFill>
              </a:defRPr>
            </a:pPr>
            <a:r>
              <a:t>Diffusion: U-Net with cross-attention</a:t>
            </a:r>
          </a:p>
          <a:p>
            <a:pPr>
              <a:spcBef>
                <a:spcPts val="500"/>
              </a:spcBef>
              <a:defRPr sz="1500">
                <a:solidFill>
                  <a:srgbClr val="333333"/>
                </a:solidFill>
              </a:defRPr>
            </a:pPr>
            <a:r>
              <a:t>Use cases:</a:t>
            </a:r>
          </a:p>
          <a:p>
            <a:pPr lvl="1">
              <a:spcBef>
                <a:spcPts val="500"/>
              </a:spcBef>
              <a:defRPr sz="1300">
                <a:solidFill>
                  <a:srgbClr val="333333"/>
                </a:solidFill>
              </a:defRPr>
            </a:pPr>
            <a:r>
              <a:t>Creative content generation</a:t>
            </a:r>
          </a:p>
          <a:p>
            <a:pPr lvl="1">
              <a:spcBef>
                <a:spcPts val="500"/>
              </a:spcBef>
              <a:defRPr sz="1300">
                <a:solidFill>
                  <a:srgbClr val="333333"/>
                </a:solidFill>
              </a:defRPr>
            </a:pPr>
            <a:r>
              <a:t>Design and prototyping</a:t>
            </a:r>
          </a:p>
          <a:p>
            <a:pPr lvl="1">
              <a:spcBef>
                <a:spcPts val="500"/>
              </a:spcBef>
              <a:defRPr sz="1300">
                <a:solidFill>
                  <a:srgbClr val="333333"/>
                </a:solidFill>
              </a:defRPr>
            </a:pPr>
            <a:r>
              <a:t>Data augmentation</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Application: Video Understanding</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Task: Understand and reason about video</a:t>
            </a:r>
          </a:p>
          <a:p>
            <a:pPr>
              <a:spcBef>
                <a:spcPts val="500"/>
              </a:spcBef>
              <a:defRPr sz="1500">
                <a:solidFill>
                  <a:srgbClr val="333333"/>
                </a:solidFill>
              </a:defRPr>
            </a:pPr>
            <a:r>
              <a:t>Input: Video (frames + audio)</a:t>
            </a:r>
          </a:p>
          <a:p>
            <a:pPr>
              <a:spcBef>
                <a:spcPts val="500"/>
              </a:spcBef>
              <a:defRPr sz="1500">
                <a:solidFill>
                  <a:srgbClr val="333333"/>
                </a:solidFill>
              </a:defRPr>
            </a:pPr>
            <a:r>
              <a:t>Output: Caption, answer, action</a:t>
            </a:r>
          </a:p>
          <a:p>
            <a:pPr>
              <a:spcBef>
                <a:spcPts val="500"/>
              </a:spcBef>
              <a:defRPr sz="1500">
                <a:solidFill>
                  <a:srgbClr val="333333"/>
                </a:solidFill>
              </a:defRPr>
            </a:pPr>
            <a:r>
              <a:t>Models: VideoMAE, TimeSformer, Video-LLaMA</a:t>
            </a:r>
          </a:p>
          <a:p>
            <a:pPr>
              <a:spcBef>
                <a:spcPts val="500"/>
              </a:spcBef>
              <a:defRPr sz="1500">
                <a:solidFill>
                  <a:srgbClr val="333333"/>
                </a:solidFill>
              </a:defRPr>
            </a:pPr>
            <a:r>
              <a:t>Challenges:</a:t>
            </a:r>
          </a:p>
          <a:p>
            <a:pPr lvl="1">
              <a:spcBef>
                <a:spcPts val="500"/>
              </a:spcBef>
              <a:defRPr sz="1300">
                <a:solidFill>
                  <a:srgbClr val="333333"/>
                </a:solidFill>
              </a:defRPr>
            </a:pPr>
            <a:r>
              <a:t>Temporal modeling</a:t>
            </a:r>
          </a:p>
          <a:p>
            <a:pPr lvl="1">
              <a:spcBef>
                <a:spcPts val="500"/>
              </a:spcBef>
              <a:defRPr sz="1300">
                <a:solidFill>
                  <a:srgbClr val="333333"/>
                </a:solidFill>
              </a:defRPr>
            </a:pPr>
            <a:r>
              <a:t>Long sequences (memory)</a:t>
            </a:r>
          </a:p>
          <a:p>
            <a:pPr lvl="1">
              <a:spcBef>
                <a:spcPts val="500"/>
              </a:spcBef>
              <a:defRPr sz="1300">
                <a:solidFill>
                  <a:srgbClr val="333333"/>
                </a:solidFill>
              </a:defRPr>
            </a:pPr>
            <a:r>
              <a:t>Multi-modal fusion (visual+audio+text)</a:t>
            </a:r>
          </a:p>
          <a:p>
            <a:pPr>
              <a:spcBef>
                <a:spcPts val="500"/>
              </a:spcBef>
              <a:defRPr sz="1500">
                <a:solidFill>
                  <a:srgbClr val="333333"/>
                </a:solidFill>
              </a:defRPr>
            </a:pPr>
            <a:r>
              <a:t>Applications: Surveillance, sports, education</a:t>
            </a:r>
          </a:p>
        </p:txBody>
      </p:sp>
      <p:pic>
        <p:nvPicPr>
          <p:cNvPr id="4" name="Picture 3" descr="image.png"/>
          <p:cNvPicPr>
            <a:picLocks noChangeAspect="1"/>
          </p:cNvPicPr>
          <p:nvPr/>
        </p:nvPicPr>
        <p:blipFill>
          <a:blip r:embed="rId2"/>
          <a:stretch>
            <a:fillRect/>
          </a:stretch>
        </p:blipFill>
        <p:spPr>
          <a:xfrm>
            <a:off x="5029200" y="1371600"/>
            <a:ext cx="3840480" cy="2863124"/>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Challenges and Limitations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Hallucination: Generating false information</a:t>
            </a:r>
          </a:p>
          <a:p>
            <a:pPr>
              <a:spcBef>
                <a:spcPts val="500"/>
              </a:spcBef>
              <a:defRPr sz="1500">
                <a:solidFill>
                  <a:srgbClr val="333333"/>
                </a:solidFill>
              </a:defRPr>
            </a:pPr>
            <a:r>
              <a:t>Robustness: Sensitive to input variations</a:t>
            </a:r>
          </a:p>
          <a:p>
            <a:pPr>
              <a:spcBef>
                <a:spcPts val="500"/>
              </a:spcBef>
              <a:defRPr sz="1500">
                <a:solidFill>
                  <a:srgbClr val="333333"/>
                </a:solidFill>
              </a:defRPr>
            </a:pPr>
            <a:r>
              <a:t>Bias: Reflecting dataset biases</a:t>
            </a:r>
          </a:p>
          <a:p>
            <a:pPr>
              <a:spcBef>
                <a:spcPts val="500"/>
              </a:spcBef>
              <a:defRPr sz="1500">
                <a:solidFill>
                  <a:srgbClr val="333333"/>
                </a:solidFill>
              </a:defRPr>
            </a:pPr>
            <a:r>
              <a:t>Computational cost: Training and inference</a:t>
            </a:r>
          </a:p>
          <a:p>
            <a:pPr>
              <a:spcBef>
                <a:spcPts val="500"/>
              </a:spcBef>
              <a:defRPr sz="1500">
                <a:solidFill>
                  <a:srgbClr val="333333"/>
                </a:solidFill>
              </a:defRPr>
            </a:pPr>
            <a:r>
              <a:t>Data requirements: Large paired datasets</a:t>
            </a:r>
          </a:p>
          <a:p>
            <a:pPr>
              <a:spcBef>
                <a:spcPts val="500"/>
              </a:spcBef>
              <a:defRPr sz="1500">
                <a:solidFill>
                  <a:srgbClr val="333333"/>
                </a:solidFill>
              </a:defRPr>
            </a:pPr>
            <a:r>
              <a:t>Interpretability: Understanding decisions</a:t>
            </a:r>
          </a:p>
          <a:p>
            <a:pPr>
              <a:spcBef>
                <a:spcPts val="500"/>
              </a:spcBef>
              <a:defRPr sz="1500">
                <a:solidFill>
                  <a:srgbClr val="333333"/>
                </a:solidFill>
              </a:defRPr>
            </a:pPr>
            <a:r>
              <a:t>Safety: Potential for misuse</a:t>
            </a:r>
          </a:p>
          <a:p>
            <a:pPr>
              <a:spcBef>
                <a:spcPts val="500"/>
              </a:spcBef>
              <a:defRPr sz="1500">
                <a:solidFill>
                  <a:srgbClr val="333333"/>
                </a:solidFill>
              </a:defRPr>
            </a:pPr>
            <a:r>
              <a:t>Evaluation: Measuring true understanding</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Future Directions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Scaling: Larger models, more modalities</a:t>
            </a:r>
          </a:p>
          <a:p>
            <a:pPr>
              <a:spcBef>
                <a:spcPts val="500"/>
              </a:spcBef>
              <a:defRPr sz="1500">
                <a:solidFill>
                  <a:srgbClr val="333333"/>
                </a:solidFill>
              </a:defRPr>
            </a:pPr>
            <a:r>
              <a:t>Efficiency: Smaller models with better performance</a:t>
            </a:r>
          </a:p>
          <a:p>
            <a:pPr>
              <a:spcBef>
                <a:spcPts val="500"/>
              </a:spcBef>
              <a:defRPr sz="1500">
                <a:solidFill>
                  <a:srgbClr val="333333"/>
                </a:solidFill>
              </a:defRPr>
            </a:pPr>
            <a:r>
              <a:t>Grounding: Connecting to physical world</a:t>
            </a:r>
          </a:p>
          <a:p>
            <a:pPr>
              <a:spcBef>
                <a:spcPts val="500"/>
              </a:spcBef>
              <a:defRPr sz="1500">
                <a:solidFill>
                  <a:srgbClr val="333333"/>
                </a:solidFill>
              </a:defRPr>
            </a:pPr>
            <a:r>
              <a:t>Reasoning: Better logical and causal reasoning</a:t>
            </a:r>
          </a:p>
          <a:p>
            <a:pPr>
              <a:spcBef>
                <a:spcPts val="500"/>
              </a:spcBef>
              <a:defRPr sz="1500">
                <a:solidFill>
                  <a:srgbClr val="333333"/>
                </a:solidFill>
              </a:defRPr>
            </a:pPr>
            <a:r>
              <a:t>Embodied AI: Integration with robotics</a:t>
            </a:r>
          </a:p>
          <a:p>
            <a:pPr>
              <a:spcBef>
                <a:spcPts val="500"/>
              </a:spcBef>
              <a:defRPr sz="1500">
                <a:solidFill>
                  <a:srgbClr val="333333"/>
                </a:solidFill>
              </a:defRPr>
            </a:pPr>
            <a:r>
              <a:t>Multilinguality: Support more languages</a:t>
            </a:r>
          </a:p>
          <a:p>
            <a:pPr>
              <a:spcBef>
                <a:spcPts val="500"/>
              </a:spcBef>
              <a:defRPr sz="1500">
                <a:solidFill>
                  <a:srgbClr val="333333"/>
                </a:solidFill>
              </a:defRPr>
            </a:pPr>
            <a:r>
              <a:t>Scientific applications: Discovery and analysis</a:t>
            </a:r>
          </a:p>
          <a:p>
            <a:pPr>
              <a:spcBef>
                <a:spcPts val="500"/>
              </a:spcBef>
              <a:defRPr sz="1500">
                <a:solidFill>
                  <a:srgbClr val="333333"/>
                </a:solidFill>
              </a:defRPr>
            </a:pPr>
            <a:r>
              <a:t>Democratization: Making models accessible</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Key Takeaways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Multimodal learning enables richer AI</a:t>
            </a:r>
          </a:p>
          <a:p>
            <a:pPr>
              <a:spcBef>
                <a:spcPts val="500"/>
              </a:spcBef>
              <a:defRPr sz="1500">
                <a:solidFill>
                  <a:srgbClr val="333333"/>
                </a:solidFill>
              </a:defRPr>
            </a:pPr>
            <a:r>
              <a:t>Modern architectures leverage pre-trained components</a:t>
            </a:r>
          </a:p>
          <a:p>
            <a:pPr>
              <a:spcBef>
                <a:spcPts val="500"/>
              </a:spcBef>
              <a:defRPr sz="1500">
                <a:solidFill>
                  <a:srgbClr val="333333"/>
                </a:solidFill>
              </a:defRPr>
            </a:pPr>
            <a:r>
              <a:t>Contrastive learning is key for alignment</a:t>
            </a:r>
          </a:p>
          <a:p>
            <a:pPr>
              <a:spcBef>
                <a:spcPts val="500"/>
              </a:spcBef>
              <a:defRPr sz="1500">
                <a:solidFill>
                  <a:srgbClr val="333333"/>
                </a:solidFill>
              </a:defRPr>
            </a:pPr>
            <a:r>
              <a:t>Fine-tuning is practical for most applications</a:t>
            </a:r>
          </a:p>
          <a:p>
            <a:pPr>
              <a:spcBef>
                <a:spcPts val="500"/>
              </a:spcBef>
              <a:defRPr sz="1500">
                <a:solidFill>
                  <a:srgbClr val="333333"/>
                </a:solidFill>
              </a:defRPr>
            </a:pPr>
            <a:r>
              <a:t>Parameter-efficient methods make it accessible</a:t>
            </a:r>
          </a:p>
          <a:p>
            <a:pPr>
              <a:spcBef>
                <a:spcPts val="500"/>
              </a:spcBef>
              <a:defRPr sz="1500">
                <a:solidFill>
                  <a:srgbClr val="333333"/>
                </a:solidFill>
              </a:defRPr>
            </a:pPr>
            <a:r>
              <a:t>Many open-source models available</a:t>
            </a:r>
          </a:p>
          <a:p>
            <a:pPr>
              <a:spcBef>
                <a:spcPts val="500"/>
              </a:spcBef>
              <a:defRPr sz="1500">
                <a:solidFill>
                  <a:srgbClr val="333333"/>
                </a:solidFill>
              </a:defRPr>
            </a:pPr>
            <a:r>
              <a:t>Applications span VQA to text-to-image</a:t>
            </a:r>
          </a:p>
          <a:p>
            <a:pPr>
              <a:spcBef>
                <a:spcPts val="500"/>
              </a:spcBef>
              <a:defRPr sz="1500">
                <a:solidFill>
                  <a:srgbClr val="333333"/>
                </a:solidFill>
              </a:defRPr>
            </a:pPr>
            <a:r>
              <a:t>Exciting field with rapid progress</a:t>
            </a:r>
          </a:p>
        </p:txBody>
      </p:sp>
      <p:pic>
        <p:nvPicPr>
          <p:cNvPr id="4" name="Picture 3" descr="image.png"/>
          <p:cNvPicPr>
            <a:picLocks noChangeAspect="1"/>
          </p:cNvPicPr>
          <p:nvPr/>
        </p:nvPicPr>
        <p:blipFill>
          <a:blip r:embed="rId2"/>
          <a:stretch>
            <a:fillRect/>
          </a:stretch>
        </p:blipFill>
        <p:spPr>
          <a:xfrm>
            <a:off x="5029200" y="1371600"/>
            <a:ext cx="3840480" cy="2287464"/>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600" b="1">
                <a:solidFill>
                  <a:srgbClr val="522D80"/>
                </a:solidFill>
              </a:defRPr>
            </a:pPr>
            <a:r>
              <a:t>Resources</a:t>
            </a:r>
          </a:p>
        </p:txBody>
      </p:sp>
      <p:sp>
        <p:nvSpPr>
          <p:cNvPr id="3" name="TextBox 2"/>
          <p:cNvSpPr txBox="1"/>
          <p:nvPr/>
        </p:nvSpPr>
        <p:spPr>
          <a:xfrm>
            <a:off x="457200" y="1005840"/>
            <a:ext cx="4389120" cy="5486400"/>
          </a:xfrm>
          <a:prstGeom prst="rect">
            <a:avLst/>
          </a:prstGeom>
          <a:noFill/>
        </p:spPr>
        <p:txBody>
          <a:bodyPr wrap="square">
            <a:spAutoFit/>
          </a:bodyPr>
          <a:lstStyle/>
          <a:p>
            <a:pPr>
              <a:spcBef>
                <a:spcPts val="500"/>
              </a:spcBef>
              <a:defRPr sz="1500">
                <a:solidFill>
                  <a:srgbClr val="333333"/>
                </a:solidFill>
              </a:defRPr>
            </a:pPr>
            <a:r>
              <a:t>Papers:</a:t>
            </a:r>
          </a:p>
          <a:p>
            <a:pPr lvl="1">
              <a:spcBef>
                <a:spcPts val="500"/>
              </a:spcBef>
              <a:defRPr sz="1300">
                <a:solidFill>
                  <a:srgbClr val="333333"/>
                </a:solidFill>
              </a:defRPr>
            </a:pPr>
            <a:r>
              <a:t>CLIP, BLIP-2, LLaVA, Flamingo</a:t>
            </a:r>
          </a:p>
          <a:p>
            <a:pPr>
              <a:spcBef>
                <a:spcPts val="500"/>
              </a:spcBef>
              <a:defRPr sz="1500">
                <a:solidFill>
                  <a:srgbClr val="333333"/>
                </a:solidFill>
              </a:defRPr>
            </a:pPr>
            <a:r>
              <a:t>Code:</a:t>
            </a:r>
          </a:p>
          <a:p>
            <a:pPr lvl="1">
              <a:spcBef>
                <a:spcPts val="500"/>
              </a:spcBef>
              <a:defRPr sz="1300">
                <a:solidFill>
                  <a:srgbClr val="333333"/>
                </a:solidFill>
              </a:defRPr>
            </a:pPr>
            <a:r>
              <a:t>HuggingFace Transformers, PEFT</a:t>
            </a:r>
          </a:p>
          <a:p>
            <a:pPr lvl="1">
              <a:spcBef>
                <a:spcPts val="500"/>
              </a:spcBef>
              <a:defRPr sz="1300">
                <a:solidFill>
                  <a:srgbClr val="333333"/>
                </a:solidFill>
              </a:defRPr>
            </a:pPr>
            <a:r>
              <a:t>OpenCLIP, LLaVA GitHub</a:t>
            </a:r>
          </a:p>
          <a:p>
            <a:pPr>
              <a:spcBef>
                <a:spcPts val="500"/>
              </a:spcBef>
              <a:defRPr sz="1500">
                <a:solidFill>
                  <a:srgbClr val="333333"/>
                </a:solidFill>
              </a:defRPr>
            </a:pPr>
            <a:r>
              <a:t>Datasets:</a:t>
            </a:r>
          </a:p>
          <a:p>
            <a:pPr lvl="1">
              <a:spcBef>
                <a:spcPts val="500"/>
              </a:spcBef>
              <a:defRPr sz="1300">
                <a:solidFill>
                  <a:srgbClr val="333333"/>
                </a:solidFill>
              </a:defRPr>
            </a:pPr>
            <a:r>
              <a:t>COCO, Visual Genome, LAION</a:t>
            </a:r>
          </a:p>
          <a:p>
            <a:pPr>
              <a:spcBef>
                <a:spcPts val="500"/>
              </a:spcBef>
              <a:defRPr sz="1500">
                <a:solidFill>
                  <a:srgbClr val="333333"/>
                </a:solidFill>
              </a:defRPr>
            </a:pPr>
            <a:r>
              <a:t>Tutorials:</a:t>
            </a:r>
          </a:p>
          <a:p>
            <a:pPr lvl="1">
              <a:spcBef>
                <a:spcPts val="500"/>
              </a:spcBef>
              <a:defRPr sz="1300">
                <a:solidFill>
                  <a:srgbClr val="333333"/>
                </a:solidFill>
              </a:defRPr>
            </a:pPr>
            <a:r>
              <a:t>HuggingFace docs</a:t>
            </a:r>
          </a:p>
          <a:p>
            <a:pPr lvl="1">
              <a:spcBef>
                <a:spcPts val="500"/>
              </a:spcBef>
              <a:defRPr sz="1300">
                <a:solidFill>
                  <a:srgbClr val="333333"/>
                </a:solidFill>
              </a:defRPr>
            </a:pPr>
            <a:r>
              <a:t>Papers with Code</a:t>
            </a:r>
          </a:p>
          <a:p>
            <a:pPr>
              <a:spcBef>
                <a:spcPts val="500"/>
              </a:spcBef>
              <a:defRPr sz="1500">
                <a:solidFill>
                  <a:srgbClr val="333333"/>
                </a:solidFill>
              </a:defRPr>
            </a:pPr>
            <a:r>
              <a:t>Next: Lab session!</a:t>
            </a:r>
          </a:p>
        </p:txBody>
      </p:sp>
      <p:pic>
        <p:nvPicPr>
          <p:cNvPr id="4" name="Picture 3" descr="image.png"/>
          <p:cNvPicPr>
            <a:picLocks noChangeAspect="1"/>
          </p:cNvPicPr>
          <p:nvPr/>
        </p:nvPicPr>
        <p:blipFill>
          <a:blip r:embed="rId2"/>
          <a:stretch>
            <a:fillRect/>
          </a:stretch>
        </p:blipFill>
        <p:spPr>
          <a:xfrm>
            <a:off x="5029200" y="1371600"/>
            <a:ext cx="3840480" cy="2109205"/>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r>
              <a:t>Questions &amp; Discussion</a:t>
            </a:r>
          </a:p>
        </p:txBody>
      </p:sp>
      <p:pic>
        <p:nvPicPr>
          <p:cNvPr id="3" name="Picture 2" descr="image.png"/>
          <p:cNvPicPr>
            <a:picLocks noChangeAspect="1"/>
          </p:cNvPicPr>
          <p:nvPr/>
        </p:nvPicPr>
        <p:blipFill>
          <a:blip r:embed="rId2"/>
          <a:stretch>
            <a:fillRect/>
          </a:stretch>
        </p:blipFill>
        <p:spPr>
          <a:xfrm>
            <a:off x="2743200" y="4389120"/>
            <a:ext cx="3657600" cy="217853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